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626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Juan Cari</a:t>
            </a:r>
          </a:p>
          <a:p>
            <a:endParaRPr/>
          </a:p>
          <a:p>
            <a:r>
              <a:t>Good morning. We are the team behind VigiSalud Malaria. In this partial work we applied the ISO/IEC 25010 product quality model to our own public-health software: a dashboard built on Peru's official malaria surveillance open data. We will show the product, the four points of the assignment and the measured results.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Juan Cari</a:t>
            </a:r>
          </a:p>
          <a:p>
            <a:endParaRPr/>
          </a:p>
          <a:p>
            <a:r>
              <a:t>The presentation follows the four points of the assignment. Each member presents the part they owned.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Juan Cari</a:t>
            </a:r>
          </a:p>
          <a:p>
            <a:endParaRPr/>
          </a:p>
          <a:p>
            <a:r>
              <a:t>Malaria is endemic in the Peruvian Amazon. Between 2000 and 2025 the surveillance system notified 1,243,299 cases. In 2025 there were 33,516 cases, 15.4 percent due to P. falciparum, and Loreto concentrated most of them. We use only the official open data; nothing is typed by hand. The pipeline validates every row and publishes only aggregates, so no individual record reaches the browser.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Juan Cari</a:t>
            </a:r>
          </a:p>
          <a:p>
            <a:endParaRPr/>
          </a:p>
          <a:p>
            <a:r>
              <a:t>This is what we built and what we evaluate. On top: the product. Official CSV files go through a Python pipeline, the aggregated JSON is served as a static site on Vercel with OWASP security headers, and the browser renders the dashboard. Below: the evaluation. Each run measures the published version with Playwright, axe, Lighthouse, an independent oracle and probes; the evidence is consolidated into the quality board that is published next to the product.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Juan Cari</a:t>
            </a:r>
          </a:p>
          <a:p>
            <a:endParaRPr/>
          </a:p>
          <a:p>
            <a:r>
              <a:t>The dashboard opens with a provisional-data notice and five key indicators: notified cases, change versus the previous year, P. falciparum share, the department with most cases and the peak epidemiological week. Below, the annual series by species from 2000; the dashed line in 2009 marks the change of source so nobody reads it as an epidemiological jump. Everything is bilingual and has a table view for accessibility.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Juan Cari</a:t>
            </a:r>
          </a:p>
          <a:p>
            <a:endParaRPr/>
          </a:p>
          <a:p>
            <a:r>
              <a:t>The endemic channel compares the weekly curve with the quartiles of the previous five years: success, safety, alarm and epidemic zones. The choropleth map uses threshold classes and clicking a department filters the whole dashboard. The district table supports search, sorting and CSV or JSON export of the current cut. The 'Data and method' section shows source, licence, validation rules and hashes so any figure can be checked against the original.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Juan Cari</a:t>
            </a:r>
          </a:p>
          <a:p>
            <a:endParaRPr/>
          </a:p>
          <a:p>
            <a:r>
              <a:t>We reviewed the nine characteristics against the nature of the product: a read-only system that informs official figures for health decisions, with no user accounts and no transactions. Priority reflects the impact of a defect: a wrong figure or an unavailable site directly affects decisions, so functional suitability, interaction capability, reliability, security and safety are high. Coexistence, for example, does not apply.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Juan Cari</a:t>
            </a:r>
          </a:p>
          <a:p>
            <a:endParaRPr/>
          </a:p>
          <a:p>
            <a:r>
              <a:t>We did not drop sub-characteristics silently. Non-repudiation, accountability and authenticity do not apply because there are no accounts or transactions. Learnability and appropriateness recognisability do apply, but they need tests with real CDC users, so we declare them not evaluated and propose them as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Daniel Chura</a:t>
            </a:r>
          </a:p>
          <a:p>
            <a:endParaRPr/>
          </a:p>
          <a:p>
            <a:r>
              <a:t>Every selected sub-characteristic has at least one metric derived with Goal, Question, Metric. Each metric records A, B, formula, unit, direction, threshold, requirement, procedure, tool and owner. We adopted the scoring scale of Calabrese et al.: 0 to 40 not acceptable, 40 to 60 minimally acceptable, 60 to 90 target range, 90 to 100 exceeds requirements. The key example is functional correctness: an independent Python oracle recomputes the expected figures from the raw CSV files, so the product is never checked against its own code.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Daniel Chura</a:t>
            </a:r>
          </a:p>
          <a:p>
            <a:endParaRPr/>
          </a:p>
          <a:p>
            <a:r>
              <a:t>These are the metrics I owned. Functional completeness: share of the fifteen functional requirements whose end-to-end test passes. Correctness with the oracle. Performance: mobile LCP from Lighthouse, interaction response time and page weight. Interoperability: exported CSV and JSON add up to what the interface shows. Adaptability across three browsers and three screen sizes. Maintainability: cyclomatic complexity, lint density per thousand lines and test coverage of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Ower Lopez</a:t>
            </a:r>
          </a:p>
          <a:p>
            <a:endParaRPr/>
          </a:p>
          <a:p>
            <a:r>
              <a:t>My metrics cover interaction, reliability, security and safety. Operability: every control reachable by keyboard. User-error protection: invalid URL parameters are ignored with a visible notice. Inclusivity: zero serious or critical axe-core violations under WCAG 2.2 A/AA. Reliability: no console errors, availability probes, four injected faults that must be handled and recovered. Security: no individual records published, SHA-256 integrity, HTTPS, and seven OWASP headers. Safety: provisional-data warnings and that no figure is ever shown while data failed to load.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Alejandro Phocco</a:t>
            </a:r>
          </a:p>
          <a:p>
            <a:endParaRPr/>
          </a:p>
          <a:p>
            <a:r>
              <a:t>We adopted the five activities of ISO/IEC 25040: establish the requirements, specify, design, execute and conclude the evaluation. The important part is the loop at the bottom: a rejected measurement becomes an incident, the incident is classified by origin, fixed, and re-measured in the next run with exactly the same procedure. A run is a single command that records the conditions, runs every tool against production and consolidates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Alejandro Phocco</a:t>
            </a:r>
          </a:p>
          <a:p>
            <a:endParaRPr/>
          </a:p>
          <a:p>
            <a:r>
              <a:t>This is the collection format required by the assignment: identification, traceability, conditions, measurement, evaluation, evidence and follow-up. Records are not typed by hand: the consolidation script fills them from the JSON evidence of each run, and the Excel workbook recomputes result, status, score and category with formulas, so a reviewer can change A, B or the threshold and see the effect.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Alejandro Phocco</a:t>
            </a:r>
          </a:p>
          <a:p>
            <a:endParaRPr/>
          </a:p>
          <a:p>
            <a:r>
              <a:t>Before fixing anything we reproduce the failure and classify it. Product: the defect shows on the published version. Script: the product is right and the test or the way we record the measurement is wrong. Infrastructure: the environment. In run 01 Firefox and WebKit failed in all six combinations; the cause was simply that the browsers were not installed. Fixing the product for that would have been a mistake.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Mauricio Zegarra</a:t>
            </a:r>
          </a:p>
          <a:p>
            <a:endParaRPr/>
          </a:p>
          <a:p>
            <a:r>
              <a:t>The control board is a web page published next to the product. A selector chooses the run. It shows the count of approved, rejected, pending and not-applicable metrics; the score per characteristic with guide lines at 40, 60 and 90; every metric with A, B, X, threshold, category, status and a link to its evidence; the coverage of the twenty-nine requirements; incidents by origin and state; the evolution across runs; the ISO 25040 process; and a gallery of evidence screenshots. Nothing on it is typed by hand.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Mauricio Zegarra</a:t>
            </a:r>
          </a:p>
          <a:p>
            <a:endParaRPr/>
          </a:p>
          <a:p>
            <a:r>
              <a:t>Here is the metric table with its filter by status and links to the evidence on GitHub, and the incident distribution by origin and state. Every incident links to the metric and run where it appeared.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Mauricio Zegarra</a:t>
            </a:r>
          </a:p>
          <a:p>
            <a:endParaRPr/>
          </a:p>
          <a:p>
            <a:r>
              <a:t>This is the evolution view of the board. Each bar is one run; red is rejected metrics. On the right, the conditions of each run: date, environment, version and tests passed. A reviewer can select any run at the top of the board and see exactly what was measured then.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Daniel Chura</a:t>
            </a:r>
          </a:p>
          <a:p>
            <a:endParaRPr/>
          </a:p>
          <a:p>
            <a:r>
              <a:t>Run 01 was the baseline with 18 of 25 metrics approved. Rejections came from accessibility and performance defects of the product, lint problems, a test-script locator, a false positive in the confidentiality check and the missing browsers. Run 02 approved 24 metrics but also revealed two regressions caused by our own fixes, the logo name on mobile and layout shift from fonts, plus a residual false positive. Run 03 proved that one of our fixes had been misdiagnosed: layout shift was still 0.11 and mobile LCP went just above 2.5 seconds. Measuring the shifts directly in the browser showed a mobile grid that stretched the top bar while data was loading. Run 04 fixed the layout shift, but LCP stayed at 2.55 seconds: Lighthouse's simulated network counts every request started before first paint, and our own data and font preloads were now competing with it. After loading data and D3 after first paint, run 05 approved every metric; a manual review of its screenshots still found a clipped chart legend, fixed in run 06. Reviewing run 06 we found names whose letter Ñ arrives damaged in the official files, overlapping labels in the endemic channel and a cramped data card; reviewing run 07 in English we found Spanish text left in the English interface, and run 08 still showed the priority in Spanish. All were fixed and verified in run 09: 25 of 25. Correctness against the oracle was perfect in every run.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Ower Lopez</a:t>
            </a:r>
          </a:p>
          <a:p>
            <a:endParaRPr/>
          </a:p>
          <a:p>
            <a:r>
              <a:t>Each incident records run, metric, requirement, description, cause, origin, severity, state, decision, owner and evidence. Here is the short version; the full record is on the board and in evaluacion/incidentes.json.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Ower Lopez</a:t>
            </a:r>
          </a:p>
          <a:p>
            <a:endParaRPr/>
          </a:p>
          <a:p>
            <a:r>
              <a:t>Each incident records run, metric, requirement, description, cause, origin, severity, state, decision, owner and evidence. Here is the short version; the full record is on the board and in evaluacion/incidentes.json.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Alejandro Phocco</a:t>
            </a:r>
          </a:p>
          <a:p>
            <a:endParaRPr/>
          </a:p>
          <a:p>
            <a:r>
              <a:t>Our main lesson: many incidents were not product defects. Without the origin rule we would have changed the product for problems in our tests or our machine, and reported lower quality than the real one. Second: fixes can introduce regressions, which only appear when the complete measurement is repeated; that is why every fix requires a new run. Third: an incident is closed by the next measurement, not by the tool's explanation; INC-12 looked fixed and run 03 proved it was not. Fourth: green metrics are not the end; reviewing screenshots by eye we found defects that no metric caught, including names damaged in the official files. Fifth: our accessibility audit only ran on desktop; the logo regression appeared on mobile, so we recommend adding a mobile view to CI-03.</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Mauricio Zegarra</a:t>
            </a:r>
          </a:p>
          <a:p>
            <a:endParaRPr/>
          </a:p>
          <a:p>
            <a:r>
              <a:t>To conclude: we covered the four points with real measurements on the published product. Everything is reproducible from the repository, and the board and the dashboard are public. Thank you; we are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escudo_unsa.png"/>
          <p:cNvPicPr>
            <a:picLocks noChangeAspect="1"/>
          </p:cNvPicPr>
          <p:nvPr/>
        </p:nvPicPr>
        <p:blipFill>
          <a:blip r:embed="rId3"/>
          <a:stretch>
            <a:fillRect/>
          </a:stretch>
        </p:blipFill>
        <p:spPr>
          <a:xfrm>
            <a:off x="640080" y="548640"/>
            <a:ext cx="968339" cy="1188720"/>
          </a:xfrm>
          <a:prstGeom prst="rect">
            <a:avLst/>
          </a:prstGeom>
        </p:spPr>
      </p:pic>
      <p:sp>
        <p:nvSpPr>
          <p:cNvPr id="4" name="TextBox 3"/>
          <p:cNvSpPr txBox="1"/>
          <p:nvPr/>
        </p:nvSpPr>
        <p:spPr>
          <a:xfrm>
            <a:off x="1920240" y="685800"/>
            <a:ext cx="8229600" cy="1097280"/>
          </a:xfrm>
          <a:prstGeom prst="rect">
            <a:avLst/>
          </a:prstGeom>
          <a:noFill/>
        </p:spPr>
        <p:txBody>
          <a:bodyPr wrap="square" lIns="45720" rIns="45720" anchor="t">
            <a:spAutoFit/>
          </a:bodyPr>
          <a:lstStyle/>
          <a:p>
            <a:pPr algn="l">
              <a:spcAft>
                <a:spcPts val="600"/>
              </a:spcAft>
            </a:pPr>
            <a:r>
              <a:rPr sz="1600" b="0">
                <a:solidFill>
                  <a:srgbClr val="FFFFFF"/>
                </a:solidFill>
                <a:latin typeface="Calibri"/>
              </a:rPr>
              <a:t>Universidad Nacional de San Agustín de Arequipa</a:t>
            </a:r>
          </a:p>
          <a:p>
            <a:pPr algn="l">
              <a:spcAft>
                <a:spcPts val="600"/>
              </a:spcAft>
            </a:pPr>
            <a:r>
              <a:rPr sz="1600" b="0">
                <a:solidFill>
                  <a:srgbClr val="FFFFFF"/>
                </a:solidFill>
                <a:latin typeface="Calibri"/>
              </a:rPr>
              <a:t>School of Systems Engineering · Software Quality · Partial Work 6</a:t>
            </a:r>
          </a:p>
        </p:txBody>
      </p:sp>
      <p:sp>
        <p:nvSpPr>
          <p:cNvPr id="5" name="TextBox 4"/>
          <p:cNvSpPr txBox="1"/>
          <p:nvPr/>
        </p:nvSpPr>
        <p:spPr>
          <a:xfrm>
            <a:off x="640080" y="2194560"/>
            <a:ext cx="10881360" cy="1737360"/>
          </a:xfrm>
          <a:prstGeom prst="rect">
            <a:avLst/>
          </a:prstGeom>
          <a:noFill/>
        </p:spPr>
        <p:txBody>
          <a:bodyPr wrap="square" lIns="45720" rIns="45720" anchor="t">
            <a:spAutoFit/>
          </a:bodyPr>
          <a:lstStyle/>
          <a:p>
            <a:pPr algn="l">
              <a:spcAft>
                <a:spcPts val="600"/>
              </a:spcAft>
            </a:pPr>
            <a:r>
              <a:rPr sz="4000" b="1">
                <a:solidFill>
                  <a:srgbClr val="FFFFFF"/>
                </a:solidFill>
                <a:latin typeface="Calibri"/>
              </a:rPr>
              <a:t>Evaluating the quality of a malaria surveillance dashboard with ISO/IEC 25010</a:t>
            </a:r>
          </a:p>
        </p:txBody>
      </p:sp>
      <p:sp>
        <p:nvSpPr>
          <p:cNvPr id="6" name="TextBox 5"/>
          <p:cNvSpPr txBox="1"/>
          <p:nvPr/>
        </p:nvSpPr>
        <p:spPr>
          <a:xfrm>
            <a:off x="640080" y="3840480"/>
            <a:ext cx="10515600" cy="822960"/>
          </a:xfrm>
          <a:prstGeom prst="rect">
            <a:avLst/>
          </a:prstGeom>
          <a:noFill/>
        </p:spPr>
        <p:txBody>
          <a:bodyPr wrap="square" lIns="45720" rIns="45720" anchor="t">
            <a:spAutoFit/>
          </a:bodyPr>
          <a:lstStyle/>
          <a:p>
            <a:pPr algn="l">
              <a:spcAft>
                <a:spcPts val="600"/>
              </a:spcAft>
            </a:pPr>
            <a:r>
              <a:rPr sz="2000" b="0">
                <a:solidFill>
                  <a:srgbClr val="F3D9DD"/>
                </a:solidFill>
                <a:latin typeface="Calibri"/>
              </a:rPr>
              <a:t>Quality model · GQM metrics · evaluation process &amp; data-collection format · control board</a:t>
            </a:r>
          </a:p>
        </p:txBody>
      </p:sp>
      <p:sp>
        <p:nvSpPr>
          <p:cNvPr id="7" name="TextBox 6"/>
          <p:cNvSpPr txBox="1"/>
          <p:nvPr/>
        </p:nvSpPr>
        <p:spPr>
          <a:xfrm>
            <a:off x="640080" y="4892040"/>
            <a:ext cx="10972800" cy="1280160"/>
          </a:xfrm>
          <a:prstGeom prst="rect">
            <a:avLst/>
          </a:prstGeom>
          <a:noFill/>
        </p:spPr>
        <p:txBody>
          <a:bodyPr wrap="square" lIns="45720" rIns="45720" anchor="t">
            <a:spAutoFit/>
          </a:bodyPr>
          <a:lstStyle/>
          <a:p>
            <a:pPr algn="l">
              <a:spcAft>
                <a:spcPts val="600"/>
              </a:spcAft>
            </a:pPr>
            <a:r>
              <a:rPr sz="1500" b="0">
                <a:solidFill>
                  <a:srgbClr val="FFFFFF"/>
                </a:solidFill>
                <a:latin typeface="Calibri"/>
              </a:rPr>
              <a:t>Juan Manuel Cari Quispe · Daniel Wilston Chura Monroy · Ower Frank Lopez Arela</a:t>
            </a:r>
          </a:p>
          <a:p>
            <a:pPr algn="l">
              <a:spcAft>
                <a:spcPts val="600"/>
              </a:spcAft>
            </a:pPr>
            <a:r>
              <a:rPr sz="1500" b="0">
                <a:solidFill>
                  <a:srgbClr val="FFFFFF"/>
                </a:solidFill>
                <a:latin typeface="Calibri"/>
              </a:rPr>
              <a:t>Alejandro Josue Phocco Tapia · Mauricio Eduardo Zegarra Puma</a:t>
            </a:r>
          </a:p>
          <a:p>
            <a:pPr algn="l">
              <a:spcAft>
                <a:spcPts val="600"/>
              </a:spcAft>
            </a:pPr>
            <a:r>
              <a:rPr sz="1500" b="0">
                <a:solidFill>
                  <a:srgbClr val="FFFFFF"/>
                </a:solidFill>
                <a:latin typeface="Calibri"/>
              </a:rPr>
              <a:t>Lecturer: Mg. Jesús Martín Silva Fernández · Arequipa, Peru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Agenda and team responsibilities</a:t>
            </a:r>
          </a:p>
        </p:txBody>
      </p:sp>
      <p:sp>
        <p:nvSpPr>
          <p:cNvPr id="4" name="TextBox 3"/>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Juan Cari</a:t>
            </a:r>
          </a:p>
        </p:txBody>
      </p:sp>
      <p:sp>
        <p:nvSpPr>
          <p:cNvPr id="5" name="TextBox 4"/>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2</a:t>
            </a:r>
          </a:p>
        </p:txBody>
      </p:sp>
      <p:graphicFrame>
        <p:nvGraphicFramePr>
          <p:cNvPr id="6" name="Table 5"/>
          <p:cNvGraphicFramePr>
            <a:graphicFrameLocks noGrp="1"/>
          </p:cNvGraphicFramePr>
          <p:nvPr/>
        </p:nvGraphicFramePr>
        <p:xfrm>
          <a:off x="548640" y="1371600"/>
          <a:ext cx="11064240" cy="274320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74320">
                <a:tc>
                  <a:txBody>
                    <a:bodyPr/>
                    <a:lstStyle/>
                    <a:p>
                      <a:r>
                        <a:rPr sz="1600" b="1">
                          <a:solidFill>
                            <a:srgbClr val="FFFFFF"/>
                          </a:solidFill>
                          <a:latin typeface="Calibri"/>
                        </a:rPr>
                        <a:t>#</a:t>
                      </a:r>
                    </a:p>
                  </a:txBody>
                  <a:tcPr marL="54864" marR="54864" marT="18288" marB="18288">
                    <a:solidFill>
                      <a:srgbClr val="7A1F2B"/>
                    </a:solidFill>
                  </a:tcPr>
                </a:tc>
                <a:tc>
                  <a:txBody>
                    <a:bodyPr/>
                    <a:lstStyle/>
                    <a:p>
                      <a:r>
                        <a:rPr sz="1600" b="1">
                          <a:solidFill>
                            <a:srgbClr val="FFFFFF"/>
                          </a:solidFill>
                          <a:latin typeface="Calibri"/>
                        </a:rPr>
                        <a:t>Topic</a:t>
                      </a:r>
                    </a:p>
                  </a:txBody>
                  <a:tcPr marL="54864" marR="54864" marT="18288" marB="18288">
                    <a:solidFill>
                      <a:srgbClr val="7A1F2B"/>
                    </a:solidFill>
                  </a:tcPr>
                </a:tc>
                <a:tc>
                  <a:txBody>
                    <a:bodyPr/>
                    <a:lstStyle/>
                    <a:p>
                      <a:r>
                        <a:rPr sz="1600" b="1">
                          <a:solidFill>
                            <a:srgbClr val="FFFFFF"/>
                          </a:solidFill>
                          <a:latin typeface="Calibri"/>
                        </a:rPr>
                        <a:t>Presenter</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600" b="0">
                          <a:solidFill>
                            <a:srgbClr val="1F2328"/>
                          </a:solidFill>
                          <a:latin typeface="Calibri"/>
                        </a:rPr>
                        <a:t>1</a:t>
                      </a:r>
                    </a:p>
                  </a:txBody>
                  <a:tcPr marL="54864" marR="54864" marT="18288" marB="18288">
                    <a:solidFill>
                      <a:srgbClr val="FFFFFF"/>
                    </a:solidFill>
                  </a:tcPr>
                </a:tc>
                <a:tc>
                  <a:txBody>
                    <a:bodyPr/>
                    <a:lstStyle/>
                    <a:p>
                      <a:r>
                        <a:rPr sz="1600" b="0">
                          <a:solidFill>
                            <a:srgbClr val="1F2328"/>
                          </a:solidFill>
                          <a:latin typeface="Calibri"/>
                        </a:rPr>
                        <a:t>Context, official data and the product (web dashboard + quality board); Point 1 — characteristics</a:t>
                      </a:r>
                    </a:p>
                  </a:txBody>
                  <a:tcPr marL="54864" marR="54864" marT="18288" marB="18288">
                    <a:solidFill>
                      <a:srgbClr val="FFFFFF"/>
                    </a:solidFill>
                  </a:tcPr>
                </a:tc>
                <a:tc>
                  <a:txBody>
                    <a:bodyPr/>
                    <a:lstStyle/>
                    <a:p>
                      <a:r>
                        <a:rPr sz="1600" b="0">
                          <a:solidFill>
                            <a:srgbClr val="1F2328"/>
                          </a:solidFill>
                          <a:latin typeface="Calibri"/>
                        </a:rPr>
                        <a:t>Juan Manuel Cari Quispe</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600" b="0">
                          <a:solidFill>
                            <a:srgbClr val="1F2328"/>
                          </a:solidFill>
                          <a:latin typeface="Calibri"/>
                        </a:rPr>
                        <a:t>2</a:t>
                      </a:r>
                    </a:p>
                  </a:txBody>
                  <a:tcPr marL="54864" marR="54864" marT="18288" marB="18288">
                    <a:solidFill>
                      <a:srgbClr val="F6F4F2"/>
                    </a:solidFill>
                  </a:tcPr>
                </a:tc>
                <a:tc>
                  <a:txBody>
                    <a:bodyPr/>
                    <a:lstStyle/>
                    <a:p>
                      <a:r>
                        <a:rPr sz="1600" b="0">
                          <a:solidFill>
                            <a:srgbClr val="1F2328"/>
                          </a:solidFill>
                          <a:latin typeface="Calibri"/>
                        </a:rPr>
                        <a:t>Point 2 — GQM and metrics: functional suitability, performance, compatibility, flexibility, maintainability</a:t>
                      </a:r>
                    </a:p>
                  </a:txBody>
                  <a:tcPr marL="54864" marR="54864" marT="18288" marB="18288">
                    <a:solidFill>
                      <a:srgbClr val="F6F4F2"/>
                    </a:solidFill>
                  </a:tcPr>
                </a:tc>
                <a:tc>
                  <a:txBody>
                    <a:bodyPr/>
                    <a:lstStyle/>
                    <a:p>
                      <a:r>
                        <a:rPr sz="1600" b="0">
                          <a:solidFill>
                            <a:srgbClr val="1F2328"/>
                          </a:solidFill>
                          <a:latin typeface="Calibri"/>
                        </a:rPr>
                        <a:t>Daniel Wilston Chura Monroy</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600" b="0">
                          <a:solidFill>
                            <a:srgbClr val="1F2328"/>
                          </a:solidFill>
                          <a:latin typeface="Calibri"/>
                        </a:rPr>
                        <a:t>3</a:t>
                      </a:r>
                    </a:p>
                  </a:txBody>
                  <a:tcPr marL="54864" marR="54864" marT="18288" marB="18288">
                    <a:solidFill>
                      <a:srgbClr val="FFFFFF"/>
                    </a:solidFill>
                  </a:tcPr>
                </a:tc>
                <a:tc>
                  <a:txBody>
                    <a:bodyPr/>
                    <a:lstStyle/>
                    <a:p>
                      <a:r>
                        <a:rPr sz="1600" b="0">
                          <a:solidFill>
                            <a:srgbClr val="1F2328"/>
                          </a:solidFill>
                          <a:latin typeface="Calibri"/>
                        </a:rPr>
                        <a:t>Point 2 — Metrics: interaction capability, reliability, security, safety</a:t>
                      </a:r>
                    </a:p>
                  </a:txBody>
                  <a:tcPr marL="54864" marR="54864" marT="18288" marB="18288">
                    <a:solidFill>
                      <a:srgbClr val="FFFFFF"/>
                    </a:solidFill>
                  </a:tcPr>
                </a:tc>
                <a:tc>
                  <a:txBody>
                    <a:bodyPr/>
                    <a:lstStyle/>
                    <a:p>
                      <a:r>
                        <a:rPr sz="1600" b="0">
                          <a:solidFill>
                            <a:srgbClr val="1F2328"/>
                          </a:solidFill>
                          <a:latin typeface="Calibri"/>
                        </a:rPr>
                        <a:t>Ower Frank Lopez Arela</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600" b="0">
                          <a:solidFill>
                            <a:srgbClr val="1F2328"/>
                          </a:solidFill>
                          <a:latin typeface="Calibri"/>
                        </a:rPr>
                        <a:t>4</a:t>
                      </a:r>
                    </a:p>
                  </a:txBody>
                  <a:tcPr marL="54864" marR="54864" marT="18288" marB="18288">
                    <a:solidFill>
                      <a:srgbClr val="F6F4F2"/>
                    </a:solidFill>
                  </a:tcPr>
                </a:tc>
                <a:tc>
                  <a:txBody>
                    <a:bodyPr/>
                    <a:lstStyle/>
                    <a:p>
                      <a:r>
                        <a:rPr sz="1600" b="0">
                          <a:solidFill>
                            <a:srgbClr val="1F2328"/>
                          </a:solidFill>
                          <a:latin typeface="Calibri"/>
                        </a:rPr>
                        <a:t>Point 3 — Evaluation process, data-collection format, failure classification</a:t>
                      </a:r>
                    </a:p>
                  </a:txBody>
                  <a:tcPr marL="54864" marR="54864" marT="18288" marB="18288">
                    <a:solidFill>
                      <a:srgbClr val="F6F4F2"/>
                    </a:solidFill>
                  </a:tcPr>
                </a:tc>
                <a:tc>
                  <a:txBody>
                    <a:bodyPr/>
                    <a:lstStyle/>
                    <a:p>
                      <a:r>
                        <a:rPr sz="1600" b="0">
                          <a:solidFill>
                            <a:srgbClr val="1F2328"/>
                          </a:solidFill>
                          <a:latin typeface="Calibri"/>
                        </a:rPr>
                        <a:t>Alejandro Josue Phocco Tapia</a:t>
                      </a:r>
                    </a:p>
                  </a:txBody>
                  <a:tcPr marL="54864" marR="54864" marT="18288" marB="18288">
                    <a:solidFill>
                      <a:srgbClr val="F6F4F2"/>
                    </a:solidFill>
                  </a:tcPr>
                </a:tc>
                <a:extLst>
                  <a:ext uri="{0D108BD9-81ED-4DB2-BD59-A6C34878D82A}">
                    <a16:rowId xmlns:a16="http://schemas.microsoft.com/office/drawing/2014/main" val="10004"/>
                  </a:ext>
                </a:extLst>
              </a:tr>
              <a:tr h="274320">
                <a:tc>
                  <a:txBody>
                    <a:bodyPr/>
                    <a:lstStyle/>
                    <a:p>
                      <a:r>
                        <a:rPr sz="1600" b="0">
                          <a:solidFill>
                            <a:srgbClr val="1F2328"/>
                          </a:solidFill>
                          <a:latin typeface="Calibri"/>
                        </a:rPr>
                        <a:t>5</a:t>
                      </a:r>
                    </a:p>
                  </a:txBody>
                  <a:tcPr marL="54864" marR="54864" marT="18288" marB="18288">
                    <a:solidFill>
                      <a:srgbClr val="FFFFFF"/>
                    </a:solidFill>
                  </a:tcPr>
                </a:tc>
                <a:tc>
                  <a:txBody>
                    <a:bodyPr/>
                    <a:lstStyle/>
                    <a:p>
                      <a:r>
                        <a:rPr sz="1600" b="0">
                          <a:solidFill>
                            <a:srgbClr val="1F2328"/>
                          </a:solidFill>
                          <a:latin typeface="Calibri"/>
                        </a:rPr>
                        <a:t>Point 4 — Control board and evolution of the runs</a:t>
                      </a:r>
                    </a:p>
                  </a:txBody>
                  <a:tcPr marL="54864" marR="54864" marT="18288" marB="18288">
                    <a:solidFill>
                      <a:srgbClr val="FFFFFF"/>
                    </a:solidFill>
                  </a:tcPr>
                </a:tc>
                <a:tc>
                  <a:txBody>
                    <a:bodyPr/>
                    <a:lstStyle/>
                    <a:p>
                      <a:r>
                        <a:rPr sz="1600" b="0">
                          <a:solidFill>
                            <a:srgbClr val="1F2328"/>
                          </a:solidFill>
                          <a:latin typeface="Calibri"/>
                        </a:rPr>
                        <a:t>Mauricio Eduardo Zegarra Puma</a:t>
                      </a:r>
                    </a:p>
                  </a:txBody>
                  <a:tcPr marL="54864" marR="54864" marT="18288" marB="18288">
                    <a:solidFill>
                      <a:srgbClr val="FFFFFF"/>
                    </a:solidFill>
                  </a:tcPr>
                </a:tc>
                <a:extLst>
                  <a:ext uri="{0D108BD9-81ED-4DB2-BD59-A6C34878D82A}">
                    <a16:rowId xmlns:a16="http://schemas.microsoft.com/office/drawing/2014/main" val="10005"/>
                  </a:ext>
                </a:extLst>
              </a:tr>
              <a:tr h="274320">
                <a:tc>
                  <a:txBody>
                    <a:bodyPr/>
                    <a:lstStyle/>
                    <a:p>
                      <a:r>
                        <a:rPr sz="1600" b="0">
                          <a:solidFill>
                            <a:srgbClr val="1F2328"/>
                          </a:solidFill>
                          <a:latin typeface="Calibri"/>
                        </a:rPr>
                        <a:t>6</a:t>
                      </a:r>
                    </a:p>
                  </a:txBody>
                  <a:tcPr marL="54864" marR="54864" marT="18288" marB="18288">
                    <a:solidFill>
                      <a:srgbClr val="F6F4F2"/>
                    </a:solidFill>
                  </a:tcPr>
                </a:tc>
                <a:tc>
                  <a:txBody>
                    <a:bodyPr/>
                    <a:lstStyle/>
                    <a:p>
                      <a:r>
                        <a:rPr sz="1600" b="0">
                          <a:solidFill>
                            <a:srgbClr val="1F2328"/>
                          </a:solidFill>
                          <a:latin typeface="Calibri"/>
                        </a:rPr>
                        <a:t>Results across the runs</a:t>
                      </a:r>
                    </a:p>
                  </a:txBody>
                  <a:tcPr marL="54864" marR="54864" marT="18288" marB="18288">
                    <a:solidFill>
                      <a:srgbClr val="F6F4F2"/>
                    </a:solidFill>
                  </a:tcPr>
                </a:tc>
                <a:tc>
                  <a:txBody>
                    <a:bodyPr/>
                    <a:lstStyle/>
                    <a:p>
                      <a:r>
                        <a:rPr sz="1600" b="0">
                          <a:solidFill>
                            <a:srgbClr val="1F2328"/>
                          </a:solidFill>
                          <a:latin typeface="Calibri"/>
                        </a:rPr>
                        <a:t>Daniel Wilston Chura Monroy</a:t>
                      </a:r>
                    </a:p>
                  </a:txBody>
                  <a:tcPr marL="54864" marR="54864" marT="18288" marB="18288">
                    <a:solidFill>
                      <a:srgbClr val="F6F4F2"/>
                    </a:solidFill>
                  </a:tcPr>
                </a:tc>
                <a:extLst>
                  <a:ext uri="{0D108BD9-81ED-4DB2-BD59-A6C34878D82A}">
                    <a16:rowId xmlns:a16="http://schemas.microsoft.com/office/drawing/2014/main" val="10006"/>
                  </a:ext>
                </a:extLst>
              </a:tr>
              <a:tr h="274320">
                <a:tc>
                  <a:txBody>
                    <a:bodyPr/>
                    <a:lstStyle/>
                    <a:p>
                      <a:r>
                        <a:rPr sz="1600" b="0">
                          <a:solidFill>
                            <a:srgbClr val="1F2328"/>
                          </a:solidFill>
                          <a:latin typeface="Calibri"/>
                        </a:rPr>
                        <a:t>7</a:t>
                      </a:r>
                    </a:p>
                  </a:txBody>
                  <a:tcPr marL="54864" marR="54864" marT="18288" marB="18288">
                    <a:solidFill>
                      <a:srgbClr val="FFFFFF"/>
                    </a:solidFill>
                  </a:tcPr>
                </a:tc>
                <a:tc>
                  <a:txBody>
                    <a:bodyPr/>
                    <a:lstStyle/>
                    <a:p>
                      <a:r>
                        <a:rPr sz="1600" b="0">
                          <a:solidFill>
                            <a:srgbClr val="1F2328"/>
                          </a:solidFill>
                          <a:latin typeface="Calibri"/>
                        </a:rPr>
                        <a:t>Incident log</a:t>
                      </a:r>
                    </a:p>
                  </a:txBody>
                  <a:tcPr marL="54864" marR="54864" marT="18288" marB="18288">
                    <a:solidFill>
                      <a:srgbClr val="FFFFFF"/>
                    </a:solidFill>
                  </a:tcPr>
                </a:tc>
                <a:tc>
                  <a:txBody>
                    <a:bodyPr/>
                    <a:lstStyle/>
                    <a:p>
                      <a:r>
                        <a:rPr sz="1600" b="0">
                          <a:solidFill>
                            <a:srgbClr val="1F2328"/>
                          </a:solidFill>
                          <a:latin typeface="Calibri"/>
                        </a:rPr>
                        <a:t>Ower Frank Lopez Arela</a:t>
                      </a:r>
                    </a:p>
                  </a:txBody>
                  <a:tcPr marL="54864" marR="54864" marT="18288" marB="18288">
                    <a:solidFill>
                      <a:srgbClr val="FFFFFF"/>
                    </a:solidFill>
                  </a:tcPr>
                </a:tc>
                <a:extLst>
                  <a:ext uri="{0D108BD9-81ED-4DB2-BD59-A6C34878D82A}">
                    <a16:rowId xmlns:a16="http://schemas.microsoft.com/office/drawing/2014/main" val="10007"/>
                  </a:ext>
                </a:extLst>
              </a:tr>
              <a:tr h="274320">
                <a:tc>
                  <a:txBody>
                    <a:bodyPr/>
                    <a:lstStyle/>
                    <a:p>
                      <a:r>
                        <a:rPr sz="1600" b="0">
                          <a:solidFill>
                            <a:srgbClr val="1F2328"/>
                          </a:solidFill>
                          <a:latin typeface="Calibri"/>
                        </a:rPr>
                        <a:t>8</a:t>
                      </a:r>
                    </a:p>
                  </a:txBody>
                  <a:tcPr marL="54864" marR="54864" marT="18288" marB="18288">
                    <a:solidFill>
                      <a:srgbClr val="F6F4F2"/>
                    </a:solidFill>
                  </a:tcPr>
                </a:tc>
                <a:tc>
                  <a:txBody>
                    <a:bodyPr/>
                    <a:lstStyle/>
                    <a:p>
                      <a:r>
                        <a:rPr sz="1600" b="0">
                          <a:solidFill>
                            <a:srgbClr val="1F2328"/>
                          </a:solidFill>
                          <a:latin typeface="Calibri"/>
                        </a:rPr>
                        <a:t>Lessons learned</a:t>
                      </a:r>
                    </a:p>
                  </a:txBody>
                  <a:tcPr marL="54864" marR="54864" marT="18288" marB="18288">
                    <a:solidFill>
                      <a:srgbClr val="F6F4F2"/>
                    </a:solidFill>
                  </a:tcPr>
                </a:tc>
                <a:tc>
                  <a:txBody>
                    <a:bodyPr/>
                    <a:lstStyle/>
                    <a:p>
                      <a:r>
                        <a:rPr sz="1600" b="0">
                          <a:solidFill>
                            <a:srgbClr val="1F2328"/>
                          </a:solidFill>
                          <a:latin typeface="Calibri"/>
                        </a:rPr>
                        <a:t>Alejandro Josue Phocco Tapia</a:t>
                      </a:r>
                    </a:p>
                  </a:txBody>
                  <a:tcPr marL="54864" marR="54864" marT="18288" marB="18288">
                    <a:solidFill>
                      <a:srgbClr val="F6F4F2"/>
                    </a:solidFill>
                  </a:tcPr>
                </a:tc>
                <a:extLst>
                  <a:ext uri="{0D108BD9-81ED-4DB2-BD59-A6C34878D82A}">
                    <a16:rowId xmlns:a16="http://schemas.microsoft.com/office/drawing/2014/main" val="10008"/>
                  </a:ext>
                </a:extLst>
              </a:tr>
              <a:tr h="274320">
                <a:tc>
                  <a:txBody>
                    <a:bodyPr/>
                    <a:lstStyle/>
                    <a:p>
                      <a:r>
                        <a:rPr sz="1600" b="0">
                          <a:solidFill>
                            <a:srgbClr val="1F2328"/>
                          </a:solidFill>
                          <a:latin typeface="Calibri"/>
                        </a:rPr>
                        <a:t>9</a:t>
                      </a:r>
                    </a:p>
                  </a:txBody>
                  <a:tcPr marL="54864" marR="54864" marT="18288" marB="18288">
                    <a:solidFill>
                      <a:srgbClr val="FFFFFF"/>
                    </a:solidFill>
                  </a:tcPr>
                </a:tc>
                <a:tc>
                  <a:txBody>
                    <a:bodyPr/>
                    <a:lstStyle/>
                    <a:p>
                      <a:r>
                        <a:rPr sz="1600" b="0">
                          <a:solidFill>
                            <a:srgbClr val="1F2328"/>
                          </a:solidFill>
                          <a:latin typeface="Calibri"/>
                        </a:rPr>
                        <a:t>Conclusions</a:t>
                      </a:r>
                    </a:p>
                  </a:txBody>
                  <a:tcPr marL="54864" marR="54864" marT="18288" marB="18288">
                    <a:solidFill>
                      <a:srgbClr val="FFFFFF"/>
                    </a:solidFill>
                  </a:tcPr>
                </a:tc>
                <a:tc>
                  <a:txBody>
                    <a:bodyPr/>
                    <a:lstStyle/>
                    <a:p>
                      <a:r>
                        <a:rPr sz="1600" b="0">
                          <a:solidFill>
                            <a:srgbClr val="1F2328"/>
                          </a:solidFill>
                          <a:latin typeface="Calibri"/>
                        </a:rPr>
                        <a:t>Mauricio Eduardo Zegarra Puma</a:t>
                      </a:r>
                    </a:p>
                  </a:txBody>
                  <a:tcPr marL="54864" marR="54864" marT="18288" marB="18288">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Context: malaria in Peru and the official data</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Source: MINSA – CDC Peru, National Open Data Platform (downloaded 2026-10-26)</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Juan Cari</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3</a:t>
            </a:r>
          </a:p>
        </p:txBody>
      </p:sp>
      <p:sp>
        <p:nvSpPr>
          <p:cNvPr id="7" name="TextBox 6"/>
          <p:cNvSpPr txBox="1"/>
          <p:nvPr/>
        </p:nvSpPr>
        <p:spPr>
          <a:xfrm>
            <a:off x="548640" y="1554480"/>
            <a:ext cx="2743200" cy="731520"/>
          </a:xfrm>
          <a:prstGeom prst="rect">
            <a:avLst/>
          </a:prstGeom>
          <a:noFill/>
        </p:spPr>
        <p:txBody>
          <a:bodyPr wrap="square" lIns="45720" rIns="45720" anchor="t">
            <a:spAutoFit/>
          </a:bodyPr>
          <a:lstStyle/>
          <a:p>
            <a:pPr algn="l">
              <a:spcAft>
                <a:spcPts val="600"/>
              </a:spcAft>
            </a:pPr>
            <a:r>
              <a:rPr sz="3400" b="1">
                <a:solidFill>
                  <a:srgbClr val="7A1F2B"/>
                </a:solidFill>
                <a:latin typeface="Calibri"/>
              </a:rPr>
              <a:t>1,243,299</a:t>
            </a:r>
          </a:p>
        </p:txBody>
      </p:sp>
      <p:sp>
        <p:nvSpPr>
          <p:cNvPr id="8" name="TextBox 7"/>
          <p:cNvSpPr txBox="1"/>
          <p:nvPr/>
        </p:nvSpPr>
        <p:spPr>
          <a:xfrm>
            <a:off x="548640" y="2240280"/>
            <a:ext cx="2743200" cy="548640"/>
          </a:xfrm>
          <a:prstGeom prst="rect">
            <a:avLst/>
          </a:prstGeom>
          <a:noFill/>
        </p:spPr>
        <p:txBody>
          <a:bodyPr wrap="square" lIns="45720" rIns="45720" anchor="t">
            <a:spAutoFit/>
          </a:bodyPr>
          <a:lstStyle/>
          <a:p>
            <a:pPr algn="l">
              <a:spcAft>
                <a:spcPts val="600"/>
              </a:spcAft>
            </a:pPr>
            <a:r>
              <a:rPr sz="1300" b="0">
                <a:solidFill>
                  <a:srgbClr val="57606A"/>
                </a:solidFill>
                <a:latin typeface="Calibri"/>
              </a:rPr>
              <a:t>notified cases 2000–2025</a:t>
            </a:r>
          </a:p>
        </p:txBody>
      </p:sp>
      <p:sp>
        <p:nvSpPr>
          <p:cNvPr id="9" name="TextBox 8"/>
          <p:cNvSpPr txBox="1"/>
          <p:nvPr/>
        </p:nvSpPr>
        <p:spPr>
          <a:xfrm>
            <a:off x="3383280" y="1554480"/>
            <a:ext cx="2743200" cy="731520"/>
          </a:xfrm>
          <a:prstGeom prst="rect">
            <a:avLst/>
          </a:prstGeom>
          <a:noFill/>
        </p:spPr>
        <p:txBody>
          <a:bodyPr wrap="square" lIns="45720" rIns="45720" anchor="t">
            <a:spAutoFit/>
          </a:bodyPr>
          <a:lstStyle/>
          <a:p>
            <a:pPr algn="l">
              <a:spcAft>
                <a:spcPts val="600"/>
              </a:spcAft>
            </a:pPr>
            <a:r>
              <a:rPr sz="3400" b="1">
                <a:solidFill>
                  <a:srgbClr val="7A1F2B"/>
                </a:solidFill>
                <a:latin typeface="Calibri"/>
              </a:rPr>
              <a:t>33,516</a:t>
            </a:r>
          </a:p>
        </p:txBody>
      </p:sp>
      <p:sp>
        <p:nvSpPr>
          <p:cNvPr id="10" name="TextBox 9"/>
          <p:cNvSpPr txBox="1"/>
          <p:nvPr/>
        </p:nvSpPr>
        <p:spPr>
          <a:xfrm>
            <a:off x="3383280" y="2240280"/>
            <a:ext cx="2743200" cy="548640"/>
          </a:xfrm>
          <a:prstGeom prst="rect">
            <a:avLst/>
          </a:prstGeom>
          <a:noFill/>
        </p:spPr>
        <p:txBody>
          <a:bodyPr wrap="square" lIns="45720" rIns="45720" anchor="t">
            <a:spAutoFit/>
          </a:bodyPr>
          <a:lstStyle/>
          <a:p>
            <a:pPr algn="l">
              <a:spcAft>
                <a:spcPts val="600"/>
              </a:spcAft>
            </a:pPr>
            <a:r>
              <a:rPr sz="1300" b="0">
                <a:solidFill>
                  <a:srgbClr val="57606A"/>
                </a:solidFill>
                <a:latin typeface="Calibri"/>
              </a:rPr>
              <a:t>cases in 2025</a:t>
            </a:r>
          </a:p>
        </p:txBody>
      </p:sp>
      <p:sp>
        <p:nvSpPr>
          <p:cNvPr id="11" name="TextBox 10"/>
          <p:cNvSpPr txBox="1"/>
          <p:nvPr/>
        </p:nvSpPr>
        <p:spPr>
          <a:xfrm>
            <a:off x="6217920" y="1554480"/>
            <a:ext cx="2743200" cy="731520"/>
          </a:xfrm>
          <a:prstGeom prst="rect">
            <a:avLst/>
          </a:prstGeom>
          <a:noFill/>
        </p:spPr>
        <p:txBody>
          <a:bodyPr wrap="square" lIns="45720" rIns="45720" anchor="t">
            <a:spAutoFit/>
          </a:bodyPr>
          <a:lstStyle/>
          <a:p>
            <a:pPr algn="l">
              <a:spcAft>
                <a:spcPts val="600"/>
              </a:spcAft>
            </a:pPr>
            <a:r>
              <a:rPr sz="3400" b="1">
                <a:solidFill>
                  <a:srgbClr val="7A1F2B"/>
                </a:solidFill>
                <a:latin typeface="Calibri"/>
              </a:rPr>
              <a:t>15.4 %</a:t>
            </a:r>
          </a:p>
        </p:txBody>
      </p:sp>
      <p:sp>
        <p:nvSpPr>
          <p:cNvPr id="12" name="TextBox 11"/>
          <p:cNvSpPr txBox="1"/>
          <p:nvPr/>
        </p:nvSpPr>
        <p:spPr>
          <a:xfrm>
            <a:off x="6217920" y="2240280"/>
            <a:ext cx="2743200" cy="548640"/>
          </a:xfrm>
          <a:prstGeom prst="rect">
            <a:avLst/>
          </a:prstGeom>
          <a:noFill/>
        </p:spPr>
        <p:txBody>
          <a:bodyPr wrap="square" lIns="45720" rIns="45720" anchor="t">
            <a:spAutoFit/>
          </a:bodyPr>
          <a:lstStyle/>
          <a:p>
            <a:pPr algn="l">
              <a:spcAft>
                <a:spcPts val="600"/>
              </a:spcAft>
            </a:pPr>
            <a:r>
              <a:rPr sz="1300" b="0">
                <a:solidFill>
                  <a:srgbClr val="57606A"/>
                </a:solidFill>
                <a:latin typeface="Calibri"/>
              </a:rPr>
              <a:t>P. falciparum share in 2025</a:t>
            </a:r>
          </a:p>
        </p:txBody>
      </p:sp>
      <p:sp>
        <p:nvSpPr>
          <p:cNvPr id="13" name="TextBox 12"/>
          <p:cNvSpPr txBox="1"/>
          <p:nvPr/>
        </p:nvSpPr>
        <p:spPr>
          <a:xfrm>
            <a:off x="9052560" y="1554480"/>
            <a:ext cx="2743200" cy="731520"/>
          </a:xfrm>
          <a:prstGeom prst="rect">
            <a:avLst/>
          </a:prstGeom>
          <a:noFill/>
        </p:spPr>
        <p:txBody>
          <a:bodyPr wrap="square" lIns="45720" rIns="45720" anchor="t">
            <a:spAutoFit/>
          </a:bodyPr>
          <a:lstStyle/>
          <a:p>
            <a:pPr algn="l">
              <a:spcAft>
                <a:spcPts val="600"/>
              </a:spcAft>
            </a:pPr>
            <a:r>
              <a:rPr sz="3400" b="1">
                <a:solidFill>
                  <a:srgbClr val="7A1F2B"/>
                </a:solidFill>
                <a:latin typeface="Calibri"/>
              </a:rPr>
              <a:t>99 %</a:t>
            </a:r>
          </a:p>
        </p:txBody>
      </p:sp>
      <p:sp>
        <p:nvSpPr>
          <p:cNvPr id="14" name="TextBox 13"/>
          <p:cNvSpPr txBox="1"/>
          <p:nvPr/>
        </p:nvSpPr>
        <p:spPr>
          <a:xfrm>
            <a:off x="9052560" y="2240280"/>
            <a:ext cx="2743200" cy="548640"/>
          </a:xfrm>
          <a:prstGeom prst="rect">
            <a:avLst/>
          </a:prstGeom>
          <a:noFill/>
        </p:spPr>
        <p:txBody>
          <a:bodyPr wrap="square" lIns="45720" rIns="45720" anchor="t">
            <a:spAutoFit/>
          </a:bodyPr>
          <a:lstStyle/>
          <a:p>
            <a:pPr algn="l">
              <a:spcAft>
                <a:spcPts val="600"/>
              </a:spcAft>
            </a:pPr>
            <a:r>
              <a:rPr sz="1300" b="0">
                <a:solidFill>
                  <a:srgbClr val="57606A"/>
                </a:solidFill>
                <a:latin typeface="Calibri"/>
              </a:rPr>
              <a:t>of 2025 cases in Loreto</a:t>
            </a:r>
          </a:p>
        </p:txBody>
      </p:sp>
      <p:graphicFrame>
        <p:nvGraphicFramePr>
          <p:cNvPr id="15" name="Table 14"/>
          <p:cNvGraphicFramePr>
            <a:graphicFrameLocks noGrp="1"/>
          </p:cNvGraphicFramePr>
          <p:nvPr/>
        </p:nvGraphicFramePr>
        <p:xfrm>
          <a:off x="548640" y="3200400"/>
          <a:ext cx="11064240" cy="822960"/>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74320">
                <a:tc>
                  <a:txBody>
                    <a:bodyPr/>
                    <a:lstStyle/>
                    <a:p>
                      <a:r>
                        <a:rPr sz="1400" b="1">
                          <a:solidFill>
                            <a:srgbClr val="FFFFFF"/>
                          </a:solidFill>
                          <a:latin typeface="Calibri"/>
                        </a:rPr>
                        <a:t>Official file</a:t>
                      </a:r>
                    </a:p>
                  </a:txBody>
                  <a:tcPr marL="54864" marR="54864" marT="18288" marB="18288">
                    <a:solidFill>
                      <a:srgbClr val="7A1F2B"/>
                    </a:solidFill>
                  </a:tcPr>
                </a:tc>
                <a:tc>
                  <a:txBody>
                    <a:bodyPr/>
                    <a:lstStyle/>
                    <a:p>
                      <a:r>
                        <a:rPr sz="1400" b="1">
                          <a:solidFill>
                            <a:srgbClr val="FFFFFF"/>
                          </a:solidFill>
                          <a:latin typeface="Calibri"/>
                        </a:rPr>
                        <a:t>Period</a:t>
                      </a:r>
                    </a:p>
                  </a:txBody>
                  <a:tcPr marL="54864" marR="54864" marT="18288" marB="18288">
                    <a:solidFill>
                      <a:srgbClr val="7A1F2B"/>
                    </a:solidFill>
                  </a:tcPr>
                </a:tc>
                <a:tc>
                  <a:txBody>
                    <a:bodyPr/>
                    <a:lstStyle/>
                    <a:p>
                      <a:r>
                        <a:rPr sz="1400" b="1">
                          <a:solidFill>
                            <a:srgbClr val="FFFFFF"/>
                          </a:solidFill>
                          <a:latin typeface="Calibri"/>
                        </a:rPr>
                        <a:t>Granularity</a:t>
                      </a:r>
                    </a:p>
                  </a:txBody>
                  <a:tcPr marL="54864" marR="54864" marT="18288" marB="18288">
                    <a:solidFill>
                      <a:srgbClr val="7A1F2B"/>
                    </a:solidFill>
                  </a:tcPr>
                </a:tc>
                <a:tc>
                  <a:txBody>
                    <a:bodyPr/>
                    <a:lstStyle/>
                    <a:p>
                      <a:r>
                        <a:rPr sz="1400" b="1">
                          <a:solidFill>
                            <a:srgbClr val="FFFFFF"/>
                          </a:solidFill>
                          <a:latin typeface="Calibri"/>
                        </a:rPr>
                        <a:t>Rows</a:t>
                      </a:r>
                    </a:p>
                  </a:txBody>
                  <a:tcPr marL="54864" marR="54864" marT="18288" marB="18288">
                    <a:solidFill>
                      <a:srgbClr val="7A1F2B"/>
                    </a:solidFill>
                  </a:tcPr>
                </a:tc>
                <a:tc>
                  <a:txBody>
                    <a:bodyPr/>
                    <a:lstStyle/>
                    <a:p>
                      <a:r>
                        <a:rPr sz="1400" b="1">
                          <a:solidFill>
                            <a:srgbClr val="FFFFFF"/>
                          </a:solidFill>
                          <a:latin typeface="Calibri"/>
                        </a:rPr>
                        <a:t>Invalid</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400" b="0">
                          <a:solidFill>
                            <a:srgbClr val="1F2328"/>
                          </a:solidFill>
                          <a:latin typeface="Calibri"/>
                        </a:rPr>
                        <a:t>datos_abiertos_vigilancia_malaria_2000_2008.csv</a:t>
                      </a:r>
                    </a:p>
                  </a:txBody>
                  <a:tcPr marL="54864" marR="54864" marT="18288" marB="18288">
                    <a:solidFill>
                      <a:srgbClr val="FFFFFF"/>
                    </a:solidFill>
                  </a:tcPr>
                </a:tc>
                <a:tc>
                  <a:txBody>
                    <a:bodyPr/>
                    <a:lstStyle/>
                    <a:p>
                      <a:r>
                        <a:rPr sz="1400" b="0">
                          <a:solidFill>
                            <a:srgbClr val="1F2328"/>
                          </a:solidFill>
                          <a:latin typeface="Calibri"/>
                        </a:rPr>
                        <a:t>2000-2008</a:t>
                      </a:r>
                    </a:p>
                  </a:txBody>
                  <a:tcPr marL="54864" marR="54864" marT="18288" marB="18288">
                    <a:solidFill>
                      <a:srgbClr val="FFFFFF"/>
                    </a:solidFill>
                  </a:tcPr>
                </a:tc>
                <a:tc>
                  <a:txBody>
                    <a:bodyPr/>
                    <a:lstStyle/>
                    <a:p>
                      <a:r>
                        <a:rPr sz="1400" b="0">
                          <a:solidFill>
                            <a:srgbClr val="1F2328"/>
                          </a:solidFill>
                          <a:latin typeface="Calibri"/>
                        </a:rPr>
                        <a:t>week × district aggregate</a:t>
                      </a:r>
                    </a:p>
                  </a:txBody>
                  <a:tcPr marL="54864" marR="54864" marT="18288" marB="18288">
                    <a:solidFill>
                      <a:srgbClr val="FFFFFF"/>
                    </a:solidFill>
                  </a:tcPr>
                </a:tc>
                <a:tc>
                  <a:txBody>
                    <a:bodyPr/>
                    <a:lstStyle/>
                    <a:p>
                      <a:r>
                        <a:rPr sz="1400" b="0">
                          <a:solidFill>
                            <a:srgbClr val="1F2328"/>
                          </a:solidFill>
                          <a:latin typeface="Calibri"/>
                        </a:rPr>
                        <a:t>106,355</a:t>
                      </a:r>
                    </a:p>
                  </a:txBody>
                  <a:tcPr marL="54864" marR="54864" marT="18288" marB="18288">
                    <a:solidFill>
                      <a:srgbClr val="FFFFFF"/>
                    </a:solidFill>
                  </a:tcPr>
                </a:tc>
                <a:tc>
                  <a:txBody>
                    <a:bodyPr/>
                    <a:lstStyle/>
                    <a:p>
                      <a:r>
                        <a:rPr sz="1400" b="0">
                          <a:solidFill>
                            <a:srgbClr val="1F2328"/>
                          </a:solidFill>
                          <a:latin typeface="Calibri"/>
                        </a:rPr>
                        <a:t>0</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400" b="0">
                          <a:solidFill>
                            <a:srgbClr val="1F2328"/>
                          </a:solidFill>
                          <a:latin typeface="Calibri"/>
                        </a:rPr>
                        <a:t>datos_abiertos_vigilancia_malaria_2009_2025.csv</a:t>
                      </a:r>
                    </a:p>
                  </a:txBody>
                  <a:tcPr marL="54864" marR="54864" marT="18288" marB="18288">
                    <a:solidFill>
                      <a:srgbClr val="F6F4F2"/>
                    </a:solidFill>
                  </a:tcPr>
                </a:tc>
                <a:tc>
                  <a:txBody>
                    <a:bodyPr/>
                    <a:lstStyle/>
                    <a:p>
                      <a:r>
                        <a:rPr sz="1400" b="0">
                          <a:solidFill>
                            <a:srgbClr val="1F2328"/>
                          </a:solidFill>
                          <a:latin typeface="Calibri"/>
                        </a:rPr>
                        <a:t>2009-2025</a:t>
                      </a:r>
                    </a:p>
                  </a:txBody>
                  <a:tcPr marL="54864" marR="54864" marT="18288" marB="18288">
                    <a:solidFill>
                      <a:srgbClr val="F6F4F2"/>
                    </a:solidFill>
                  </a:tcPr>
                </a:tc>
                <a:tc>
                  <a:txBody>
                    <a:bodyPr/>
                    <a:lstStyle/>
                    <a:p>
                      <a:r>
                        <a:rPr sz="1400" b="0">
                          <a:solidFill>
                            <a:srgbClr val="1F2328"/>
                          </a:solidFill>
                          <a:latin typeface="Calibri"/>
                        </a:rPr>
                        <a:t>nominal (one case per row)</a:t>
                      </a:r>
                    </a:p>
                  </a:txBody>
                  <a:tcPr marL="54864" marR="54864" marT="18288" marB="18288">
                    <a:solidFill>
                      <a:srgbClr val="F6F4F2"/>
                    </a:solidFill>
                  </a:tcPr>
                </a:tc>
                <a:tc>
                  <a:txBody>
                    <a:bodyPr/>
                    <a:lstStyle/>
                    <a:p>
                      <a:r>
                        <a:rPr sz="1400" b="0">
                          <a:solidFill>
                            <a:srgbClr val="1F2328"/>
                          </a:solidFill>
                          <a:latin typeface="Calibri"/>
                        </a:rPr>
                        <a:t>630,657</a:t>
                      </a:r>
                    </a:p>
                  </a:txBody>
                  <a:tcPr marL="54864" marR="54864" marT="18288" marB="18288">
                    <a:solidFill>
                      <a:srgbClr val="F6F4F2"/>
                    </a:solidFill>
                  </a:tcPr>
                </a:tc>
                <a:tc>
                  <a:txBody>
                    <a:bodyPr/>
                    <a:lstStyle/>
                    <a:p>
                      <a:r>
                        <a:rPr sz="1400" b="0">
                          <a:solidFill>
                            <a:srgbClr val="1F2328"/>
                          </a:solidFill>
                          <a:latin typeface="Calibri"/>
                        </a:rPr>
                        <a:t>40</a:t>
                      </a:r>
                    </a:p>
                  </a:txBody>
                  <a:tcPr marL="54864" marR="54864" marT="18288" marB="18288">
                    <a:solidFill>
                      <a:srgbClr val="F6F4F2"/>
                    </a:solidFill>
                  </a:tcPr>
                </a:tc>
                <a:extLst>
                  <a:ext uri="{0D108BD9-81ED-4DB2-BD59-A6C34878D82A}">
                    <a16:rowId xmlns:a16="http://schemas.microsoft.com/office/drawing/2014/main" val="10002"/>
                  </a:ext>
                </a:extLst>
              </a:tr>
            </a:tbl>
          </a:graphicData>
        </a:graphic>
      </p:graphicFrame>
      <p:sp>
        <p:nvSpPr>
          <p:cNvPr id="16" name="TextBox 15"/>
          <p:cNvSpPr txBox="1"/>
          <p:nvPr/>
        </p:nvSpPr>
        <p:spPr>
          <a:xfrm>
            <a:off x="548640" y="4297680"/>
            <a:ext cx="11064240" cy="2011680"/>
          </a:xfrm>
          <a:prstGeom prst="rect">
            <a:avLst/>
          </a:prstGeom>
          <a:noFill/>
        </p:spPr>
        <p:txBody>
          <a:bodyPr wrap="square">
            <a:spAutoFit/>
          </a:bodyPr>
          <a:lstStyle/>
          <a:p>
            <a:pPr>
              <a:spcAft>
                <a:spcPts val="900"/>
              </a:spcAft>
            </a:pPr>
            <a:r>
              <a:rPr sz="1500">
                <a:solidFill>
                  <a:srgbClr val="7A1F2B"/>
                </a:solidFill>
                <a:latin typeface="Calibri"/>
              </a:rPr>
              <a:t>▪  </a:t>
            </a:r>
            <a:r>
              <a:rPr sz="1500" b="1">
                <a:solidFill>
                  <a:srgbClr val="1F2328"/>
                </a:solidFill>
                <a:latin typeface="Calibri"/>
              </a:rPr>
              <a:t>Validation:</a:t>
            </a:r>
            <a:r>
              <a:rPr sz="1500">
                <a:solidFill>
                  <a:srgbClr val="1F2328"/>
                </a:solidFill>
                <a:latin typeface="Calibri"/>
              </a:rPr>
              <a:t> year, epidemiological week, age, sex and ICD-10 code (B50 P. falciparum, B51 P. vivax) are checked on every row.</a:t>
            </a:r>
          </a:p>
          <a:p>
            <a:pPr>
              <a:spcAft>
                <a:spcPts val="900"/>
              </a:spcAft>
            </a:pPr>
            <a:r>
              <a:rPr sz="1500">
                <a:solidFill>
                  <a:srgbClr val="7A1F2B"/>
                </a:solidFill>
                <a:latin typeface="Calibri"/>
              </a:rPr>
              <a:t>▪  </a:t>
            </a:r>
            <a:r>
              <a:rPr sz="1500" b="1">
                <a:solidFill>
                  <a:srgbClr val="1F2328"/>
                </a:solidFill>
                <a:latin typeface="Calibri"/>
              </a:rPr>
              <a:t>Recovery, not invention:</a:t>
            </a:r>
            <a:r>
              <a:rPr sz="1500">
                <a:solidFill>
                  <a:srgbClr val="1F2328"/>
                </a:solidFill>
                <a:latin typeface="Calibri"/>
              </a:rPr>
              <a:t> 5,712 cases without a department name were recovered from the INEI ubigeo code; the letter Ñ, delivered as U+FFFD in the official files, was restored in 14 names (figures unchanged).</a:t>
            </a:r>
          </a:p>
          <a:p>
            <a:pPr>
              <a:spcAft>
                <a:spcPts val="900"/>
              </a:spcAft>
            </a:pPr>
            <a:r>
              <a:rPr sz="1500">
                <a:solidFill>
                  <a:srgbClr val="7A1F2B"/>
                </a:solidFill>
                <a:latin typeface="Calibri"/>
              </a:rPr>
              <a:t>▪  </a:t>
            </a:r>
            <a:r>
              <a:rPr sz="1500" b="1">
                <a:solidFill>
                  <a:srgbClr val="1F2328"/>
                </a:solidFill>
                <a:latin typeface="Calibri"/>
              </a:rPr>
              <a:t>Privacy by design:</a:t>
            </a:r>
            <a:r>
              <a:rPr sz="1500">
                <a:solidFill>
                  <a:srgbClr val="1F2328"/>
                </a:solidFill>
                <a:latin typeface="Calibri"/>
              </a:rPr>
              <a:t> only aggregates are published, each source file is fingerprinted with SHA-256.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The product we evaluate: VigiSalud Malaria</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Public web dashboard + ISO/IEC 25010 quality board · https://vigisalud-malaria.vercel.app</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Juan Cari</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4</a:t>
            </a:r>
          </a:p>
        </p:txBody>
      </p:sp>
      <p:pic>
        <p:nvPicPr>
          <p:cNvPr id="7" name="Picture 6" descr="en-diag-arquitectura.jpg"/>
          <p:cNvPicPr>
            <a:picLocks noChangeAspect="1"/>
          </p:cNvPicPr>
          <p:nvPr/>
        </p:nvPicPr>
        <p:blipFill>
          <a:blip r:embed="rId3"/>
          <a:stretch>
            <a:fillRect/>
          </a:stretch>
        </p:blipFill>
        <p:spPr>
          <a:xfrm>
            <a:off x="1638300" y="1417320"/>
            <a:ext cx="8884920" cy="4846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The web dashboard (1/2): what the user sees</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Three global filters — year, department, species — drive every view and are shared in the URL</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Juan Cari</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5</a:t>
            </a:r>
          </a:p>
        </p:txBody>
      </p:sp>
      <p:pic>
        <p:nvPicPr>
          <p:cNvPr id="7" name="Picture 6" descr="en-dashboard-inicio.jpg"/>
          <p:cNvPicPr>
            <a:picLocks noChangeAspect="1"/>
          </p:cNvPicPr>
          <p:nvPr/>
        </p:nvPicPr>
        <p:blipFill>
          <a:blip r:embed="rId3"/>
          <a:stretch>
            <a:fillRect/>
          </a:stretch>
        </p:blipFill>
        <p:spPr>
          <a:xfrm>
            <a:off x="548640" y="1537335"/>
            <a:ext cx="7223760" cy="4514850"/>
          </a:xfrm>
          <a:prstGeom prst="rect">
            <a:avLst/>
          </a:prstGeom>
          <a:ln w="9525">
            <a:solidFill>
              <a:srgbClr val="D0D7DE"/>
            </a:solidFill>
          </a:ln>
        </p:spPr>
      </p:pic>
      <p:sp>
        <p:nvSpPr>
          <p:cNvPr id="8" name="TextBox 7"/>
          <p:cNvSpPr txBox="1"/>
          <p:nvPr/>
        </p:nvSpPr>
        <p:spPr>
          <a:xfrm>
            <a:off x="8001000" y="1463040"/>
            <a:ext cx="3657600" cy="4846320"/>
          </a:xfrm>
          <a:prstGeom prst="rect">
            <a:avLst/>
          </a:prstGeom>
          <a:noFill/>
        </p:spPr>
        <p:txBody>
          <a:bodyPr wrap="square">
            <a:spAutoFit/>
          </a:bodyPr>
          <a:lstStyle/>
          <a:p>
            <a:pPr>
              <a:spcAft>
                <a:spcPts val="900"/>
              </a:spcAft>
            </a:pPr>
            <a:r>
              <a:rPr sz="1400">
                <a:solidFill>
                  <a:srgbClr val="7A1F2B"/>
                </a:solidFill>
                <a:latin typeface="Calibri"/>
              </a:rPr>
              <a:t>▪  </a:t>
            </a:r>
            <a:r>
              <a:rPr sz="1400" b="1">
                <a:solidFill>
                  <a:srgbClr val="1F2328"/>
                </a:solidFill>
                <a:latin typeface="Calibri"/>
              </a:rPr>
              <a:t>Navigation:</a:t>
            </a:r>
            <a:r>
              <a:rPr sz="1400">
                <a:solidFill>
                  <a:srgbClr val="1F2328"/>
                </a:solidFill>
                <a:latin typeface="Calibri"/>
              </a:rPr>
              <a:t> seven sections plus the ISO 25010 quality board.</a:t>
            </a:r>
          </a:p>
          <a:p>
            <a:pPr>
              <a:spcAft>
                <a:spcPts val="900"/>
              </a:spcAft>
            </a:pPr>
            <a:r>
              <a:rPr sz="1400">
                <a:solidFill>
                  <a:srgbClr val="7A1F2B"/>
                </a:solidFill>
                <a:latin typeface="Calibri"/>
              </a:rPr>
              <a:t>▪  </a:t>
            </a:r>
            <a:r>
              <a:rPr sz="1400" b="1">
                <a:solidFill>
                  <a:srgbClr val="1F2328"/>
                </a:solidFill>
                <a:latin typeface="Calibri"/>
              </a:rPr>
              <a:t>Filters:</a:t>
            </a:r>
            <a:r>
              <a:rPr sz="1400">
                <a:solidFill>
                  <a:srgbClr val="1F2328"/>
                </a:solidFill>
                <a:latin typeface="Calibri"/>
              </a:rPr>
              <a:t> year, department and species; shared in the URL.</a:t>
            </a:r>
          </a:p>
          <a:p>
            <a:pPr>
              <a:spcAft>
                <a:spcPts val="900"/>
              </a:spcAft>
            </a:pPr>
            <a:r>
              <a:rPr sz="1400">
                <a:solidFill>
                  <a:srgbClr val="7A1F2B"/>
                </a:solidFill>
                <a:latin typeface="Calibri"/>
              </a:rPr>
              <a:t>▪  </a:t>
            </a:r>
            <a:r>
              <a:rPr sz="1400" b="1">
                <a:solidFill>
                  <a:srgbClr val="1F2328"/>
                </a:solidFill>
                <a:latin typeface="Calibri"/>
              </a:rPr>
              <a:t>Provisional-data notice:</a:t>
            </a:r>
            <a:r>
              <a:rPr sz="1400">
                <a:solidFill>
                  <a:srgbClr val="1F2328"/>
                </a:solidFill>
                <a:latin typeface="Calibri"/>
              </a:rPr>
              <a:t> source, limits and download date.</a:t>
            </a:r>
          </a:p>
          <a:p>
            <a:pPr>
              <a:spcAft>
                <a:spcPts val="900"/>
              </a:spcAft>
            </a:pPr>
            <a:r>
              <a:rPr sz="1400">
                <a:solidFill>
                  <a:srgbClr val="7A1F2B"/>
                </a:solidFill>
                <a:latin typeface="Calibri"/>
              </a:rPr>
              <a:t>▪  </a:t>
            </a:r>
            <a:r>
              <a:rPr sz="1400" b="1">
                <a:solidFill>
                  <a:srgbClr val="1F2328"/>
                </a:solidFill>
                <a:latin typeface="Calibri"/>
              </a:rPr>
              <a:t>Overview:</a:t>
            </a:r>
            <a:r>
              <a:rPr sz="1400">
                <a:solidFill>
                  <a:srgbClr val="1F2328"/>
                </a:solidFill>
                <a:latin typeface="Calibri"/>
              </a:rPr>
              <a:t> 5 KPIs and a one-sentence trend summary.</a:t>
            </a:r>
          </a:p>
          <a:p>
            <a:pPr>
              <a:spcAft>
                <a:spcPts val="900"/>
              </a:spcAft>
            </a:pPr>
            <a:r>
              <a:rPr sz="1400">
                <a:solidFill>
                  <a:srgbClr val="7A1F2B"/>
                </a:solidFill>
                <a:latin typeface="Calibri"/>
              </a:rPr>
              <a:t>▪  </a:t>
            </a:r>
            <a:r>
              <a:rPr sz="1400" b="1">
                <a:solidFill>
                  <a:srgbClr val="1F2328"/>
                </a:solidFill>
                <a:latin typeface="Calibri"/>
              </a:rPr>
              <a:t>Trend:</a:t>
            </a:r>
            <a:r>
              <a:rPr sz="1400">
                <a:solidFill>
                  <a:srgbClr val="1F2328"/>
                </a:solidFill>
                <a:latin typeface="Calibri"/>
              </a:rPr>
              <a:t> annual cases by species; dashed line marks the 2009 change of source.</a:t>
            </a:r>
          </a:p>
          <a:p>
            <a:pPr>
              <a:spcAft>
                <a:spcPts val="900"/>
              </a:spcAft>
            </a:pPr>
            <a:r>
              <a:rPr sz="1400">
                <a:solidFill>
                  <a:srgbClr val="7A1F2B"/>
                </a:solidFill>
                <a:latin typeface="Calibri"/>
              </a:rPr>
              <a:t>▪  </a:t>
            </a:r>
            <a:r>
              <a:rPr sz="1400" b="1">
                <a:solidFill>
                  <a:srgbClr val="1F2328"/>
                </a:solidFill>
                <a:latin typeface="Calibri"/>
              </a:rPr>
              <a:t>ES / EN and light / dark:</a:t>
            </a:r>
            <a:r>
              <a:rPr sz="1400">
                <a:solidFill>
                  <a:srgbClr val="1F2328"/>
                </a:solidFill>
                <a:latin typeface="Calibri"/>
              </a:rPr>
              <a:t> remembered per user.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The web dashboard (2/2): surveillance views</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Endemic channel · territory · population · districts with export</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Juan Cari</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6</a:t>
            </a:r>
          </a:p>
        </p:txBody>
      </p:sp>
      <p:pic>
        <p:nvPicPr>
          <p:cNvPr id="7" name="Picture 6" descr="en-canal.jpg"/>
          <p:cNvPicPr>
            <a:picLocks noChangeAspect="1"/>
          </p:cNvPicPr>
          <p:nvPr/>
        </p:nvPicPr>
        <p:blipFill>
          <a:blip r:embed="rId3"/>
          <a:stretch>
            <a:fillRect/>
          </a:stretch>
        </p:blipFill>
        <p:spPr>
          <a:xfrm>
            <a:off x="684478" y="1463040"/>
            <a:ext cx="5214723" cy="2377440"/>
          </a:xfrm>
          <a:prstGeom prst="rect">
            <a:avLst/>
          </a:prstGeom>
          <a:ln w="9525">
            <a:solidFill>
              <a:srgbClr val="D0D7DE"/>
            </a:solidFill>
          </a:ln>
        </p:spPr>
      </p:pic>
      <p:pic>
        <p:nvPicPr>
          <p:cNvPr id="8" name="Picture 7" descr="en-territorio.jpg"/>
          <p:cNvPicPr>
            <a:picLocks noChangeAspect="1"/>
          </p:cNvPicPr>
          <p:nvPr/>
        </p:nvPicPr>
        <p:blipFill>
          <a:blip r:embed="rId4"/>
          <a:stretch>
            <a:fillRect/>
          </a:stretch>
        </p:blipFill>
        <p:spPr>
          <a:xfrm>
            <a:off x="7249678" y="1463040"/>
            <a:ext cx="3331444" cy="2377440"/>
          </a:xfrm>
          <a:prstGeom prst="rect">
            <a:avLst/>
          </a:prstGeom>
          <a:ln w="9525">
            <a:solidFill>
              <a:srgbClr val="D0D7DE"/>
            </a:solidFill>
          </a:ln>
        </p:spPr>
      </p:pic>
      <p:pic>
        <p:nvPicPr>
          <p:cNvPr id="9" name="Picture 8" descr="en-poblacion.jpg"/>
          <p:cNvPicPr>
            <a:picLocks noChangeAspect="1"/>
          </p:cNvPicPr>
          <p:nvPr/>
        </p:nvPicPr>
        <p:blipFill>
          <a:blip r:embed="rId5"/>
          <a:stretch>
            <a:fillRect/>
          </a:stretch>
        </p:blipFill>
        <p:spPr>
          <a:xfrm>
            <a:off x="548640" y="4232424"/>
            <a:ext cx="5486400" cy="1730709"/>
          </a:xfrm>
          <a:prstGeom prst="rect">
            <a:avLst/>
          </a:prstGeom>
          <a:ln w="9525">
            <a:solidFill>
              <a:srgbClr val="D0D7DE"/>
            </a:solidFill>
          </a:ln>
        </p:spPr>
      </p:pic>
      <p:pic>
        <p:nvPicPr>
          <p:cNvPr id="10" name="Picture 9" descr="en-distritos.jpg"/>
          <p:cNvPicPr>
            <a:picLocks noChangeAspect="1"/>
          </p:cNvPicPr>
          <p:nvPr/>
        </p:nvPicPr>
        <p:blipFill>
          <a:blip r:embed="rId6"/>
          <a:stretch>
            <a:fillRect/>
          </a:stretch>
        </p:blipFill>
        <p:spPr>
          <a:xfrm>
            <a:off x="6920009" y="3977639"/>
            <a:ext cx="3990782" cy="2240280"/>
          </a:xfrm>
          <a:prstGeom prst="rect">
            <a:avLst/>
          </a:prstGeom>
          <a:ln w="9525">
            <a:solidFill>
              <a:srgbClr val="D0D7DE"/>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1 — Adopted characteristics and priorities</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All 9 ISO/IEC 25010:2023 characteristics adopted · 24 sub-characteristics selected · 14 justified as N/A or not evaluated</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Juan Cari</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7</a:t>
            </a:r>
          </a:p>
        </p:txBody>
      </p:sp>
      <p:graphicFrame>
        <p:nvGraphicFramePr>
          <p:cNvPr id="7" name="Table 6"/>
          <p:cNvGraphicFramePr>
            <a:graphicFrameLocks noGrp="1"/>
          </p:cNvGraphicFramePr>
          <p:nvPr/>
        </p:nvGraphicFramePr>
        <p:xfrm>
          <a:off x="548640" y="1417320"/>
          <a:ext cx="11064239" cy="2743200"/>
        </p:xfrm>
        <a:graphic>
          <a:graphicData uri="http://schemas.openxmlformats.org/drawingml/2006/table">
            <a:tbl>
              <a:tblPr firstRow="1" bandRow="1">
                <a:tableStyleId>{5C22544A-7EE6-4342-B048-85BDC9FD1C3A}</a:tableStyleId>
              </a:tblPr>
              <a:tblGrid>
                <a:gridCol w="2265120">
                  <a:extLst>
                    <a:ext uri="{9D8B030D-6E8A-4147-A177-3AD203B41FA5}">
                      <a16:colId xmlns:a16="http://schemas.microsoft.com/office/drawing/2014/main" val="20000"/>
                    </a:ext>
                  </a:extLst>
                </a:gridCol>
                <a:gridCol w="958320">
                  <a:extLst>
                    <a:ext uri="{9D8B030D-6E8A-4147-A177-3AD203B41FA5}">
                      <a16:colId xmlns:a16="http://schemas.microsoft.com/office/drawing/2014/main" val="20001"/>
                    </a:ext>
                  </a:extLst>
                </a:gridCol>
                <a:gridCol w="5575679">
                  <a:extLst>
                    <a:ext uri="{9D8B030D-6E8A-4147-A177-3AD203B41FA5}">
                      <a16:colId xmlns:a16="http://schemas.microsoft.com/office/drawing/2014/main" val="20002"/>
                    </a:ext>
                  </a:extLst>
                </a:gridCol>
                <a:gridCol w="2265120">
                  <a:extLst>
                    <a:ext uri="{9D8B030D-6E8A-4147-A177-3AD203B41FA5}">
                      <a16:colId xmlns:a16="http://schemas.microsoft.com/office/drawing/2014/main" val="20003"/>
                    </a:ext>
                  </a:extLst>
                </a:gridCol>
              </a:tblGrid>
              <a:tr h="274320">
                <a:tc>
                  <a:txBody>
                    <a:bodyPr/>
                    <a:lstStyle/>
                    <a:p>
                      <a:r>
                        <a:rPr sz="1250" b="1">
                          <a:solidFill>
                            <a:srgbClr val="FFFFFF"/>
                          </a:solidFill>
                          <a:latin typeface="Calibri"/>
                        </a:rPr>
                        <a:t>Characteristic</a:t>
                      </a:r>
                    </a:p>
                  </a:txBody>
                  <a:tcPr marL="54864" marR="54864" marT="18288" marB="18288">
                    <a:solidFill>
                      <a:srgbClr val="7A1F2B"/>
                    </a:solidFill>
                  </a:tcPr>
                </a:tc>
                <a:tc>
                  <a:txBody>
                    <a:bodyPr/>
                    <a:lstStyle/>
                    <a:p>
                      <a:r>
                        <a:rPr sz="1250" b="1">
                          <a:solidFill>
                            <a:srgbClr val="FFFFFF"/>
                          </a:solidFill>
                          <a:latin typeface="Calibri"/>
                        </a:rPr>
                        <a:t>Priority</a:t>
                      </a:r>
                    </a:p>
                  </a:txBody>
                  <a:tcPr marL="54864" marR="54864" marT="18288" marB="18288">
                    <a:solidFill>
                      <a:srgbClr val="7A1F2B"/>
                    </a:solidFill>
                  </a:tcPr>
                </a:tc>
                <a:tc>
                  <a:txBody>
                    <a:bodyPr/>
                    <a:lstStyle/>
                    <a:p>
                      <a:r>
                        <a:rPr sz="1250" b="1">
                          <a:solidFill>
                            <a:srgbClr val="FFFFFF"/>
                          </a:solidFill>
                          <a:latin typeface="Calibri"/>
                        </a:rPr>
                        <a:t>Selected sub-characteristics</a:t>
                      </a:r>
                    </a:p>
                  </a:txBody>
                  <a:tcPr marL="54864" marR="54864" marT="18288" marB="18288">
                    <a:solidFill>
                      <a:srgbClr val="7A1F2B"/>
                    </a:solidFill>
                  </a:tcPr>
                </a:tc>
                <a:tc>
                  <a:txBody>
                    <a:bodyPr/>
                    <a:lstStyle/>
                    <a:p>
                      <a:r>
                        <a:rPr sz="1250" b="1">
                          <a:solidFill>
                            <a:srgbClr val="FFFFFF"/>
                          </a:solidFill>
                          <a:latin typeface="Calibri"/>
                        </a:rPr>
                        <a:t>Metrics</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250" b="0">
                          <a:solidFill>
                            <a:srgbClr val="1F2328"/>
                          </a:solidFill>
                          <a:latin typeface="Calibri"/>
                        </a:rPr>
                        <a:t>Functional suitability</a:t>
                      </a:r>
                    </a:p>
                  </a:txBody>
                  <a:tcPr marL="54864" marR="54864" marT="18288" marB="18288">
                    <a:solidFill>
                      <a:srgbClr val="FFFFFF"/>
                    </a:solidFill>
                  </a:tcPr>
                </a:tc>
                <a:tc>
                  <a:txBody>
                    <a:bodyPr/>
                    <a:lstStyle/>
                    <a:p>
                      <a:r>
                        <a:rPr sz="1250" b="0">
                          <a:solidFill>
                            <a:srgbClr val="1F2328"/>
                          </a:solidFill>
                          <a:latin typeface="Calibri"/>
                        </a:rPr>
                        <a:t>High</a:t>
                      </a:r>
                    </a:p>
                  </a:txBody>
                  <a:tcPr marL="54864" marR="54864" marT="18288" marB="18288">
                    <a:solidFill>
                      <a:srgbClr val="FFFFFF"/>
                    </a:solidFill>
                  </a:tcPr>
                </a:tc>
                <a:tc>
                  <a:txBody>
                    <a:bodyPr/>
                    <a:lstStyle/>
                    <a:p>
                      <a:r>
                        <a:rPr sz="1250" b="0">
                          <a:solidFill>
                            <a:srgbClr val="1F2328"/>
                          </a:solidFill>
                          <a:latin typeface="Calibri"/>
                        </a:rPr>
                        <a:t>Functional completeness, Functional correctness, Functional appropriateness</a:t>
                      </a:r>
                    </a:p>
                  </a:txBody>
                  <a:tcPr marL="54864" marR="54864" marT="18288" marB="18288">
                    <a:solidFill>
                      <a:srgbClr val="FFFFFF"/>
                    </a:solidFill>
                  </a:tcPr>
                </a:tc>
                <a:tc>
                  <a:txBody>
                    <a:bodyPr/>
                    <a:lstStyle/>
                    <a:p>
                      <a:r>
                        <a:rPr sz="1250" b="0">
                          <a:solidFill>
                            <a:srgbClr val="1F2328"/>
                          </a:solidFill>
                          <a:latin typeface="Calibri"/>
                        </a:rPr>
                        <a:t>IF-01, IF-02, IF-03</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250" b="0">
                          <a:solidFill>
                            <a:srgbClr val="1F2328"/>
                          </a:solidFill>
                          <a:latin typeface="Calibri"/>
                        </a:rPr>
                        <a:t>Performance efficiency</a:t>
                      </a:r>
                    </a:p>
                  </a:txBody>
                  <a:tcPr marL="54864" marR="54864" marT="18288" marB="18288">
                    <a:solidFill>
                      <a:srgbClr val="F6F4F2"/>
                    </a:solidFill>
                  </a:tcPr>
                </a:tc>
                <a:tc>
                  <a:txBody>
                    <a:bodyPr/>
                    <a:lstStyle/>
                    <a:p>
                      <a:r>
                        <a:rPr sz="1250" b="0">
                          <a:solidFill>
                            <a:srgbClr val="1F2328"/>
                          </a:solidFill>
                          <a:latin typeface="Calibri"/>
                        </a:rPr>
                        <a:t>Medium</a:t>
                      </a:r>
                    </a:p>
                  </a:txBody>
                  <a:tcPr marL="54864" marR="54864" marT="18288" marB="18288">
                    <a:solidFill>
                      <a:srgbClr val="F6F4F2"/>
                    </a:solidFill>
                  </a:tcPr>
                </a:tc>
                <a:tc>
                  <a:txBody>
                    <a:bodyPr/>
                    <a:lstStyle/>
                    <a:p>
                      <a:r>
                        <a:rPr sz="1250" b="0">
                          <a:solidFill>
                            <a:srgbClr val="1F2328"/>
                          </a:solidFill>
                          <a:latin typeface="Calibri"/>
                        </a:rPr>
                        <a:t>Time behaviour, Resource utilization</a:t>
                      </a:r>
                    </a:p>
                  </a:txBody>
                  <a:tcPr marL="54864" marR="54864" marT="18288" marB="18288">
                    <a:solidFill>
                      <a:srgbClr val="F6F4F2"/>
                    </a:solidFill>
                  </a:tcPr>
                </a:tc>
                <a:tc>
                  <a:txBody>
                    <a:bodyPr/>
                    <a:lstStyle/>
                    <a:p>
                      <a:r>
                        <a:rPr sz="1250" b="0">
                          <a:solidFill>
                            <a:srgbClr val="1F2328"/>
                          </a:solidFill>
                          <a:latin typeface="Calibri"/>
                        </a:rPr>
                        <a:t>ED-01, ED-02, ED-03</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250" b="0">
                          <a:solidFill>
                            <a:srgbClr val="1F2328"/>
                          </a:solidFill>
                          <a:latin typeface="Calibri"/>
                        </a:rPr>
                        <a:t>Compatibility</a:t>
                      </a:r>
                    </a:p>
                  </a:txBody>
                  <a:tcPr marL="54864" marR="54864" marT="18288" marB="18288">
                    <a:solidFill>
                      <a:srgbClr val="FFFFFF"/>
                    </a:solidFill>
                  </a:tcPr>
                </a:tc>
                <a:tc>
                  <a:txBody>
                    <a:bodyPr/>
                    <a:lstStyle/>
                    <a:p>
                      <a:r>
                        <a:rPr sz="1250" b="0">
                          <a:solidFill>
                            <a:srgbClr val="1F2328"/>
                          </a:solidFill>
                          <a:latin typeface="Calibri"/>
                        </a:rPr>
                        <a:t>Low</a:t>
                      </a:r>
                    </a:p>
                  </a:txBody>
                  <a:tcPr marL="54864" marR="54864" marT="18288" marB="18288">
                    <a:solidFill>
                      <a:srgbClr val="FFFFFF"/>
                    </a:solidFill>
                  </a:tcPr>
                </a:tc>
                <a:tc>
                  <a:txBody>
                    <a:bodyPr/>
                    <a:lstStyle/>
                    <a:p>
                      <a:r>
                        <a:rPr sz="1250" b="0">
                          <a:solidFill>
                            <a:srgbClr val="1F2328"/>
                          </a:solidFill>
                          <a:latin typeface="Calibri"/>
                        </a:rPr>
                        <a:t>Interoperability</a:t>
                      </a:r>
                    </a:p>
                  </a:txBody>
                  <a:tcPr marL="54864" marR="54864" marT="18288" marB="18288">
                    <a:solidFill>
                      <a:srgbClr val="FFFFFF"/>
                    </a:solidFill>
                  </a:tcPr>
                </a:tc>
                <a:tc>
                  <a:txBody>
                    <a:bodyPr/>
                    <a:lstStyle/>
                    <a:p>
                      <a:r>
                        <a:rPr sz="1250" b="0">
                          <a:solidFill>
                            <a:srgbClr val="1F2328"/>
                          </a:solidFill>
                          <a:latin typeface="Calibri"/>
                        </a:rPr>
                        <a:t>CO-01</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250" b="0">
                          <a:solidFill>
                            <a:srgbClr val="1F2328"/>
                          </a:solidFill>
                          <a:latin typeface="Calibri"/>
                        </a:rPr>
                        <a:t>Interaction capability</a:t>
                      </a:r>
                    </a:p>
                  </a:txBody>
                  <a:tcPr marL="54864" marR="54864" marT="18288" marB="18288">
                    <a:solidFill>
                      <a:srgbClr val="F6F4F2"/>
                    </a:solidFill>
                  </a:tcPr>
                </a:tc>
                <a:tc>
                  <a:txBody>
                    <a:bodyPr/>
                    <a:lstStyle/>
                    <a:p>
                      <a:r>
                        <a:rPr sz="1250" b="0">
                          <a:solidFill>
                            <a:srgbClr val="1F2328"/>
                          </a:solidFill>
                          <a:latin typeface="Calibri"/>
                        </a:rPr>
                        <a:t>High</a:t>
                      </a:r>
                    </a:p>
                  </a:txBody>
                  <a:tcPr marL="54864" marR="54864" marT="18288" marB="18288">
                    <a:solidFill>
                      <a:srgbClr val="F6F4F2"/>
                    </a:solidFill>
                  </a:tcPr>
                </a:tc>
                <a:tc>
                  <a:txBody>
                    <a:bodyPr/>
                    <a:lstStyle/>
                    <a:p>
                      <a:r>
                        <a:rPr sz="1250" b="0">
                          <a:solidFill>
                            <a:srgbClr val="1F2328"/>
                          </a:solidFill>
                          <a:latin typeface="Calibri"/>
                        </a:rPr>
                        <a:t>Operability, User error protection, Inclusivity, Self-descriptiveness</a:t>
                      </a:r>
                    </a:p>
                  </a:txBody>
                  <a:tcPr marL="54864" marR="54864" marT="18288" marB="18288">
                    <a:solidFill>
                      <a:srgbClr val="F6F4F2"/>
                    </a:solidFill>
                  </a:tcPr>
                </a:tc>
                <a:tc>
                  <a:txBody>
                    <a:bodyPr/>
                    <a:lstStyle/>
                    <a:p>
                      <a:r>
                        <a:rPr sz="1250" b="0">
                          <a:solidFill>
                            <a:srgbClr val="1F2328"/>
                          </a:solidFill>
                          <a:latin typeface="Calibri"/>
                        </a:rPr>
                        <a:t>CI-01, CI-02, CI-03, CI-04</a:t>
                      </a:r>
                    </a:p>
                  </a:txBody>
                  <a:tcPr marL="54864" marR="54864" marT="18288" marB="18288">
                    <a:solidFill>
                      <a:srgbClr val="F6F4F2"/>
                    </a:solidFill>
                  </a:tcPr>
                </a:tc>
                <a:extLst>
                  <a:ext uri="{0D108BD9-81ED-4DB2-BD59-A6C34878D82A}">
                    <a16:rowId xmlns:a16="http://schemas.microsoft.com/office/drawing/2014/main" val="10004"/>
                  </a:ext>
                </a:extLst>
              </a:tr>
              <a:tr h="274320">
                <a:tc>
                  <a:txBody>
                    <a:bodyPr/>
                    <a:lstStyle/>
                    <a:p>
                      <a:r>
                        <a:rPr sz="1250" b="0">
                          <a:solidFill>
                            <a:srgbClr val="1F2328"/>
                          </a:solidFill>
                          <a:latin typeface="Calibri"/>
                        </a:rPr>
                        <a:t>Reliability</a:t>
                      </a:r>
                    </a:p>
                  </a:txBody>
                  <a:tcPr marL="54864" marR="54864" marT="18288" marB="18288">
                    <a:solidFill>
                      <a:srgbClr val="FFFFFF"/>
                    </a:solidFill>
                  </a:tcPr>
                </a:tc>
                <a:tc>
                  <a:txBody>
                    <a:bodyPr/>
                    <a:lstStyle/>
                    <a:p>
                      <a:r>
                        <a:rPr sz="1250" b="0">
                          <a:solidFill>
                            <a:srgbClr val="1F2328"/>
                          </a:solidFill>
                          <a:latin typeface="Calibri"/>
                        </a:rPr>
                        <a:t>High</a:t>
                      </a:r>
                    </a:p>
                  </a:txBody>
                  <a:tcPr marL="54864" marR="54864" marT="18288" marB="18288">
                    <a:solidFill>
                      <a:srgbClr val="FFFFFF"/>
                    </a:solidFill>
                  </a:tcPr>
                </a:tc>
                <a:tc>
                  <a:txBody>
                    <a:bodyPr/>
                    <a:lstStyle/>
                    <a:p>
                      <a:r>
                        <a:rPr sz="1250" b="0">
                          <a:solidFill>
                            <a:srgbClr val="1F2328"/>
                          </a:solidFill>
                          <a:latin typeface="Calibri"/>
                        </a:rPr>
                        <a:t>Faultlessness, Availability, Fault tolerance, Recoverability</a:t>
                      </a:r>
                    </a:p>
                  </a:txBody>
                  <a:tcPr marL="54864" marR="54864" marT="18288" marB="18288">
                    <a:solidFill>
                      <a:srgbClr val="FFFFFF"/>
                    </a:solidFill>
                  </a:tcPr>
                </a:tc>
                <a:tc>
                  <a:txBody>
                    <a:bodyPr/>
                    <a:lstStyle/>
                    <a:p>
                      <a:r>
                        <a:rPr sz="1250" b="0">
                          <a:solidFill>
                            <a:srgbClr val="1F2328"/>
                          </a:solidFill>
                          <a:latin typeface="Calibri"/>
                        </a:rPr>
                        <a:t>FI-01, FI-02, FI-03, FI-04</a:t>
                      </a:r>
                    </a:p>
                  </a:txBody>
                  <a:tcPr marL="54864" marR="54864" marT="18288" marB="18288">
                    <a:solidFill>
                      <a:srgbClr val="FFFFFF"/>
                    </a:solidFill>
                  </a:tcPr>
                </a:tc>
                <a:extLst>
                  <a:ext uri="{0D108BD9-81ED-4DB2-BD59-A6C34878D82A}">
                    <a16:rowId xmlns:a16="http://schemas.microsoft.com/office/drawing/2014/main" val="10005"/>
                  </a:ext>
                </a:extLst>
              </a:tr>
              <a:tr h="274320">
                <a:tc>
                  <a:txBody>
                    <a:bodyPr/>
                    <a:lstStyle/>
                    <a:p>
                      <a:r>
                        <a:rPr sz="1250" b="0">
                          <a:solidFill>
                            <a:srgbClr val="1F2328"/>
                          </a:solidFill>
                          <a:latin typeface="Calibri"/>
                        </a:rPr>
                        <a:t>Security</a:t>
                      </a:r>
                    </a:p>
                  </a:txBody>
                  <a:tcPr marL="54864" marR="54864" marT="18288" marB="18288">
                    <a:solidFill>
                      <a:srgbClr val="F6F4F2"/>
                    </a:solidFill>
                  </a:tcPr>
                </a:tc>
                <a:tc>
                  <a:txBody>
                    <a:bodyPr/>
                    <a:lstStyle/>
                    <a:p>
                      <a:r>
                        <a:rPr sz="1250" b="0">
                          <a:solidFill>
                            <a:srgbClr val="1F2328"/>
                          </a:solidFill>
                          <a:latin typeface="Calibri"/>
                        </a:rPr>
                        <a:t>High</a:t>
                      </a:r>
                    </a:p>
                  </a:txBody>
                  <a:tcPr marL="54864" marR="54864" marT="18288" marB="18288">
                    <a:solidFill>
                      <a:srgbClr val="F6F4F2"/>
                    </a:solidFill>
                  </a:tcPr>
                </a:tc>
                <a:tc>
                  <a:txBody>
                    <a:bodyPr/>
                    <a:lstStyle/>
                    <a:p>
                      <a:r>
                        <a:rPr sz="1250" b="0">
                          <a:solidFill>
                            <a:srgbClr val="1F2328"/>
                          </a:solidFill>
                          <a:latin typeface="Calibri"/>
                        </a:rPr>
                        <a:t>Confidentiality, Integrity, Resistance</a:t>
                      </a:r>
                    </a:p>
                  </a:txBody>
                  <a:tcPr marL="54864" marR="54864" marT="18288" marB="18288">
                    <a:solidFill>
                      <a:srgbClr val="F6F4F2"/>
                    </a:solidFill>
                  </a:tcPr>
                </a:tc>
                <a:tc>
                  <a:txBody>
                    <a:bodyPr/>
                    <a:lstStyle/>
                    <a:p>
                      <a:r>
                        <a:rPr sz="1250" b="0">
                          <a:solidFill>
                            <a:srgbClr val="1F2328"/>
                          </a:solidFill>
                          <a:latin typeface="Calibri"/>
                        </a:rPr>
                        <a:t>SE-01, SE-02, SE-03</a:t>
                      </a:r>
                    </a:p>
                  </a:txBody>
                  <a:tcPr marL="54864" marR="54864" marT="18288" marB="18288">
                    <a:solidFill>
                      <a:srgbClr val="F6F4F2"/>
                    </a:solidFill>
                  </a:tcPr>
                </a:tc>
                <a:extLst>
                  <a:ext uri="{0D108BD9-81ED-4DB2-BD59-A6C34878D82A}">
                    <a16:rowId xmlns:a16="http://schemas.microsoft.com/office/drawing/2014/main" val="10006"/>
                  </a:ext>
                </a:extLst>
              </a:tr>
              <a:tr h="274320">
                <a:tc>
                  <a:txBody>
                    <a:bodyPr/>
                    <a:lstStyle/>
                    <a:p>
                      <a:r>
                        <a:rPr sz="1250" b="0">
                          <a:solidFill>
                            <a:srgbClr val="1F2328"/>
                          </a:solidFill>
                          <a:latin typeface="Calibri"/>
                        </a:rPr>
                        <a:t>Maintainability</a:t>
                      </a:r>
                    </a:p>
                  </a:txBody>
                  <a:tcPr marL="54864" marR="54864" marT="18288" marB="18288">
                    <a:solidFill>
                      <a:srgbClr val="FFFFFF"/>
                    </a:solidFill>
                  </a:tcPr>
                </a:tc>
                <a:tc>
                  <a:txBody>
                    <a:bodyPr/>
                    <a:lstStyle/>
                    <a:p>
                      <a:r>
                        <a:rPr sz="1250" b="0">
                          <a:solidFill>
                            <a:srgbClr val="1F2328"/>
                          </a:solidFill>
                          <a:latin typeface="Calibri"/>
                        </a:rPr>
                        <a:t>Medium</a:t>
                      </a:r>
                    </a:p>
                  </a:txBody>
                  <a:tcPr marL="54864" marR="54864" marT="18288" marB="18288">
                    <a:solidFill>
                      <a:srgbClr val="FFFFFF"/>
                    </a:solidFill>
                  </a:tcPr>
                </a:tc>
                <a:tc>
                  <a:txBody>
                    <a:bodyPr/>
                    <a:lstStyle/>
                    <a:p>
                      <a:r>
                        <a:rPr sz="1250" b="0">
                          <a:solidFill>
                            <a:srgbClr val="1F2328"/>
                          </a:solidFill>
                          <a:latin typeface="Calibri"/>
                        </a:rPr>
                        <a:t>Analysability, Modifiability, Testability</a:t>
                      </a:r>
                    </a:p>
                  </a:txBody>
                  <a:tcPr marL="54864" marR="54864" marT="18288" marB="18288">
                    <a:solidFill>
                      <a:srgbClr val="FFFFFF"/>
                    </a:solidFill>
                  </a:tcPr>
                </a:tc>
                <a:tc>
                  <a:txBody>
                    <a:bodyPr/>
                    <a:lstStyle/>
                    <a:p>
                      <a:r>
                        <a:rPr sz="1250" b="0">
                          <a:solidFill>
                            <a:srgbClr val="1F2328"/>
                          </a:solidFill>
                          <a:latin typeface="Calibri"/>
                        </a:rPr>
                        <a:t>MA-01, MA-02, MA-03</a:t>
                      </a:r>
                    </a:p>
                  </a:txBody>
                  <a:tcPr marL="54864" marR="54864" marT="18288" marB="18288">
                    <a:solidFill>
                      <a:srgbClr val="FFFFFF"/>
                    </a:solidFill>
                  </a:tcPr>
                </a:tc>
                <a:extLst>
                  <a:ext uri="{0D108BD9-81ED-4DB2-BD59-A6C34878D82A}">
                    <a16:rowId xmlns:a16="http://schemas.microsoft.com/office/drawing/2014/main" val="10007"/>
                  </a:ext>
                </a:extLst>
              </a:tr>
              <a:tr h="274320">
                <a:tc>
                  <a:txBody>
                    <a:bodyPr/>
                    <a:lstStyle/>
                    <a:p>
                      <a:r>
                        <a:rPr sz="1250" b="0">
                          <a:solidFill>
                            <a:srgbClr val="1F2328"/>
                          </a:solidFill>
                          <a:latin typeface="Calibri"/>
                        </a:rPr>
                        <a:t>Flexibility</a:t>
                      </a:r>
                    </a:p>
                  </a:txBody>
                  <a:tcPr marL="54864" marR="54864" marT="18288" marB="18288">
                    <a:solidFill>
                      <a:srgbClr val="F6F4F2"/>
                    </a:solidFill>
                  </a:tcPr>
                </a:tc>
                <a:tc>
                  <a:txBody>
                    <a:bodyPr/>
                    <a:lstStyle/>
                    <a:p>
                      <a:r>
                        <a:rPr sz="1250" b="0">
                          <a:solidFill>
                            <a:srgbClr val="1F2328"/>
                          </a:solidFill>
                          <a:latin typeface="Calibri"/>
                        </a:rPr>
                        <a:t>Medium</a:t>
                      </a:r>
                    </a:p>
                  </a:txBody>
                  <a:tcPr marL="54864" marR="54864" marT="18288" marB="18288">
                    <a:solidFill>
                      <a:srgbClr val="F6F4F2"/>
                    </a:solidFill>
                  </a:tcPr>
                </a:tc>
                <a:tc>
                  <a:txBody>
                    <a:bodyPr/>
                    <a:lstStyle/>
                    <a:p>
                      <a:r>
                        <a:rPr sz="1250" b="0">
                          <a:solidFill>
                            <a:srgbClr val="1F2328"/>
                          </a:solidFill>
                          <a:latin typeface="Calibri"/>
                        </a:rPr>
                        <a:t>Adaptability</a:t>
                      </a:r>
                    </a:p>
                  </a:txBody>
                  <a:tcPr marL="54864" marR="54864" marT="18288" marB="18288">
                    <a:solidFill>
                      <a:srgbClr val="F6F4F2"/>
                    </a:solidFill>
                  </a:tcPr>
                </a:tc>
                <a:tc>
                  <a:txBody>
                    <a:bodyPr/>
                    <a:lstStyle/>
                    <a:p>
                      <a:r>
                        <a:rPr sz="1250" b="0">
                          <a:solidFill>
                            <a:srgbClr val="1F2328"/>
                          </a:solidFill>
                          <a:latin typeface="Calibri"/>
                        </a:rPr>
                        <a:t>FL-01</a:t>
                      </a:r>
                    </a:p>
                  </a:txBody>
                  <a:tcPr marL="54864" marR="54864" marT="18288" marB="18288">
                    <a:solidFill>
                      <a:srgbClr val="F6F4F2"/>
                    </a:solidFill>
                  </a:tcPr>
                </a:tc>
                <a:extLst>
                  <a:ext uri="{0D108BD9-81ED-4DB2-BD59-A6C34878D82A}">
                    <a16:rowId xmlns:a16="http://schemas.microsoft.com/office/drawing/2014/main" val="10008"/>
                  </a:ext>
                </a:extLst>
              </a:tr>
              <a:tr h="274320">
                <a:tc>
                  <a:txBody>
                    <a:bodyPr/>
                    <a:lstStyle/>
                    <a:p>
                      <a:r>
                        <a:rPr sz="1250" b="0">
                          <a:solidFill>
                            <a:srgbClr val="1F2328"/>
                          </a:solidFill>
                          <a:latin typeface="Calibri"/>
                        </a:rPr>
                        <a:t>Safety</a:t>
                      </a:r>
                    </a:p>
                  </a:txBody>
                  <a:tcPr marL="54864" marR="54864" marT="18288" marB="18288">
                    <a:solidFill>
                      <a:srgbClr val="FFFFFF"/>
                    </a:solidFill>
                  </a:tcPr>
                </a:tc>
                <a:tc>
                  <a:txBody>
                    <a:bodyPr/>
                    <a:lstStyle/>
                    <a:p>
                      <a:r>
                        <a:rPr sz="1250" b="0">
                          <a:solidFill>
                            <a:srgbClr val="1F2328"/>
                          </a:solidFill>
                          <a:latin typeface="Calibri"/>
                        </a:rPr>
                        <a:t>High</a:t>
                      </a:r>
                    </a:p>
                  </a:txBody>
                  <a:tcPr marL="54864" marR="54864" marT="18288" marB="18288">
                    <a:solidFill>
                      <a:srgbClr val="FFFFFF"/>
                    </a:solidFill>
                  </a:tcPr>
                </a:tc>
                <a:tc>
                  <a:txBody>
                    <a:bodyPr/>
                    <a:lstStyle/>
                    <a:p>
                      <a:r>
                        <a:rPr sz="1250" b="0">
                          <a:solidFill>
                            <a:srgbClr val="1F2328"/>
                          </a:solidFill>
                          <a:latin typeface="Calibri"/>
                        </a:rPr>
                        <a:t>Hazard warning, Fail safe, Risk identification</a:t>
                      </a:r>
                    </a:p>
                  </a:txBody>
                  <a:tcPr marL="54864" marR="54864" marT="18288" marB="18288">
                    <a:solidFill>
                      <a:srgbClr val="FFFFFF"/>
                    </a:solidFill>
                  </a:tcPr>
                </a:tc>
                <a:tc>
                  <a:txBody>
                    <a:bodyPr/>
                    <a:lstStyle/>
                    <a:p>
                      <a:r>
                        <a:rPr sz="1250" b="0">
                          <a:solidFill>
                            <a:srgbClr val="1F2328"/>
                          </a:solidFill>
                          <a:latin typeface="Calibri"/>
                        </a:rPr>
                        <a:t>SO-01, SO-02, SO-03</a:t>
                      </a:r>
                    </a:p>
                  </a:txBody>
                  <a:tcPr marL="54864" marR="54864" marT="18288" marB="18288">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1 — What we did not evaluate, and why</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Exclusions are explicit: not applicable (the property does not exist) vs. not evaluated (needs resources out of scope)</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Juan Cari</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8</a:t>
            </a:r>
          </a:p>
        </p:txBody>
      </p:sp>
      <p:graphicFrame>
        <p:nvGraphicFramePr>
          <p:cNvPr id="7" name="Table 6"/>
          <p:cNvGraphicFramePr>
            <a:graphicFrameLocks noGrp="1"/>
          </p:cNvGraphicFramePr>
          <p:nvPr/>
        </p:nvGraphicFramePr>
        <p:xfrm>
          <a:off x="548640" y="1417320"/>
          <a:ext cx="11064238" cy="4114800"/>
        </p:xfrm>
        <a:graphic>
          <a:graphicData uri="http://schemas.openxmlformats.org/drawingml/2006/table">
            <a:tbl>
              <a:tblPr firstRow="1" bandRow="1">
                <a:tableStyleId>{5C22544A-7EE6-4342-B048-85BDC9FD1C3A}</a:tableStyleId>
              </a:tblPr>
              <a:tblGrid>
                <a:gridCol w="1996554">
                  <a:extLst>
                    <a:ext uri="{9D8B030D-6E8A-4147-A177-3AD203B41FA5}">
                      <a16:colId xmlns:a16="http://schemas.microsoft.com/office/drawing/2014/main" val="20000"/>
                    </a:ext>
                  </a:extLst>
                </a:gridCol>
                <a:gridCol w="2412503">
                  <a:extLst>
                    <a:ext uri="{9D8B030D-6E8A-4147-A177-3AD203B41FA5}">
                      <a16:colId xmlns:a16="http://schemas.microsoft.com/office/drawing/2014/main" val="20001"/>
                    </a:ext>
                  </a:extLst>
                </a:gridCol>
                <a:gridCol w="1331036">
                  <a:extLst>
                    <a:ext uri="{9D8B030D-6E8A-4147-A177-3AD203B41FA5}">
                      <a16:colId xmlns:a16="http://schemas.microsoft.com/office/drawing/2014/main" val="20002"/>
                    </a:ext>
                  </a:extLst>
                </a:gridCol>
                <a:gridCol w="5324145">
                  <a:extLst>
                    <a:ext uri="{9D8B030D-6E8A-4147-A177-3AD203B41FA5}">
                      <a16:colId xmlns:a16="http://schemas.microsoft.com/office/drawing/2014/main" val="20003"/>
                    </a:ext>
                  </a:extLst>
                </a:gridCol>
              </a:tblGrid>
              <a:tr h="274320">
                <a:tc>
                  <a:txBody>
                    <a:bodyPr/>
                    <a:lstStyle/>
                    <a:p>
                      <a:r>
                        <a:rPr sz="1150" b="1">
                          <a:solidFill>
                            <a:srgbClr val="FFFFFF"/>
                          </a:solidFill>
                          <a:latin typeface="Calibri"/>
                        </a:rPr>
                        <a:t>Characteristic</a:t>
                      </a:r>
                    </a:p>
                  </a:txBody>
                  <a:tcPr marL="54864" marR="54864" marT="18288" marB="18288">
                    <a:solidFill>
                      <a:srgbClr val="7A1F2B"/>
                    </a:solidFill>
                  </a:tcPr>
                </a:tc>
                <a:tc>
                  <a:txBody>
                    <a:bodyPr/>
                    <a:lstStyle/>
                    <a:p>
                      <a:r>
                        <a:rPr sz="1150" b="1">
                          <a:solidFill>
                            <a:srgbClr val="FFFFFF"/>
                          </a:solidFill>
                          <a:latin typeface="Calibri"/>
                        </a:rPr>
                        <a:t>Sub-characteristic</a:t>
                      </a:r>
                    </a:p>
                  </a:txBody>
                  <a:tcPr marL="54864" marR="54864" marT="18288" marB="18288">
                    <a:solidFill>
                      <a:srgbClr val="7A1F2B"/>
                    </a:solidFill>
                  </a:tcPr>
                </a:tc>
                <a:tc>
                  <a:txBody>
                    <a:bodyPr/>
                    <a:lstStyle/>
                    <a:p>
                      <a:r>
                        <a:rPr sz="1150" b="1">
                          <a:solidFill>
                            <a:srgbClr val="FFFFFF"/>
                          </a:solidFill>
                          <a:latin typeface="Calibri"/>
                        </a:rPr>
                        <a:t>Status</a:t>
                      </a:r>
                    </a:p>
                  </a:txBody>
                  <a:tcPr marL="54864" marR="54864" marT="18288" marB="18288">
                    <a:solidFill>
                      <a:srgbClr val="7A1F2B"/>
                    </a:solidFill>
                  </a:tcPr>
                </a:tc>
                <a:tc>
                  <a:txBody>
                    <a:bodyPr/>
                    <a:lstStyle/>
                    <a:p>
                      <a:r>
                        <a:rPr sz="1150" b="1">
                          <a:solidFill>
                            <a:srgbClr val="FFFFFF"/>
                          </a:solidFill>
                          <a:latin typeface="Calibri"/>
                        </a:rPr>
                        <a:t>Justification</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150" b="0">
                          <a:solidFill>
                            <a:srgbClr val="1F2328"/>
                          </a:solidFill>
                          <a:latin typeface="Calibri"/>
                        </a:rPr>
                        <a:t>Performance efficiency</a:t>
                      </a:r>
                    </a:p>
                  </a:txBody>
                  <a:tcPr marL="54864" marR="54864" marT="18288" marB="18288">
                    <a:solidFill>
                      <a:srgbClr val="FFFFFF"/>
                    </a:solidFill>
                  </a:tcPr>
                </a:tc>
                <a:tc>
                  <a:txBody>
                    <a:bodyPr/>
                    <a:lstStyle/>
                    <a:p>
                      <a:r>
                        <a:rPr sz="1150" b="0">
                          <a:solidFill>
                            <a:srgbClr val="1F2328"/>
                          </a:solidFill>
                          <a:latin typeface="Calibri"/>
                        </a:rPr>
                        <a:t>Capacity</a:t>
                      </a:r>
                    </a:p>
                  </a:txBody>
                  <a:tcPr marL="54864" marR="54864" marT="18288" marB="18288">
                    <a:solidFill>
                      <a:srgbClr val="FFFFFF"/>
                    </a:solidFill>
                  </a:tcPr>
                </a:tc>
                <a:tc>
                  <a:txBody>
                    <a:bodyPr/>
                    <a:lstStyle/>
                    <a:p>
                      <a:r>
                        <a:rPr sz="1150" b="0">
                          <a:solidFill>
                            <a:srgbClr val="1F2328"/>
                          </a:solidFill>
                          <a:latin typeface="Calibri"/>
                        </a:rPr>
                        <a:t>Not applicable</a:t>
                      </a:r>
                    </a:p>
                  </a:txBody>
                  <a:tcPr marL="54864" marR="54864" marT="18288" marB="18288">
                    <a:solidFill>
                      <a:srgbClr val="FFFFFF"/>
                    </a:solidFill>
                  </a:tcPr>
                </a:tc>
                <a:tc>
                  <a:txBody>
                    <a:bodyPr/>
                    <a:lstStyle/>
                    <a:p>
                      <a:r>
                        <a:rPr sz="1150" b="0">
                          <a:solidFill>
                            <a:srgbClr val="1F2328"/>
                          </a:solidFill>
                          <a:latin typeface="Calibri"/>
                        </a:rPr>
                        <a:t>Static site served by Vercel's CDN; no own server or concurrent users to limit.</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150" b="0">
                          <a:solidFill>
                            <a:srgbClr val="1F2328"/>
                          </a:solidFill>
                          <a:latin typeface="Calibri"/>
                        </a:rPr>
                        <a:t>Compatibility</a:t>
                      </a:r>
                    </a:p>
                  </a:txBody>
                  <a:tcPr marL="54864" marR="54864" marT="18288" marB="18288">
                    <a:solidFill>
                      <a:srgbClr val="F6F4F2"/>
                    </a:solidFill>
                  </a:tcPr>
                </a:tc>
                <a:tc>
                  <a:txBody>
                    <a:bodyPr/>
                    <a:lstStyle/>
                    <a:p>
                      <a:r>
                        <a:rPr sz="1150" b="0">
                          <a:solidFill>
                            <a:srgbClr val="1F2328"/>
                          </a:solidFill>
                          <a:latin typeface="Calibri"/>
                        </a:rPr>
                        <a:t>Co-existence</a:t>
                      </a:r>
                    </a:p>
                  </a:txBody>
                  <a:tcPr marL="54864" marR="54864" marT="18288" marB="18288">
                    <a:solidFill>
                      <a:srgbClr val="F6F4F2"/>
                    </a:solidFill>
                  </a:tcPr>
                </a:tc>
                <a:tc>
                  <a:txBody>
                    <a:bodyPr/>
                    <a:lstStyle/>
                    <a:p>
                      <a:r>
                        <a:rPr sz="1150" b="0">
                          <a:solidFill>
                            <a:srgbClr val="1F2328"/>
                          </a:solidFill>
                          <a:latin typeface="Calibri"/>
                        </a:rPr>
                        <a:t>Not applicable</a:t>
                      </a:r>
                    </a:p>
                  </a:txBody>
                  <a:tcPr marL="54864" marR="54864" marT="18288" marB="18288">
                    <a:solidFill>
                      <a:srgbClr val="F6F4F2"/>
                    </a:solidFill>
                  </a:tcPr>
                </a:tc>
                <a:tc>
                  <a:txBody>
                    <a:bodyPr/>
                    <a:lstStyle/>
                    <a:p>
                      <a:r>
                        <a:rPr sz="1150" b="0">
                          <a:solidFill>
                            <a:srgbClr val="1F2328"/>
                          </a:solidFill>
                          <a:latin typeface="Calibri"/>
                        </a:rPr>
                        <a:t>Runs in the browser without sharing resources with other installed products.</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150" b="0">
                          <a:solidFill>
                            <a:srgbClr val="1F2328"/>
                          </a:solidFill>
                          <a:latin typeface="Calibri"/>
                        </a:rPr>
                        <a:t>Interaction capability</a:t>
                      </a:r>
                    </a:p>
                  </a:txBody>
                  <a:tcPr marL="54864" marR="54864" marT="18288" marB="18288">
                    <a:solidFill>
                      <a:srgbClr val="FFFFFF"/>
                    </a:solidFill>
                  </a:tcPr>
                </a:tc>
                <a:tc>
                  <a:txBody>
                    <a:bodyPr/>
                    <a:lstStyle/>
                    <a:p>
                      <a:r>
                        <a:rPr sz="1150" b="0">
                          <a:solidFill>
                            <a:srgbClr val="1F2328"/>
                          </a:solidFill>
                          <a:latin typeface="Calibri"/>
                        </a:rPr>
                        <a:t>Appropriateness recognizability</a:t>
                      </a:r>
                    </a:p>
                  </a:txBody>
                  <a:tcPr marL="54864" marR="54864" marT="18288" marB="18288">
                    <a:solidFill>
                      <a:srgbClr val="FFFFFF"/>
                    </a:solidFill>
                  </a:tcPr>
                </a:tc>
                <a:tc>
                  <a:txBody>
                    <a:bodyPr/>
                    <a:lstStyle/>
                    <a:p>
                      <a:r>
                        <a:rPr sz="1150" b="0">
                          <a:solidFill>
                            <a:srgbClr val="1F2328"/>
                          </a:solidFill>
                          <a:latin typeface="Calibri"/>
                        </a:rPr>
                        <a:t>Not evaluated</a:t>
                      </a:r>
                    </a:p>
                  </a:txBody>
                  <a:tcPr marL="54864" marR="54864" marT="18288" marB="18288">
                    <a:solidFill>
                      <a:srgbClr val="FFFFFF"/>
                    </a:solidFill>
                  </a:tcPr>
                </a:tc>
                <a:tc>
                  <a:txBody>
                    <a:bodyPr/>
                    <a:lstStyle/>
                    <a:p>
                      <a:r>
                        <a:rPr sz="1150" b="0">
                          <a:solidFill>
                            <a:srgbClr val="1F2328"/>
                          </a:solidFill>
                          <a:latin typeface="Calibri"/>
                        </a:rPr>
                        <a:t>Requires tests with real CDC users; left for a user-testing iteration.</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150" b="0">
                          <a:solidFill>
                            <a:srgbClr val="1F2328"/>
                          </a:solidFill>
                          <a:latin typeface="Calibri"/>
                        </a:rPr>
                        <a:t>Interaction capability</a:t>
                      </a:r>
                    </a:p>
                  </a:txBody>
                  <a:tcPr marL="54864" marR="54864" marT="18288" marB="18288">
                    <a:solidFill>
                      <a:srgbClr val="F6F4F2"/>
                    </a:solidFill>
                  </a:tcPr>
                </a:tc>
                <a:tc>
                  <a:txBody>
                    <a:bodyPr/>
                    <a:lstStyle/>
                    <a:p>
                      <a:r>
                        <a:rPr sz="1150" b="0">
                          <a:solidFill>
                            <a:srgbClr val="1F2328"/>
                          </a:solidFill>
                          <a:latin typeface="Calibri"/>
                        </a:rPr>
                        <a:t>Learnability</a:t>
                      </a:r>
                    </a:p>
                  </a:txBody>
                  <a:tcPr marL="54864" marR="54864" marT="18288" marB="18288">
                    <a:solidFill>
                      <a:srgbClr val="F6F4F2"/>
                    </a:solidFill>
                  </a:tcPr>
                </a:tc>
                <a:tc>
                  <a:txBody>
                    <a:bodyPr/>
                    <a:lstStyle/>
                    <a:p>
                      <a:r>
                        <a:rPr sz="1150" b="0">
                          <a:solidFill>
                            <a:srgbClr val="1F2328"/>
                          </a:solidFill>
                          <a:latin typeface="Calibri"/>
                        </a:rPr>
                        <a:t>Not evaluated</a:t>
                      </a:r>
                    </a:p>
                  </a:txBody>
                  <a:tcPr marL="54864" marR="54864" marT="18288" marB="18288">
                    <a:solidFill>
                      <a:srgbClr val="F6F4F2"/>
                    </a:solidFill>
                  </a:tcPr>
                </a:tc>
                <a:tc>
                  <a:txBody>
                    <a:bodyPr/>
                    <a:lstStyle/>
                    <a:p>
                      <a:r>
                        <a:rPr sz="1150" b="0">
                          <a:solidFill>
                            <a:srgbClr val="1F2328"/>
                          </a:solidFill>
                          <a:latin typeface="Calibri"/>
                        </a:rPr>
                        <a:t>Requires user testing; outside the scope of this automated evaluation.</a:t>
                      </a:r>
                    </a:p>
                  </a:txBody>
                  <a:tcPr marL="54864" marR="54864" marT="18288" marB="18288">
                    <a:solidFill>
                      <a:srgbClr val="F6F4F2"/>
                    </a:solidFill>
                  </a:tcPr>
                </a:tc>
                <a:extLst>
                  <a:ext uri="{0D108BD9-81ED-4DB2-BD59-A6C34878D82A}">
                    <a16:rowId xmlns:a16="http://schemas.microsoft.com/office/drawing/2014/main" val="10004"/>
                  </a:ext>
                </a:extLst>
              </a:tr>
              <a:tr h="274320">
                <a:tc>
                  <a:txBody>
                    <a:bodyPr/>
                    <a:lstStyle/>
                    <a:p>
                      <a:r>
                        <a:rPr sz="1150" b="0">
                          <a:solidFill>
                            <a:srgbClr val="1F2328"/>
                          </a:solidFill>
                          <a:latin typeface="Calibri"/>
                        </a:rPr>
                        <a:t>Security</a:t>
                      </a:r>
                    </a:p>
                  </a:txBody>
                  <a:tcPr marL="54864" marR="54864" marT="18288" marB="18288">
                    <a:solidFill>
                      <a:srgbClr val="FFFFFF"/>
                    </a:solidFill>
                  </a:tcPr>
                </a:tc>
                <a:tc>
                  <a:txBody>
                    <a:bodyPr/>
                    <a:lstStyle/>
                    <a:p>
                      <a:r>
                        <a:rPr sz="1150" b="0">
                          <a:solidFill>
                            <a:srgbClr val="1F2328"/>
                          </a:solidFill>
                          <a:latin typeface="Calibri"/>
                        </a:rPr>
                        <a:t>Non-repudiation</a:t>
                      </a:r>
                    </a:p>
                  </a:txBody>
                  <a:tcPr marL="54864" marR="54864" marT="18288" marB="18288">
                    <a:solidFill>
                      <a:srgbClr val="FFFFFF"/>
                    </a:solidFill>
                  </a:tcPr>
                </a:tc>
                <a:tc>
                  <a:txBody>
                    <a:bodyPr/>
                    <a:lstStyle/>
                    <a:p>
                      <a:r>
                        <a:rPr sz="1150" b="0">
                          <a:solidFill>
                            <a:srgbClr val="1F2328"/>
                          </a:solidFill>
                          <a:latin typeface="Calibri"/>
                        </a:rPr>
                        <a:t>Not applicable</a:t>
                      </a:r>
                    </a:p>
                  </a:txBody>
                  <a:tcPr marL="54864" marR="54864" marT="18288" marB="18288">
                    <a:solidFill>
                      <a:srgbClr val="FFFFFF"/>
                    </a:solidFill>
                  </a:tcPr>
                </a:tc>
                <a:tc>
                  <a:txBody>
                    <a:bodyPr/>
                    <a:lstStyle/>
                    <a:p>
                      <a:r>
                        <a:rPr sz="1150" b="0">
                          <a:solidFill>
                            <a:srgbClr val="1F2328"/>
                          </a:solidFill>
                          <a:latin typeface="Calibri"/>
                        </a:rPr>
                        <a:t>Read-only system: there are no transactions or user actions to attribute.</a:t>
                      </a:r>
                    </a:p>
                  </a:txBody>
                  <a:tcPr marL="54864" marR="54864" marT="18288" marB="18288">
                    <a:solidFill>
                      <a:srgbClr val="FFFFFF"/>
                    </a:solidFill>
                  </a:tcPr>
                </a:tc>
                <a:extLst>
                  <a:ext uri="{0D108BD9-81ED-4DB2-BD59-A6C34878D82A}">
                    <a16:rowId xmlns:a16="http://schemas.microsoft.com/office/drawing/2014/main" val="10005"/>
                  </a:ext>
                </a:extLst>
              </a:tr>
              <a:tr h="274320">
                <a:tc>
                  <a:txBody>
                    <a:bodyPr/>
                    <a:lstStyle/>
                    <a:p>
                      <a:r>
                        <a:rPr sz="1150" b="0">
                          <a:solidFill>
                            <a:srgbClr val="1F2328"/>
                          </a:solidFill>
                          <a:latin typeface="Calibri"/>
                        </a:rPr>
                        <a:t>Security</a:t>
                      </a:r>
                    </a:p>
                  </a:txBody>
                  <a:tcPr marL="54864" marR="54864" marT="18288" marB="18288">
                    <a:solidFill>
                      <a:srgbClr val="F6F4F2"/>
                    </a:solidFill>
                  </a:tcPr>
                </a:tc>
                <a:tc>
                  <a:txBody>
                    <a:bodyPr/>
                    <a:lstStyle/>
                    <a:p>
                      <a:r>
                        <a:rPr sz="1150" b="0">
                          <a:solidFill>
                            <a:srgbClr val="1F2328"/>
                          </a:solidFill>
                          <a:latin typeface="Calibri"/>
                        </a:rPr>
                        <a:t>Accountability</a:t>
                      </a:r>
                    </a:p>
                  </a:txBody>
                  <a:tcPr marL="54864" marR="54864" marT="18288" marB="18288">
                    <a:solidFill>
                      <a:srgbClr val="F6F4F2"/>
                    </a:solidFill>
                  </a:tcPr>
                </a:tc>
                <a:tc>
                  <a:txBody>
                    <a:bodyPr/>
                    <a:lstStyle/>
                    <a:p>
                      <a:r>
                        <a:rPr sz="1150" b="0">
                          <a:solidFill>
                            <a:srgbClr val="1F2328"/>
                          </a:solidFill>
                          <a:latin typeface="Calibri"/>
                        </a:rPr>
                        <a:t>Not applicable</a:t>
                      </a:r>
                    </a:p>
                  </a:txBody>
                  <a:tcPr marL="54864" marR="54864" marT="18288" marB="18288">
                    <a:solidFill>
                      <a:srgbClr val="F6F4F2"/>
                    </a:solidFill>
                  </a:tcPr>
                </a:tc>
                <a:tc>
                  <a:txBody>
                    <a:bodyPr/>
                    <a:lstStyle/>
                    <a:p>
                      <a:r>
                        <a:rPr sz="1150" b="0">
                          <a:solidFill>
                            <a:srgbClr val="1F2328"/>
                          </a:solidFill>
                          <a:latin typeface="Calibri"/>
                        </a:rPr>
                        <a:t>There are no user accounts or operations to log.</a:t>
                      </a:r>
                    </a:p>
                  </a:txBody>
                  <a:tcPr marL="54864" marR="54864" marT="18288" marB="18288">
                    <a:solidFill>
                      <a:srgbClr val="F6F4F2"/>
                    </a:solidFill>
                  </a:tcPr>
                </a:tc>
                <a:extLst>
                  <a:ext uri="{0D108BD9-81ED-4DB2-BD59-A6C34878D82A}">
                    <a16:rowId xmlns:a16="http://schemas.microsoft.com/office/drawing/2014/main" val="10006"/>
                  </a:ext>
                </a:extLst>
              </a:tr>
              <a:tr h="274320">
                <a:tc>
                  <a:txBody>
                    <a:bodyPr/>
                    <a:lstStyle/>
                    <a:p>
                      <a:r>
                        <a:rPr sz="1150" b="0">
                          <a:solidFill>
                            <a:srgbClr val="1F2328"/>
                          </a:solidFill>
                          <a:latin typeface="Calibri"/>
                        </a:rPr>
                        <a:t>Security</a:t>
                      </a:r>
                    </a:p>
                  </a:txBody>
                  <a:tcPr marL="54864" marR="54864" marT="18288" marB="18288">
                    <a:solidFill>
                      <a:srgbClr val="FFFFFF"/>
                    </a:solidFill>
                  </a:tcPr>
                </a:tc>
                <a:tc>
                  <a:txBody>
                    <a:bodyPr/>
                    <a:lstStyle/>
                    <a:p>
                      <a:r>
                        <a:rPr sz="1150" b="0">
                          <a:solidFill>
                            <a:srgbClr val="1F2328"/>
                          </a:solidFill>
                          <a:latin typeface="Calibri"/>
                        </a:rPr>
                        <a:t>Authenticity</a:t>
                      </a:r>
                    </a:p>
                  </a:txBody>
                  <a:tcPr marL="54864" marR="54864" marT="18288" marB="18288">
                    <a:solidFill>
                      <a:srgbClr val="FFFFFF"/>
                    </a:solidFill>
                  </a:tcPr>
                </a:tc>
                <a:tc>
                  <a:txBody>
                    <a:bodyPr/>
                    <a:lstStyle/>
                    <a:p>
                      <a:r>
                        <a:rPr sz="1150" b="0">
                          <a:solidFill>
                            <a:srgbClr val="1F2328"/>
                          </a:solidFill>
                          <a:latin typeface="Calibri"/>
                        </a:rPr>
                        <a:t>Not applicable</a:t>
                      </a:r>
                    </a:p>
                  </a:txBody>
                  <a:tcPr marL="54864" marR="54864" marT="18288" marB="18288">
                    <a:solidFill>
                      <a:srgbClr val="FFFFFF"/>
                    </a:solidFill>
                  </a:tcPr>
                </a:tc>
                <a:tc>
                  <a:txBody>
                    <a:bodyPr/>
                    <a:lstStyle/>
                    <a:p>
                      <a:r>
                        <a:rPr sz="1150" b="0">
                          <a:solidFill>
                            <a:srgbClr val="1F2328"/>
                          </a:solidFill>
                          <a:latin typeface="Calibri"/>
                        </a:rPr>
                        <a:t>Public information without sign-in.</a:t>
                      </a:r>
                    </a:p>
                  </a:txBody>
                  <a:tcPr marL="54864" marR="54864" marT="18288" marB="18288">
                    <a:solidFill>
                      <a:srgbClr val="FFFFFF"/>
                    </a:solidFill>
                  </a:tcPr>
                </a:tc>
                <a:extLst>
                  <a:ext uri="{0D108BD9-81ED-4DB2-BD59-A6C34878D82A}">
                    <a16:rowId xmlns:a16="http://schemas.microsoft.com/office/drawing/2014/main" val="10007"/>
                  </a:ext>
                </a:extLst>
              </a:tr>
              <a:tr h="274320">
                <a:tc>
                  <a:txBody>
                    <a:bodyPr/>
                    <a:lstStyle/>
                    <a:p>
                      <a:r>
                        <a:rPr sz="1150" b="0">
                          <a:solidFill>
                            <a:srgbClr val="1F2328"/>
                          </a:solidFill>
                          <a:latin typeface="Calibri"/>
                        </a:rPr>
                        <a:t>Maintainability</a:t>
                      </a:r>
                    </a:p>
                  </a:txBody>
                  <a:tcPr marL="54864" marR="54864" marT="18288" marB="18288">
                    <a:solidFill>
                      <a:srgbClr val="F6F4F2"/>
                    </a:solidFill>
                  </a:tcPr>
                </a:tc>
                <a:tc>
                  <a:txBody>
                    <a:bodyPr/>
                    <a:lstStyle/>
                    <a:p>
                      <a:r>
                        <a:rPr sz="1150" b="0">
                          <a:solidFill>
                            <a:srgbClr val="1F2328"/>
                          </a:solidFill>
                          <a:latin typeface="Calibri"/>
                        </a:rPr>
                        <a:t>Modularity</a:t>
                      </a:r>
                    </a:p>
                  </a:txBody>
                  <a:tcPr marL="54864" marR="54864" marT="18288" marB="18288">
                    <a:solidFill>
                      <a:srgbClr val="F6F4F2"/>
                    </a:solidFill>
                  </a:tcPr>
                </a:tc>
                <a:tc>
                  <a:txBody>
                    <a:bodyPr/>
                    <a:lstStyle/>
                    <a:p>
                      <a:r>
                        <a:rPr sz="1150" b="0">
                          <a:solidFill>
                            <a:srgbClr val="1F2328"/>
                          </a:solidFill>
                          <a:latin typeface="Calibri"/>
                        </a:rPr>
                        <a:t>Not evaluated</a:t>
                      </a:r>
                    </a:p>
                  </a:txBody>
                  <a:tcPr marL="54864" marR="54864" marT="18288" marB="18288">
                    <a:solidFill>
                      <a:srgbClr val="F6F4F2"/>
                    </a:solidFill>
                  </a:tcPr>
                </a:tc>
                <a:tc>
                  <a:txBody>
                    <a:bodyPr/>
                    <a:lstStyle/>
                    <a:p>
                      <a:r>
                        <a:rPr sz="1150" b="0">
                          <a:solidFill>
                            <a:srgbClr val="1F2328"/>
                          </a:solidFill>
                          <a:latin typeface="Calibri"/>
                        </a:rPr>
                        <a:t>Observed indirectly through MA-01 and MA-02; it has no metric of its own.</a:t>
                      </a:r>
                    </a:p>
                  </a:txBody>
                  <a:tcPr marL="54864" marR="54864" marT="18288" marB="18288">
                    <a:solidFill>
                      <a:srgbClr val="F6F4F2"/>
                    </a:solidFill>
                  </a:tcPr>
                </a:tc>
                <a:extLst>
                  <a:ext uri="{0D108BD9-81ED-4DB2-BD59-A6C34878D82A}">
                    <a16:rowId xmlns:a16="http://schemas.microsoft.com/office/drawing/2014/main" val="10008"/>
                  </a:ext>
                </a:extLst>
              </a:tr>
              <a:tr h="274320">
                <a:tc>
                  <a:txBody>
                    <a:bodyPr/>
                    <a:lstStyle/>
                    <a:p>
                      <a:r>
                        <a:rPr sz="1150" b="0">
                          <a:solidFill>
                            <a:srgbClr val="1F2328"/>
                          </a:solidFill>
                          <a:latin typeface="Calibri"/>
                        </a:rPr>
                        <a:t>Maintainability</a:t>
                      </a:r>
                    </a:p>
                  </a:txBody>
                  <a:tcPr marL="54864" marR="54864" marT="18288" marB="18288">
                    <a:solidFill>
                      <a:srgbClr val="FFFFFF"/>
                    </a:solidFill>
                  </a:tcPr>
                </a:tc>
                <a:tc>
                  <a:txBody>
                    <a:bodyPr/>
                    <a:lstStyle/>
                    <a:p>
                      <a:r>
                        <a:rPr sz="1150" b="0">
                          <a:solidFill>
                            <a:srgbClr val="1F2328"/>
                          </a:solidFill>
                          <a:latin typeface="Calibri"/>
                        </a:rPr>
                        <a:t>Reusability</a:t>
                      </a:r>
                    </a:p>
                  </a:txBody>
                  <a:tcPr marL="54864" marR="54864" marT="18288" marB="18288">
                    <a:solidFill>
                      <a:srgbClr val="FFFFFF"/>
                    </a:solidFill>
                  </a:tcPr>
                </a:tc>
                <a:tc>
                  <a:txBody>
                    <a:bodyPr/>
                    <a:lstStyle/>
                    <a:p>
                      <a:r>
                        <a:rPr sz="1150" b="0">
                          <a:solidFill>
                            <a:srgbClr val="1F2328"/>
                          </a:solidFill>
                          <a:latin typeface="Calibri"/>
                        </a:rPr>
                        <a:t>Not evaluated</a:t>
                      </a:r>
                    </a:p>
                  </a:txBody>
                  <a:tcPr marL="54864" marR="54864" marT="18288" marB="18288">
                    <a:solidFill>
                      <a:srgbClr val="FFFFFF"/>
                    </a:solidFill>
                  </a:tcPr>
                </a:tc>
                <a:tc>
                  <a:txBody>
                    <a:bodyPr/>
                    <a:lstStyle/>
                    <a:p>
                      <a:r>
                        <a:rPr sz="1150" b="0">
                          <a:solidFill>
                            <a:srgbClr val="1F2328"/>
                          </a:solidFill>
                          <a:latin typeface="Calibri"/>
                        </a:rPr>
                        <a:t>Not a project goal at this stage.</a:t>
                      </a:r>
                    </a:p>
                  </a:txBody>
                  <a:tcPr marL="54864" marR="54864" marT="18288" marB="18288">
                    <a:solidFill>
                      <a:srgbClr val="FFFFFF"/>
                    </a:solidFill>
                  </a:tcPr>
                </a:tc>
                <a:extLst>
                  <a:ext uri="{0D108BD9-81ED-4DB2-BD59-A6C34878D82A}">
                    <a16:rowId xmlns:a16="http://schemas.microsoft.com/office/drawing/2014/main" val="10009"/>
                  </a:ext>
                </a:extLst>
              </a:tr>
              <a:tr h="274320">
                <a:tc>
                  <a:txBody>
                    <a:bodyPr/>
                    <a:lstStyle/>
                    <a:p>
                      <a:r>
                        <a:rPr sz="1150" b="0">
                          <a:solidFill>
                            <a:srgbClr val="1F2328"/>
                          </a:solidFill>
                          <a:latin typeface="Calibri"/>
                        </a:rPr>
                        <a:t>Flexibility</a:t>
                      </a:r>
                    </a:p>
                  </a:txBody>
                  <a:tcPr marL="54864" marR="54864" marT="18288" marB="18288">
                    <a:solidFill>
                      <a:srgbClr val="F6F4F2"/>
                    </a:solidFill>
                  </a:tcPr>
                </a:tc>
                <a:tc>
                  <a:txBody>
                    <a:bodyPr/>
                    <a:lstStyle/>
                    <a:p>
                      <a:r>
                        <a:rPr sz="1150" b="0">
                          <a:solidFill>
                            <a:srgbClr val="1F2328"/>
                          </a:solidFill>
                          <a:latin typeface="Calibri"/>
                        </a:rPr>
                        <a:t>Scalability</a:t>
                      </a:r>
                    </a:p>
                  </a:txBody>
                  <a:tcPr marL="54864" marR="54864" marT="18288" marB="18288">
                    <a:solidFill>
                      <a:srgbClr val="F6F4F2"/>
                    </a:solidFill>
                  </a:tcPr>
                </a:tc>
                <a:tc>
                  <a:txBody>
                    <a:bodyPr/>
                    <a:lstStyle/>
                    <a:p>
                      <a:r>
                        <a:rPr sz="1150" b="0">
                          <a:solidFill>
                            <a:srgbClr val="1F2328"/>
                          </a:solidFill>
                          <a:latin typeface="Calibri"/>
                        </a:rPr>
                        <a:t>Not applicable</a:t>
                      </a:r>
                    </a:p>
                  </a:txBody>
                  <a:tcPr marL="54864" marR="54864" marT="18288" marB="18288">
                    <a:solidFill>
                      <a:srgbClr val="F6F4F2"/>
                    </a:solidFill>
                  </a:tcPr>
                </a:tc>
                <a:tc>
                  <a:txBody>
                    <a:bodyPr/>
                    <a:lstStyle/>
                    <a:p>
                      <a:r>
                        <a:rPr sz="1150" b="0">
                          <a:solidFill>
                            <a:srgbClr val="1F2328"/>
                          </a:solidFill>
                          <a:latin typeface="Calibri"/>
                        </a:rPr>
                        <a:t>Published data volume is fixed per version and hosting scales automatically.</a:t>
                      </a:r>
                    </a:p>
                  </a:txBody>
                  <a:tcPr marL="54864" marR="54864" marT="18288" marB="18288">
                    <a:solidFill>
                      <a:srgbClr val="F6F4F2"/>
                    </a:solidFill>
                  </a:tcPr>
                </a:tc>
                <a:extLst>
                  <a:ext uri="{0D108BD9-81ED-4DB2-BD59-A6C34878D82A}">
                    <a16:rowId xmlns:a16="http://schemas.microsoft.com/office/drawing/2014/main" val="10010"/>
                  </a:ext>
                </a:extLst>
              </a:tr>
              <a:tr h="274320">
                <a:tc>
                  <a:txBody>
                    <a:bodyPr/>
                    <a:lstStyle/>
                    <a:p>
                      <a:r>
                        <a:rPr sz="1150" b="0">
                          <a:solidFill>
                            <a:srgbClr val="1F2328"/>
                          </a:solidFill>
                          <a:latin typeface="Calibri"/>
                        </a:rPr>
                        <a:t>Flexibility</a:t>
                      </a:r>
                    </a:p>
                  </a:txBody>
                  <a:tcPr marL="54864" marR="54864" marT="18288" marB="18288">
                    <a:solidFill>
                      <a:srgbClr val="FFFFFF"/>
                    </a:solidFill>
                  </a:tcPr>
                </a:tc>
                <a:tc>
                  <a:txBody>
                    <a:bodyPr/>
                    <a:lstStyle/>
                    <a:p>
                      <a:r>
                        <a:rPr sz="1150" b="0">
                          <a:solidFill>
                            <a:srgbClr val="1F2328"/>
                          </a:solidFill>
                          <a:latin typeface="Calibri"/>
                        </a:rPr>
                        <a:t>Installability</a:t>
                      </a:r>
                    </a:p>
                  </a:txBody>
                  <a:tcPr marL="54864" marR="54864" marT="18288" marB="18288">
                    <a:solidFill>
                      <a:srgbClr val="FFFFFF"/>
                    </a:solidFill>
                  </a:tcPr>
                </a:tc>
                <a:tc>
                  <a:txBody>
                    <a:bodyPr/>
                    <a:lstStyle/>
                    <a:p>
                      <a:r>
                        <a:rPr sz="1150" b="0">
                          <a:solidFill>
                            <a:srgbClr val="1F2328"/>
                          </a:solidFill>
                          <a:latin typeface="Calibri"/>
                        </a:rPr>
                        <a:t>Not applicable</a:t>
                      </a:r>
                    </a:p>
                  </a:txBody>
                  <a:tcPr marL="54864" marR="54864" marT="18288" marB="18288">
                    <a:solidFill>
                      <a:srgbClr val="FFFFFF"/>
                    </a:solidFill>
                  </a:tcPr>
                </a:tc>
                <a:tc>
                  <a:txBody>
                    <a:bodyPr/>
                    <a:lstStyle/>
                    <a:p>
                      <a:r>
                        <a:rPr sz="1150" b="0">
                          <a:solidFill>
                            <a:srgbClr val="1F2328"/>
                          </a:solidFill>
                          <a:latin typeface="Calibri"/>
                        </a:rPr>
                        <a:t>Web application: nothing is installed.</a:t>
                      </a:r>
                    </a:p>
                  </a:txBody>
                  <a:tcPr marL="54864" marR="54864" marT="18288" marB="18288">
                    <a:solidFill>
                      <a:srgbClr val="FFFFFF"/>
                    </a:solidFill>
                  </a:tcPr>
                </a:tc>
                <a:extLst>
                  <a:ext uri="{0D108BD9-81ED-4DB2-BD59-A6C34878D82A}">
                    <a16:rowId xmlns:a16="http://schemas.microsoft.com/office/drawing/2014/main" val="10011"/>
                  </a:ext>
                </a:extLst>
              </a:tr>
              <a:tr h="274320">
                <a:tc>
                  <a:txBody>
                    <a:bodyPr/>
                    <a:lstStyle/>
                    <a:p>
                      <a:r>
                        <a:rPr sz="1150" b="0">
                          <a:solidFill>
                            <a:srgbClr val="1F2328"/>
                          </a:solidFill>
                          <a:latin typeface="Calibri"/>
                        </a:rPr>
                        <a:t>Flexibility</a:t>
                      </a:r>
                    </a:p>
                  </a:txBody>
                  <a:tcPr marL="54864" marR="54864" marT="18288" marB="18288">
                    <a:solidFill>
                      <a:srgbClr val="F6F4F2"/>
                    </a:solidFill>
                  </a:tcPr>
                </a:tc>
                <a:tc>
                  <a:txBody>
                    <a:bodyPr/>
                    <a:lstStyle/>
                    <a:p>
                      <a:r>
                        <a:rPr sz="1150" b="0">
                          <a:solidFill>
                            <a:srgbClr val="1F2328"/>
                          </a:solidFill>
                          <a:latin typeface="Calibri"/>
                        </a:rPr>
                        <a:t>Replaceability</a:t>
                      </a:r>
                    </a:p>
                  </a:txBody>
                  <a:tcPr marL="54864" marR="54864" marT="18288" marB="18288">
                    <a:solidFill>
                      <a:srgbClr val="F6F4F2"/>
                    </a:solidFill>
                  </a:tcPr>
                </a:tc>
                <a:tc>
                  <a:txBody>
                    <a:bodyPr/>
                    <a:lstStyle/>
                    <a:p>
                      <a:r>
                        <a:rPr sz="1150" b="0">
                          <a:solidFill>
                            <a:srgbClr val="1F2328"/>
                          </a:solidFill>
                          <a:latin typeface="Calibri"/>
                        </a:rPr>
                        <a:t>Not applicable</a:t>
                      </a:r>
                    </a:p>
                  </a:txBody>
                  <a:tcPr marL="54864" marR="54864" marT="18288" marB="18288">
                    <a:solidFill>
                      <a:srgbClr val="F6F4F2"/>
                    </a:solidFill>
                  </a:tcPr>
                </a:tc>
                <a:tc>
                  <a:txBody>
                    <a:bodyPr/>
                    <a:lstStyle/>
                    <a:p>
                      <a:r>
                        <a:rPr sz="1150" b="0">
                          <a:solidFill>
                            <a:srgbClr val="1F2328"/>
                          </a:solidFill>
                          <a:latin typeface="Calibri"/>
                        </a:rPr>
                        <a:t>Does not replace another product at this stage.</a:t>
                      </a:r>
                    </a:p>
                  </a:txBody>
                  <a:tcPr marL="54864" marR="54864" marT="18288" marB="18288">
                    <a:solidFill>
                      <a:srgbClr val="F6F4F2"/>
                    </a:solidFill>
                  </a:tcPr>
                </a:tc>
                <a:extLst>
                  <a:ext uri="{0D108BD9-81ED-4DB2-BD59-A6C34878D82A}">
                    <a16:rowId xmlns:a16="http://schemas.microsoft.com/office/drawing/2014/main" val="10012"/>
                  </a:ext>
                </a:extLst>
              </a:tr>
              <a:tr h="274320">
                <a:tc>
                  <a:txBody>
                    <a:bodyPr/>
                    <a:lstStyle/>
                    <a:p>
                      <a:r>
                        <a:rPr sz="1150" b="0">
                          <a:solidFill>
                            <a:srgbClr val="1F2328"/>
                          </a:solidFill>
                          <a:latin typeface="Calibri"/>
                        </a:rPr>
                        <a:t>Safety</a:t>
                      </a:r>
                    </a:p>
                  </a:txBody>
                  <a:tcPr marL="54864" marR="54864" marT="18288" marB="18288">
                    <a:solidFill>
                      <a:srgbClr val="FFFFFF"/>
                    </a:solidFill>
                  </a:tcPr>
                </a:tc>
                <a:tc>
                  <a:txBody>
                    <a:bodyPr/>
                    <a:lstStyle/>
                    <a:p>
                      <a:r>
                        <a:rPr sz="1150" b="0">
                          <a:solidFill>
                            <a:srgbClr val="1F2328"/>
                          </a:solidFill>
                          <a:latin typeface="Calibri"/>
                        </a:rPr>
                        <a:t>Operational constraint</a:t>
                      </a:r>
                    </a:p>
                  </a:txBody>
                  <a:tcPr marL="54864" marR="54864" marT="18288" marB="18288">
                    <a:solidFill>
                      <a:srgbClr val="FFFFFF"/>
                    </a:solidFill>
                  </a:tcPr>
                </a:tc>
                <a:tc>
                  <a:txBody>
                    <a:bodyPr/>
                    <a:lstStyle/>
                    <a:p>
                      <a:r>
                        <a:rPr sz="1150" b="0">
                          <a:solidFill>
                            <a:srgbClr val="1F2328"/>
                          </a:solidFill>
                          <a:latin typeface="Calibri"/>
                        </a:rPr>
                        <a:t>Not applicable</a:t>
                      </a:r>
                    </a:p>
                  </a:txBody>
                  <a:tcPr marL="54864" marR="54864" marT="18288" marB="18288">
                    <a:solidFill>
                      <a:srgbClr val="FFFFFF"/>
                    </a:solidFill>
                  </a:tcPr>
                </a:tc>
                <a:tc>
                  <a:txBody>
                    <a:bodyPr/>
                    <a:lstStyle/>
                    <a:p>
                      <a:r>
                        <a:rPr sz="1150" b="0">
                          <a:solidFill>
                            <a:srgbClr val="1F2328"/>
                          </a:solidFill>
                          <a:latin typeface="Calibri"/>
                        </a:rPr>
                        <a:t>The system does not control equipment or physical processes.</a:t>
                      </a:r>
                    </a:p>
                  </a:txBody>
                  <a:tcPr marL="54864" marR="54864" marT="18288" marB="18288">
                    <a:solidFill>
                      <a:srgbClr val="FFFFFF"/>
                    </a:solidFill>
                  </a:tcPr>
                </a:tc>
                <a:extLst>
                  <a:ext uri="{0D108BD9-81ED-4DB2-BD59-A6C34878D82A}">
                    <a16:rowId xmlns:a16="http://schemas.microsoft.com/office/drawing/2014/main" val="10013"/>
                  </a:ext>
                </a:extLst>
              </a:tr>
              <a:tr h="274320">
                <a:tc>
                  <a:txBody>
                    <a:bodyPr/>
                    <a:lstStyle/>
                    <a:p>
                      <a:r>
                        <a:rPr sz="1150" b="0">
                          <a:solidFill>
                            <a:srgbClr val="1F2328"/>
                          </a:solidFill>
                          <a:latin typeface="Calibri"/>
                        </a:rPr>
                        <a:t>Safety</a:t>
                      </a:r>
                    </a:p>
                  </a:txBody>
                  <a:tcPr marL="54864" marR="54864" marT="18288" marB="18288">
                    <a:solidFill>
                      <a:srgbClr val="F6F4F2"/>
                    </a:solidFill>
                  </a:tcPr>
                </a:tc>
                <a:tc>
                  <a:txBody>
                    <a:bodyPr/>
                    <a:lstStyle/>
                    <a:p>
                      <a:r>
                        <a:rPr sz="1150" b="0">
                          <a:solidFill>
                            <a:srgbClr val="1F2328"/>
                          </a:solidFill>
                          <a:latin typeface="Calibri"/>
                        </a:rPr>
                        <a:t>Safe integration</a:t>
                      </a:r>
                    </a:p>
                  </a:txBody>
                  <a:tcPr marL="54864" marR="54864" marT="18288" marB="18288">
                    <a:solidFill>
                      <a:srgbClr val="F6F4F2"/>
                    </a:solidFill>
                  </a:tcPr>
                </a:tc>
                <a:tc>
                  <a:txBody>
                    <a:bodyPr/>
                    <a:lstStyle/>
                    <a:p>
                      <a:r>
                        <a:rPr sz="1150" b="0">
                          <a:solidFill>
                            <a:srgbClr val="1F2328"/>
                          </a:solidFill>
                          <a:latin typeface="Calibri"/>
                        </a:rPr>
                        <a:t>Not applicable</a:t>
                      </a:r>
                    </a:p>
                  </a:txBody>
                  <a:tcPr marL="54864" marR="54864" marT="18288" marB="18288">
                    <a:solidFill>
                      <a:srgbClr val="F6F4F2"/>
                    </a:solidFill>
                  </a:tcPr>
                </a:tc>
                <a:tc>
                  <a:txBody>
                    <a:bodyPr/>
                    <a:lstStyle/>
                    <a:p>
                      <a:r>
                        <a:rPr sz="1150" b="0">
                          <a:solidFill>
                            <a:srgbClr val="1F2328"/>
                          </a:solidFill>
                          <a:latin typeface="Calibri"/>
                        </a:rPr>
                        <a:t>It is not integrated with other systems in this version.</a:t>
                      </a:r>
                    </a:p>
                  </a:txBody>
                  <a:tcPr marL="54864" marR="54864" marT="18288" marB="18288">
                    <a:solidFill>
                      <a:srgbClr val="F6F4F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2 — Metrics defined with GQM</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25 metrics · X = A/B × 100 or measured value · thresholds fixed BEFORE run 01</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Daniel Chura</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9</a:t>
            </a:r>
          </a:p>
        </p:txBody>
      </p:sp>
      <p:sp>
        <p:nvSpPr>
          <p:cNvPr id="7" name="Rounded Rectangle 6"/>
          <p:cNvSpPr/>
          <p:nvPr/>
        </p:nvSpPr>
        <p:spPr>
          <a:xfrm>
            <a:off x="548640" y="1463040"/>
            <a:ext cx="5486400" cy="2194560"/>
          </a:xfrm>
          <a:prstGeom prst="roundRect">
            <a:avLst>
              <a:gd name="adj" fmla="val 6000"/>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572768"/>
            <a:ext cx="64008" cy="1975104"/>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54480"/>
            <a:ext cx="5212080" cy="457200"/>
          </a:xfrm>
          <a:prstGeom prst="rect">
            <a:avLst/>
          </a:prstGeom>
          <a:noFill/>
        </p:spPr>
        <p:txBody>
          <a:bodyPr wrap="square" lIns="45720" rIns="45720" anchor="t">
            <a:spAutoFit/>
          </a:bodyPr>
          <a:lstStyle/>
          <a:p>
            <a:pPr algn="l">
              <a:spcAft>
                <a:spcPts val="600"/>
              </a:spcAft>
            </a:pPr>
            <a:r>
              <a:rPr sz="1600" b="1">
                <a:solidFill>
                  <a:srgbClr val="7A1F2B"/>
                </a:solidFill>
                <a:latin typeface="Calibri"/>
              </a:rPr>
              <a:t>Goal → Question → Metric (example IF-02)</a:t>
            </a:r>
          </a:p>
        </p:txBody>
      </p:sp>
      <p:sp>
        <p:nvSpPr>
          <p:cNvPr id="10" name="TextBox 9"/>
          <p:cNvSpPr txBox="1"/>
          <p:nvPr/>
        </p:nvSpPr>
        <p:spPr>
          <a:xfrm>
            <a:off x="731520" y="1965960"/>
            <a:ext cx="5212080" cy="1645920"/>
          </a:xfrm>
          <a:prstGeom prst="rect">
            <a:avLst/>
          </a:prstGeom>
          <a:noFill/>
        </p:spPr>
        <p:txBody>
          <a:bodyPr wrap="square" lIns="45720" rIns="45720" anchor="t">
            <a:spAutoFit/>
          </a:bodyPr>
          <a:lstStyle/>
          <a:p>
            <a:pPr algn="l">
              <a:spcAft>
                <a:spcPts val="600"/>
              </a:spcAft>
            </a:pPr>
            <a:r>
              <a:rPr sz="1400" b="0">
                <a:solidFill>
                  <a:srgbClr val="1F2328"/>
                </a:solidFill>
                <a:latin typeface="Calibri"/>
              </a:rPr>
              <a:t>G: Ensure every figure shown matches the official CSV files.</a:t>
            </a:r>
          </a:p>
          <a:p>
            <a:pPr algn="l">
              <a:spcAft>
                <a:spcPts val="600"/>
              </a:spcAft>
            </a:pPr>
            <a:r>
              <a:rPr sz="1400" b="0">
                <a:solidFill>
                  <a:srgbClr val="1F2328"/>
                </a:solidFill>
                <a:latin typeface="Calibri"/>
              </a:rPr>
              <a:t>Q: What share of the figures shown equals the value recomputed from the raw data?</a:t>
            </a:r>
          </a:p>
          <a:p>
            <a:pPr algn="l">
              <a:spcAft>
                <a:spcPts val="600"/>
              </a:spcAft>
            </a:pPr>
            <a:r>
              <a:rPr sz="1400" b="0">
                <a:solidFill>
                  <a:srgbClr val="1F2328"/>
                </a:solidFill>
                <a:latin typeface="Calibri"/>
              </a:rPr>
              <a:t>M: X = A/B × 100 · A = matching values · B = compared values · threshold ≥ 100 %</a:t>
            </a:r>
          </a:p>
        </p:txBody>
      </p:sp>
      <p:sp>
        <p:nvSpPr>
          <p:cNvPr id="11" name="Rounded Rectangle 10"/>
          <p:cNvSpPr/>
          <p:nvPr/>
        </p:nvSpPr>
        <p:spPr>
          <a:xfrm>
            <a:off x="6172200" y="1463040"/>
            <a:ext cx="5486400" cy="2194560"/>
          </a:xfrm>
          <a:prstGeom prst="roundRect">
            <a:avLst>
              <a:gd name="adj" fmla="val 6000"/>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572768"/>
            <a:ext cx="64008" cy="1975104"/>
          </a:xfrm>
          <a:prstGeom prst="rect">
            <a:avLst/>
          </a:prstGeom>
          <a:solidFill>
            <a:srgbClr val="0C7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554480"/>
            <a:ext cx="5212080" cy="457200"/>
          </a:xfrm>
          <a:prstGeom prst="rect">
            <a:avLst/>
          </a:prstGeom>
          <a:noFill/>
        </p:spPr>
        <p:txBody>
          <a:bodyPr wrap="square" lIns="45720" rIns="45720" anchor="t">
            <a:spAutoFit/>
          </a:bodyPr>
          <a:lstStyle/>
          <a:p>
            <a:pPr algn="l">
              <a:spcAft>
                <a:spcPts val="600"/>
              </a:spcAft>
            </a:pPr>
            <a:r>
              <a:rPr sz="1600" b="1">
                <a:solidFill>
                  <a:srgbClr val="0C7A0C"/>
                </a:solidFill>
                <a:latin typeface="Calibri"/>
              </a:rPr>
              <a:t>Independent oracle</a:t>
            </a:r>
          </a:p>
        </p:txBody>
      </p:sp>
      <p:sp>
        <p:nvSpPr>
          <p:cNvPr id="14" name="TextBox 13"/>
          <p:cNvSpPr txBox="1"/>
          <p:nvPr/>
        </p:nvSpPr>
        <p:spPr>
          <a:xfrm>
            <a:off x="6355080" y="1965960"/>
            <a:ext cx="5212080" cy="1645920"/>
          </a:xfrm>
          <a:prstGeom prst="rect">
            <a:avLst/>
          </a:prstGeom>
          <a:noFill/>
        </p:spPr>
        <p:txBody>
          <a:bodyPr wrap="square" lIns="45720" rIns="45720" anchor="t">
            <a:spAutoFit/>
          </a:bodyPr>
          <a:lstStyle/>
          <a:p>
            <a:pPr algn="l">
              <a:spcAft>
                <a:spcPts val="600"/>
              </a:spcAft>
            </a:pPr>
            <a:r>
              <a:rPr sz="1400" b="0">
                <a:solidFill>
                  <a:srgbClr val="1F2328"/>
                </a:solidFill>
                <a:latin typeface="Calibri"/>
              </a:rPr>
              <a:t>evaluacion/oraculo.py recomputes 8 scenarios (year × department × species) straight from the CSV files with its own INEI map.</a:t>
            </a:r>
          </a:p>
          <a:p>
            <a:pPr algn="l">
              <a:spcAft>
                <a:spcPts val="600"/>
              </a:spcAft>
            </a:pPr>
            <a:r>
              <a:rPr sz="1400" b="0">
                <a:solidFill>
                  <a:srgbClr val="1F2328"/>
                </a:solidFill>
                <a:latin typeface="Calibri"/>
              </a:rPr>
              <a:t>Last run: 84 of 84 values identical.</a:t>
            </a:r>
          </a:p>
        </p:txBody>
      </p:sp>
      <p:graphicFrame>
        <p:nvGraphicFramePr>
          <p:cNvPr id="15" name="Table 14"/>
          <p:cNvGraphicFramePr>
            <a:graphicFrameLocks noGrp="1"/>
          </p:cNvGraphicFramePr>
          <p:nvPr/>
        </p:nvGraphicFramePr>
        <p:xfrm>
          <a:off x="548640" y="3931920"/>
          <a:ext cx="5486400" cy="1371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274320">
                <a:tc>
                  <a:txBody>
                    <a:bodyPr/>
                    <a:lstStyle/>
                    <a:p>
                      <a:r>
                        <a:rPr sz="1400" b="1">
                          <a:solidFill>
                            <a:srgbClr val="FFFFFF"/>
                          </a:solidFill>
                          <a:latin typeface="Calibri"/>
                        </a:rPr>
                        <a:t>Score range</a:t>
                      </a:r>
                    </a:p>
                  </a:txBody>
                  <a:tcPr marL="54864" marR="54864" marT="18288" marB="18288">
                    <a:solidFill>
                      <a:srgbClr val="7A1F2B"/>
                    </a:solidFill>
                  </a:tcPr>
                </a:tc>
                <a:tc>
                  <a:txBody>
                    <a:bodyPr/>
                    <a:lstStyle/>
                    <a:p>
                      <a:r>
                        <a:rPr sz="1400" b="1">
                          <a:solidFill>
                            <a:srgbClr val="FFFFFF"/>
                          </a:solidFill>
                          <a:latin typeface="Calibri"/>
                        </a:rPr>
                        <a:t>Category (Calabrese et al., CACIC 2017)</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400" b="0">
                          <a:solidFill>
                            <a:srgbClr val="1F2328"/>
                          </a:solidFill>
                          <a:latin typeface="Calibri"/>
                        </a:rPr>
                        <a:t>0 – 40</a:t>
                      </a:r>
                    </a:p>
                  </a:txBody>
                  <a:tcPr marL="54864" marR="54864" marT="18288" marB="18288">
                    <a:solidFill>
                      <a:srgbClr val="FFFFFF"/>
                    </a:solidFill>
                  </a:tcPr>
                </a:tc>
                <a:tc>
                  <a:txBody>
                    <a:bodyPr/>
                    <a:lstStyle/>
                    <a:p>
                      <a:r>
                        <a:rPr sz="1400" b="0">
                          <a:solidFill>
                            <a:srgbClr val="1F2328"/>
                          </a:solidFill>
                          <a:latin typeface="Calibri"/>
                        </a:rPr>
                        <a:t>Not acceptable</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400" b="0">
                          <a:solidFill>
                            <a:srgbClr val="1F2328"/>
                          </a:solidFill>
                          <a:latin typeface="Calibri"/>
                        </a:rPr>
                        <a:t>40 – 60</a:t>
                      </a:r>
                    </a:p>
                  </a:txBody>
                  <a:tcPr marL="54864" marR="54864" marT="18288" marB="18288">
                    <a:solidFill>
                      <a:srgbClr val="F6F4F2"/>
                    </a:solidFill>
                  </a:tcPr>
                </a:tc>
                <a:tc>
                  <a:txBody>
                    <a:bodyPr/>
                    <a:lstStyle/>
                    <a:p>
                      <a:r>
                        <a:rPr sz="1400" b="0">
                          <a:solidFill>
                            <a:srgbClr val="1F2328"/>
                          </a:solidFill>
                          <a:latin typeface="Calibri"/>
                        </a:rPr>
                        <a:t>Minimally acceptable</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400" b="0">
                          <a:solidFill>
                            <a:srgbClr val="1F2328"/>
                          </a:solidFill>
                          <a:latin typeface="Calibri"/>
                        </a:rPr>
                        <a:t>60 – 90</a:t>
                      </a:r>
                    </a:p>
                  </a:txBody>
                  <a:tcPr marL="54864" marR="54864" marT="18288" marB="18288">
                    <a:solidFill>
                      <a:srgbClr val="FFFFFF"/>
                    </a:solidFill>
                  </a:tcPr>
                </a:tc>
                <a:tc>
                  <a:txBody>
                    <a:bodyPr/>
                    <a:lstStyle/>
                    <a:p>
                      <a:r>
                        <a:rPr sz="1400" b="0">
                          <a:solidFill>
                            <a:srgbClr val="1F2328"/>
                          </a:solidFill>
                          <a:latin typeface="Calibri"/>
                        </a:rPr>
                        <a:t>Target range</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400" b="0">
                          <a:solidFill>
                            <a:srgbClr val="1F2328"/>
                          </a:solidFill>
                          <a:latin typeface="Calibri"/>
                        </a:rPr>
                        <a:t>90 – 100</a:t>
                      </a:r>
                    </a:p>
                  </a:txBody>
                  <a:tcPr marL="54864" marR="54864" marT="18288" marB="18288">
                    <a:solidFill>
                      <a:srgbClr val="F6F4F2"/>
                    </a:solidFill>
                  </a:tcPr>
                </a:tc>
                <a:tc>
                  <a:txBody>
                    <a:bodyPr/>
                    <a:lstStyle/>
                    <a:p>
                      <a:r>
                        <a:rPr sz="1400" b="0">
                          <a:solidFill>
                            <a:srgbClr val="1F2328"/>
                          </a:solidFill>
                          <a:latin typeface="Calibri"/>
                        </a:rPr>
                        <a:t>Exceeds requirements</a:t>
                      </a:r>
                    </a:p>
                  </a:txBody>
                  <a:tcPr marL="54864" marR="54864" marT="18288" marB="18288">
                    <a:solidFill>
                      <a:srgbClr val="F6F4F2"/>
                    </a:solidFill>
                  </a:tcPr>
                </a:tc>
                <a:extLst>
                  <a:ext uri="{0D108BD9-81ED-4DB2-BD59-A6C34878D82A}">
                    <a16:rowId xmlns:a16="http://schemas.microsoft.com/office/drawing/2014/main" val="10004"/>
                  </a:ext>
                </a:extLst>
              </a:tr>
            </a:tbl>
          </a:graphicData>
        </a:graphic>
      </p:graphicFrame>
      <p:sp>
        <p:nvSpPr>
          <p:cNvPr id="16" name="TextBox 15"/>
          <p:cNvSpPr txBox="1"/>
          <p:nvPr/>
        </p:nvSpPr>
        <p:spPr>
          <a:xfrm>
            <a:off x="6172200" y="3931920"/>
            <a:ext cx="5486400" cy="2377440"/>
          </a:xfrm>
          <a:prstGeom prst="rect">
            <a:avLst/>
          </a:prstGeom>
          <a:noFill/>
        </p:spPr>
        <p:txBody>
          <a:bodyPr wrap="square">
            <a:spAutoFit/>
          </a:bodyPr>
          <a:lstStyle/>
          <a:p>
            <a:pPr>
              <a:spcAft>
                <a:spcPts val="900"/>
              </a:spcAft>
            </a:pPr>
            <a:r>
              <a:rPr sz="1500">
                <a:solidFill>
                  <a:srgbClr val="7A1F2B"/>
                </a:solidFill>
                <a:latin typeface="Calibri"/>
              </a:rPr>
              <a:t>▪  </a:t>
            </a:r>
            <a:r>
              <a:rPr sz="1500" b="1">
                <a:solidFill>
                  <a:srgbClr val="1F2328"/>
                </a:solidFill>
                <a:latin typeface="Calibri"/>
              </a:rPr>
              <a:t>Proportion metrics:</a:t>
            </a:r>
            <a:r>
              <a:rPr sz="1500">
                <a:solidFill>
                  <a:srgbClr val="1F2328"/>
                </a:solidFill>
                <a:latin typeface="Calibri"/>
              </a:rPr>
              <a:t> score = X.</a:t>
            </a:r>
          </a:p>
          <a:p>
            <a:pPr>
              <a:spcAft>
                <a:spcPts val="900"/>
              </a:spcAft>
            </a:pPr>
            <a:r>
              <a:rPr sz="1500">
                <a:solidFill>
                  <a:srgbClr val="7A1F2B"/>
                </a:solidFill>
                <a:latin typeface="Calibri"/>
              </a:rPr>
              <a:t>▪  </a:t>
            </a:r>
            <a:r>
              <a:rPr sz="1500" b="1">
                <a:solidFill>
                  <a:srgbClr val="1F2328"/>
                </a:solidFill>
                <a:latin typeface="Calibri"/>
              </a:rPr>
              <a:t>Lower-is-better values:</a:t>
            </a:r>
            <a:r>
              <a:rPr sz="1500">
                <a:solidFill>
                  <a:srgbClr val="1F2328"/>
                </a:solidFill>
                <a:latin typeface="Calibri"/>
              </a:rPr>
              <a:t> score = min(100, 100 × threshold / value).</a:t>
            </a:r>
          </a:p>
          <a:p>
            <a:pPr>
              <a:spcAft>
                <a:spcPts val="900"/>
              </a:spcAft>
            </a:pPr>
            <a:r>
              <a:rPr sz="1500">
                <a:solidFill>
                  <a:srgbClr val="7A1F2B"/>
                </a:solidFill>
                <a:latin typeface="Calibri"/>
              </a:rPr>
              <a:t>▪  </a:t>
            </a:r>
            <a:r>
              <a:rPr sz="1500" b="1">
                <a:solidFill>
                  <a:srgbClr val="1F2328"/>
                </a:solidFill>
                <a:latin typeface="Calibri"/>
              </a:rPr>
              <a:t>Status:</a:t>
            </a:r>
            <a:r>
              <a:rPr sz="1500">
                <a:solidFill>
                  <a:srgbClr val="1F2328"/>
                </a:solidFill>
                <a:latin typeface="Calibri"/>
              </a:rPr>
              <a:t> Approved / Rejected against the threshold; Pending if not measured.</a:t>
            </a:r>
          </a:p>
          <a:p>
            <a:pPr>
              <a:spcAft>
                <a:spcPts val="900"/>
              </a:spcAft>
            </a:pPr>
            <a:r>
              <a:rPr sz="1500">
                <a:solidFill>
                  <a:srgbClr val="7A1F2B"/>
                </a:solidFill>
                <a:latin typeface="Calibri"/>
              </a:rPr>
              <a:t>▪  </a:t>
            </a:r>
            <a:r>
              <a:rPr sz="1500" b="1">
                <a:solidFill>
                  <a:srgbClr val="1F2328"/>
                </a:solidFill>
                <a:latin typeface="Calibri"/>
              </a:rPr>
              <a:t>Owners:</a:t>
            </a:r>
            <a:r>
              <a:rPr sz="1500">
                <a:solidFill>
                  <a:srgbClr val="1F2328"/>
                </a:solidFill>
                <a:latin typeface="Calibri"/>
              </a:rPr>
              <a:t> every metric has a named team member.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2 — Metrics owned by Daniel Wilston Chura Monroy</a:t>
            </a:r>
          </a:p>
        </p:txBody>
      </p:sp>
      <p:sp>
        <p:nvSpPr>
          <p:cNvPr id="4" name="TextBox 3"/>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Daniel Chura</a:t>
            </a:r>
          </a:p>
        </p:txBody>
      </p:sp>
      <p:sp>
        <p:nvSpPr>
          <p:cNvPr id="5" name="TextBox 4"/>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10</a:t>
            </a:r>
          </a:p>
        </p:txBody>
      </p:sp>
      <p:graphicFrame>
        <p:nvGraphicFramePr>
          <p:cNvPr id="6" name="Table 5"/>
          <p:cNvGraphicFramePr>
            <a:graphicFrameLocks noGrp="1"/>
          </p:cNvGraphicFramePr>
          <p:nvPr/>
        </p:nvGraphicFramePr>
        <p:xfrm>
          <a:off x="548640" y="1280160"/>
          <a:ext cx="11064236" cy="3291840"/>
        </p:xfrm>
        <a:graphic>
          <a:graphicData uri="http://schemas.openxmlformats.org/drawingml/2006/table">
            <a:tbl>
              <a:tblPr firstRow="1" bandRow="1">
                <a:tableStyleId>{5C22544A-7EE6-4342-B048-85BDC9FD1C3A}</a:tableStyleId>
              </a:tblPr>
              <a:tblGrid>
                <a:gridCol w="725523">
                  <a:extLst>
                    <a:ext uri="{9D8B030D-6E8A-4147-A177-3AD203B41FA5}">
                      <a16:colId xmlns:a16="http://schemas.microsoft.com/office/drawing/2014/main" val="20000"/>
                    </a:ext>
                  </a:extLst>
                </a:gridCol>
                <a:gridCol w="2176571">
                  <a:extLst>
                    <a:ext uri="{9D8B030D-6E8A-4147-A177-3AD203B41FA5}">
                      <a16:colId xmlns:a16="http://schemas.microsoft.com/office/drawing/2014/main" val="20001"/>
                    </a:ext>
                  </a:extLst>
                </a:gridCol>
                <a:gridCol w="3264857">
                  <a:extLst>
                    <a:ext uri="{9D8B030D-6E8A-4147-A177-3AD203B41FA5}">
                      <a16:colId xmlns:a16="http://schemas.microsoft.com/office/drawing/2014/main" val="20002"/>
                    </a:ext>
                  </a:extLst>
                </a:gridCol>
                <a:gridCol w="1360357">
                  <a:extLst>
                    <a:ext uri="{9D8B030D-6E8A-4147-A177-3AD203B41FA5}">
                      <a16:colId xmlns:a16="http://schemas.microsoft.com/office/drawing/2014/main" val="20003"/>
                    </a:ext>
                  </a:extLst>
                </a:gridCol>
                <a:gridCol w="1178976">
                  <a:extLst>
                    <a:ext uri="{9D8B030D-6E8A-4147-A177-3AD203B41FA5}">
                      <a16:colId xmlns:a16="http://schemas.microsoft.com/office/drawing/2014/main" val="20004"/>
                    </a:ext>
                  </a:extLst>
                </a:gridCol>
                <a:gridCol w="2357952">
                  <a:extLst>
                    <a:ext uri="{9D8B030D-6E8A-4147-A177-3AD203B41FA5}">
                      <a16:colId xmlns:a16="http://schemas.microsoft.com/office/drawing/2014/main" val="20005"/>
                    </a:ext>
                  </a:extLst>
                </a:gridCol>
              </a:tblGrid>
              <a:tr h="274320">
                <a:tc>
                  <a:txBody>
                    <a:bodyPr/>
                    <a:lstStyle/>
                    <a:p>
                      <a:r>
                        <a:rPr sz="1200" b="1">
                          <a:solidFill>
                            <a:srgbClr val="FFFFFF"/>
                          </a:solidFill>
                          <a:latin typeface="Calibri"/>
                        </a:rPr>
                        <a:t>ID</a:t>
                      </a:r>
                    </a:p>
                  </a:txBody>
                  <a:tcPr marL="54864" marR="54864" marT="18288" marB="18288">
                    <a:solidFill>
                      <a:srgbClr val="7A1F2B"/>
                    </a:solidFill>
                  </a:tcPr>
                </a:tc>
                <a:tc>
                  <a:txBody>
                    <a:bodyPr/>
                    <a:lstStyle/>
                    <a:p>
                      <a:r>
                        <a:rPr sz="1200" b="1">
                          <a:solidFill>
                            <a:srgbClr val="FFFFFF"/>
                          </a:solidFill>
                          <a:latin typeface="Calibri"/>
                        </a:rPr>
                        <a:t>Sub-characteristic</a:t>
                      </a:r>
                    </a:p>
                  </a:txBody>
                  <a:tcPr marL="54864" marR="54864" marT="18288" marB="18288">
                    <a:solidFill>
                      <a:srgbClr val="7A1F2B"/>
                    </a:solidFill>
                  </a:tcPr>
                </a:tc>
                <a:tc>
                  <a:txBody>
                    <a:bodyPr/>
                    <a:lstStyle/>
                    <a:p>
                      <a:r>
                        <a:rPr sz="1200" b="1">
                          <a:solidFill>
                            <a:srgbClr val="FFFFFF"/>
                          </a:solidFill>
                          <a:latin typeface="Calibri"/>
                        </a:rPr>
                        <a:t>Metric</a:t>
                      </a:r>
                    </a:p>
                  </a:txBody>
                  <a:tcPr marL="54864" marR="54864" marT="18288" marB="18288">
                    <a:solidFill>
                      <a:srgbClr val="7A1F2B"/>
                    </a:solidFill>
                  </a:tcPr>
                </a:tc>
                <a:tc>
                  <a:txBody>
                    <a:bodyPr/>
                    <a:lstStyle/>
                    <a:p>
                      <a:r>
                        <a:rPr sz="1200" b="1">
                          <a:solidFill>
                            <a:srgbClr val="FFFFFF"/>
                          </a:solidFill>
                          <a:latin typeface="Calibri"/>
                        </a:rPr>
                        <a:t>A / B (or value)</a:t>
                      </a:r>
                    </a:p>
                  </a:txBody>
                  <a:tcPr marL="54864" marR="54864" marT="18288" marB="18288">
                    <a:solidFill>
                      <a:srgbClr val="7A1F2B"/>
                    </a:solidFill>
                  </a:tcPr>
                </a:tc>
                <a:tc>
                  <a:txBody>
                    <a:bodyPr/>
                    <a:lstStyle/>
                    <a:p>
                      <a:r>
                        <a:rPr sz="1200" b="1">
                          <a:solidFill>
                            <a:srgbClr val="FFFFFF"/>
                          </a:solidFill>
                          <a:latin typeface="Calibri"/>
                        </a:rPr>
                        <a:t>Threshold</a:t>
                      </a:r>
                    </a:p>
                  </a:txBody>
                  <a:tcPr marL="54864" marR="54864" marT="18288" marB="18288">
                    <a:solidFill>
                      <a:srgbClr val="7A1F2B"/>
                    </a:solidFill>
                  </a:tcPr>
                </a:tc>
                <a:tc>
                  <a:txBody>
                    <a:bodyPr/>
                    <a:lstStyle/>
                    <a:p>
                      <a:r>
                        <a:rPr sz="1200" b="1">
                          <a:solidFill>
                            <a:srgbClr val="FFFFFF"/>
                          </a:solidFill>
                          <a:latin typeface="Calibri"/>
                        </a:rPr>
                        <a:t>Tool</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200" b="0">
                          <a:solidFill>
                            <a:srgbClr val="1F2328"/>
                          </a:solidFill>
                          <a:latin typeface="Calibri"/>
                        </a:rPr>
                        <a:t>IF-01</a:t>
                      </a:r>
                    </a:p>
                  </a:txBody>
                  <a:tcPr marL="54864" marR="54864" marT="18288" marB="18288">
                    <a:solidFill>
                      <a:srgbClr val="FFFFFF"/>
                    </a:solidFill>
                  </a:tcPr>
                </a:tc>
                <a:tc>
                  <a:txBody>
                    <a:bodyPr/>
                    <a:lstStyle/>
                    <a:p>
                      <a:r>
                        <a:rPr sz="1200" b="0">
                          <a:solidFill>
                            <a:srgbClr val="1F2328"/>
                          </a:solidFill>
                          <a:latin typeface="Calibri"/>
                        </a:rPr>
                        <a:t>Functional completeness</a:t>
                      </a:r>
                    </a:p>
                  </a:txBody>
                  <a:tcPr marL="54864" marR="54864" marT="18288" marB="18288">
                    <a:solidFill>
                      <a:srgbClr val="FFFFFF"/>
                    </a:solidFill>
                  </a:tcPr>
                </a:tc>
                <a:tc>
                  <a:txBody>
                    <a:bodyPr/>
                    <a:lstStyle/>
                    <a:p>
                      <a:r>
                        <a:rPr sz="1200" b="0">
                          <a:solidFill>
                            <a:srgbClr val="1F2328"/>
                          </a:solidFill>
                          <a:latin typeface="Calibri"/>
                        </a:rPr>
                        <a:t>Functional requirement coverage</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95 %</a:t>
                      </a:r>
                    </a:p>
                  </a:txBody>
                  <a:tcPr marL="54864" marR="54864" marT="18288" marB="18288">
                    <a:solidFill>
                      <a:srgbClr val="FFFFFF"/>
                    </a:solidFill>
                  </a:tcPr>
                </a:tc>
                <a:tc>
                  <a:txBody>
                    <a:bodyPr/>
                    <a:lstStyle/>
                    <a:p>
                      <a:r>
                        <a:rPr sz="1200" b="0">
                          <a:solidFill>
                            <a:srgbClr val="1F2328"/>
                          </a:solidFill>
                          <a:latin typeface="Calibri"/>
                        </a:rPr>
                        <a:t>Playwright 1.64 (Chromium)</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200" b="0">
                          <a:solidFill>
                            <a:srgbClr val="1F2328"/>
                          </a:solidFill>
                          <a:latin typeface="Calibri"/>
                        </a:rPr>
                        <a:t>IF-02</a:t>
                      </a:r>
                    </a:p>
                  </a:txBody>
                  <a:tcPr marL="54864" marR="54864" marT="18288" marB="18288">
                    <a:solidFill>
                      <a:srgbClr val="F6F4F2"/>
                    </a:solidFill>
                  </a:tcPr>
                </a:tc>
                <a:tc>
                  <a:txBody>
                    <a:bodyPr/>
                    <a:lstStyle/>
                    <a:p>
                      <a:r>
                        <a:rPr sz="1200" b="0">
                          <a:solidFill>
                            <a:srgbClr val="1F2328"/>
                          </a:solidFill>
                          <a:latin typeface="Calibri"/>
                        </a:rPr>
                        <a:t>Functional correctness</a:t>
                      </a:r>
                    </a:p>
                  </a:txBody>
                  <a:tcPr marL="54864" marR="54864" marT="18288" marB="18288">
                    <a:solidFill>
                      <a:srgbClr val="F6F4F2"/>
                    </a:solidFill>
                  </a:tcPr>
                </a:tc>
                <a:tc>
                  <a:txBody>
                    <a:bodyPr/>
                    <a:lstStyle/>
                    <a:p>
                      <a:r>
                        <a:rPr sz="1200" b="0">
                          <a:solidFill>
                            <a:srgbClr val="1F2328"/>
                          </a:solidFill>
                          <a:latin typeface="Calibri"/>
                        </a:rPr>
                        <a:t>Accuracy against the official oracle</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Python 3.12 + Playwright</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200" b="0">
                          <a:solidFill>
                            <a:srgbClr val="1F2328"/>
                          </a:solidFill>
                          <a:latin typeface="Calibri"/>
                        </a:rPr>
                        <a:t>IF-03</a:t>
                      </a:r>
                    </a:p>
                  </a:txBody>
                  <a:tcPr marL="54864" marR="54864" marT="18288" marB="18288">
                    <a:solidFill>
                      <a:srgbClr val="FFFFFF"/>
                    </a:solidFill>
                  </a:tcPr>
                </a:tc>
                <a:tc>
                  <a:txBody>
                    <a:bodyPr/>
                    <a:lstStyle/>
                    <a:p>
                      <a:r>
                        <a:rPr sz="1200" b="0">
                          <a:solidFill>
                            <a:srgbClr val="1F2328"/>
                          </a:solidFill>
                          <a:latin typeface="Calibri"/>
                        </a:rPr>
                        <a:t>Functional appropriateness</a:t>
                      </a:r>
                    </a:p>
                  </a:txBody>
                  <a:tcPr marL="54864" marR="54864" marT="18288" marB="18288">
                    <a:solidFill>
                      <a:srgbClr val="FFFFFF"/>
                    </a:solidFill>
                  </a:tcPr>
                </a:tc>
                <a:tc>
                  <a:txBody>
                    <a:bodyPr/>
                    <a:lstStyle/>
                    <a:p>
                      <a:r>
                        <a:rPr sz="1200" b="0">
                          <a:solidFill>
                            <a:srgbClr val="1F2328"/>
                          </a:solidFill>
                          <a:latin typeface="Calibri"/>
                        </a:rPr>
                        <a:t>Coverage of surveillance dimensions</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90 %</a:t>
                      </a:r>
                    </a:p>
                  </a:txBody>
                  <a:tcPr marL="54864" marR="54864" marT="18288" marB="18288">
                    <a:solidFill>
                      <a:srgbClr val="FFFFFF"/>
                    </a:solidFill>
                  </a:tcPr>
                </a:tc>
                <a:tc>
                  <a:txBody>
                    <a:bodyPr/>
                    <a:lstStyle/>
                    <a:p>
                      <a:r>
                        <a:rPr sz="1200" b="0">
                          <a:solidFill>
                            <a:srgbClr val="1F2328"/>
                          </a:solidFill>
                          <a:latin typeface="Calibri"/>
                        </a:rPr>
                        <a:t>Playwright</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200" b="0">
                          <a:solidFill>
                            <a:srgbClr val="1F2328"/>
                          </a:solidFill>
                          <a:latin typeface="Calibri"/>
                        </a:rPr>
                        <a:t>ED-01</a:t>
                      </a:r>
                    </a:p>
                  </a:txBody>
                  <a:tcPr marL="54864" marR="54864" marT="18288" marB="18288">
                    <a:solidFill>
                      <a:srgbClr val="F6F4F2"/>
                    </a:solidFill>
                  </a:tcPr>
                </a:tc>
                <a:tc>
                  <a:txBody>
                    <a:bodyPr/>
                    <a:lstStyle/>
                    <a:p>
                      <a:r>
                        <a:rPr sz="1200" b="0">
                          <a:solidFill>
                            <a:srgbClr val="1F2328"/>
                          </a:solidFill>
                          <a:latin typeface="Calibri"/>
                        </a:rPr>
                        <a:t>Time behaviour</a:t>
                      </a:r>
                    </a:p>
                  </a:txBody>
                  <a:tcPr marL="54864" marR="54864" marT="18288" marB="18288">
                    <a:solidFill>
                      <a:srgbClr val="F6F4F2"/>
                    </a:solidFill>
                  </a:tcPr>
                </a:tc>
                <a:tc>
                  <a:txBody>
                    <a:bodyPr/>
                    <a:lstStyle/>
                    <a:p>
                      <a:r>
                        <a:rPr sz="1200" b="0">
                          <a:solidFill>
                            <a:srgbClr val="1F2328"/>
                          </a:solidFill>
                          <a:latin typeface="Calibri"/>
                        </a:rPr>
                        <a:t>Largest Contentful Paint (mobile)</a:t>
                      </a:r>
                    </a:p>
                  </a:txBody>
                  <a:tcPr marL="54864" marR="54864" marT="18288" marB="18288">
                    <a:solidFill>
                      <a:srgbClr val="F6F4F2"/>
                    </a:solidFill>
                  </a:tcPr>
                </a:tc>
                <a:tc>
                  <a:txBody>
                    <a:bodyPr/>
                    <a:lstStyle/>
                    <a:p>
                      <a:r>
                        <a:rPr sz="1200" b="0">
                          <a:solidFill>
                            <a:srgbClr val="1F2328"/>
                          </a:solidFill>
                          <a:latin typeface="Calibri"/>
                        </a:rPr>
                        <a:t>measured value</a:t>
                      </a:r>
                    </a:p>
                  </a:txBody>
                  <a:tcPr marL="54864" marR="54864" marT="18288" marB="18288">
                    <a:solidFill>
                      <a:srgbClr val="F6F4F2"/>
                    </a:solidFill>
                  </a:tcPr>
                </a:tc>
                <a:tc>
                  <a:txBody>
                    <a:bodyPr/>
                    <a:lstStyle/>
                    <a:p>
                      <a:r>
                        <a:rPr sz="1200" b="0">
                          <a:solidFill>
                            <a:srgbClr val="1F2328"/>
                          </a:solidFill>
                          <a:latin typeface="Calibri"/>
                        </a:rPr>
                        <a:t>≤ 2.5 s</a:t>
                      </a:r>
                    </a:p>
                  </a:txBody>
                  <a:tcPr marL="54864" marR="54864" marT="18288" marB="18288">
                    <a:solidFill>
                      <a:srgbClr val="F6F4F2"/>
                    </a:solidFill>
                  </a:tcPr>
                </a:tc>
                <a:tc>
                  <a:txBody>
                    <a:bodyPr/>
                    <a:lstStyle/>
                    <a:p>
                      <a:r>
                        <a:rPr sz="1200" b="0">
                          <a:solidFill>
                            <a:srgbClr val="1F2328"/>
                          </a:solidFill>
                          <a:latin typeface="Calibri"/>
                        </a:rPr>
                        <a:t>Lighthouse 12.8</a:t>
                      </a:r>
                    </a:p>
                  </a:txBody>
                  <a:tcPr marL="54864" marR="54864" marT="18288" marB="18288">
                    <a:solidFill>
                      <a:srgbClr val="F6F4F2"/>
                    </a:solidFill>
                  </a:tcPr>
                </a:tc>
                <a:extLst>
                  <a:ext uri="{0D108BD9-81ED-4DB2-BD59-A6C34878D82A}">
                    <a16:rowId xmlns:a16="http://schemas.microsoft.com/office/drawing/2014/main" val="10004"/>
                  </a:ext>
                </a:extLst>
              </a:tr>
              <a:tr h="274320">
                <a:tc>
                  <a:txBody>
                    <a:bodyPr/>
                    <a:lstStyle/>
                    <a:p>
                      <a:r>
                        <a:rPr sz="1200" b="0">
                          <a:solidFill>
                            <a:srgbClr val="1F2328"/>
                          </a:solidFill>
                          <a:latin typeface="Calibri"/>
                        </a:rPr>
                        <a:t>ED-02</a:t>
                      </a:r>
                    </a:p>
                  </a:txBody>
                  <a:tcPr marL="54864" marR="54864" marT="18288" marB="18288">
                    <a:solidFill>
                      <a:srgbClr val="FFFFFF"/>
                    </a:solidFill>
                  </a:tcPr>
                </a:tc>
                <a:tc>
                  <a:txBody>
                    <a:bodyPr/>
                    <a:lstStyle/>
                    <a:p>
                      <a:r>
                        <a:rPr sz="1200" b="0">
                          <a:solidFill>
                            <a:srgbClr val="1F2328"/>
                          </a:solidFill>
                          <a:latin typeface="Calibri"/>
                        </a:rPr>
                        <a:t>Time behaviour</a:t>
                      </a:r>
                    </a:p>
                  </a:txBody>
                  <a:tcPr marL="54864" marR="54864" marT="18288" marB="18288">
                    <a:solidFill>
                      <a:srgbClr val="FFFFFF"/>
                    </a:solidFill>
                  </a:tcPr>
                </a:tc>
                <a:tc>
                  <a:txBody>
                    <a:bodyPr/>
                    <a:lstStyle/>
                    <a:p>
                      <a:r>
                        <a:rPr sz="1200" b="0">
                          <a:solidFill>
                            <a:srgbClr val="1F2328"/>
                          </a:solidFill>
                          <a:latin typeface="Calibri"/>
                        </a:rPr>
                        <a:t>Filter response time</a:t>
                      </a:r>
                    </a:p>
                  </a:txBody>
                  <a:tcPr marL="54864" marR="54864" marT="18288" marB="18288">
                    <a:solidFill>
                      <a:srgbClr val="FFFFFF"/>
                    </a:solidFill>
                  </a:tcPr>
                </a:tc>
                <a:tc>
                  <a:txBody>
                    <a:bodyPr/>
                    <a:lstStyle/>
                    <a:p>
                      <a:r>
                        <a:rPr sz="1200" b="0">
                          <a:solidFill>
                            <a:srgbClr val="1F2328"/>
                          </a:solidFill>
                          <a:latin typeface="Calibri"/>
                        </a:rPr>
                        <a:t>measured value</a:t>
                      </a:r>
                    </a:p>
                  </a:txBody>
                  <a:tcPr marL="54864" marR="54864" marT="18288" marB="18288">
                    <a:solidFill>
                      <a:srgbClr val="FFFFFF"/>
                    </a:solidFill>
                  </a:tcPr>
                </a:tc>
                <a:tc>
                  <a:txBody>
                    <a:bodyPr/>
                    <a:lstStyle/>
                    <a:p>
                      <a:r>
                        <a:rPr sz="1200" b="0">
                          <a:solidFill>
                            <a:srgbClr val="1F2328"/>
                          </a:solidFill>
                          <a:latin typeface="Calibri"/>
                        </a:rPr>
                        <a:t>≤ 200 ms</a:t>
                      </a:r>
                    </a:p>
                  </a:txBody>
                  <a:tcPr marL="54864" marR="54864" marT="18288" marB="18288">
                    <a:solidFill>
                      <a:srgbClr val="FFFFFF"/>
                    </a:solidFill>
                  </a:tcPr>
                </a:tc>
                <a:tc>
                  <a:txBody>
                    <a:bodyPr/>
                    <a:lstStyle/>
                    <a:p>
                      <a:r>
                        <a:rPr sz="1200" b="0">
                          <a:solidFill>
                            <a:srgbClr val="1F2328"/>
                          </a:solidFill>
                          <a:latin typeface="Calibri"/>
                        </a:rPr>
                        <a:t>Playwright + Performance API</a:t>
                      </a:r>
                    </a:p>
                  </a:txBody>
                  <a:tcPr marL="54864" marR="54864" marT="18288" marB="18288">
                    <a:solidFill>
                      <a:srgbClr val="FFFFFF"/>
                    </a:solidFill>
                  </a:tcPr>
                </a:tc>
                <a:extLst>
                  <a:ext uri="{0D108BD9-81ED-4DB2-BD59-A6C34878D82A}">
                    <a16:rowId xmlns:a16="http://schemas.microsoft.com/office/drawing/2014/main" val="10005"/>
                  </a:ext>
                </a:extLst>
              </a:tr>
              <a:tr h="274320">
                <a:tc>
                  <a:txBody>
                    <a:bodyPr/>
                    <a:lstStyle/>
                    <a:p>
                      <a:r>
                        <a:rPr sz="1200" b="0">
                          <a:solidFill>
                            <a:srgbClr val="1F2328"/>
                          </a:solidFill>
                          <a:latin typeface="Calibri"/>
                        </a:rPr>
                        <a:t>ED-03</a:t>
                      </a:r>
                    </a:p>
                  </a:txBody>
                  <a:tcPr marL="54864" marR="54864" marT="18288" marB="18288">
                    <a:solidFill>
                      <a:srgbClr val="F6F4F2"/>
                    </a:solidFill>
                  </a:tcPr>
                </a:tc>
                <a:tc>
                  <a:txBody>
                    <a:bodyPr/>
                    <a:lstStyle/>
                    <a:p>
                      <a:r>
                        <a:rPr sz="1200" b="0">
                          <a:solidFill>
                            <a:srgbClr val="1F2328"/>
                          </a:solidFill>
                          <a:latin typeface="Calibri"/>
                        </a:rPr>
                        <a:t>Resource utilization</a:t>
                      </a:r>
                    </a:p>
                  </a:txBody>
                  <a:tcPr marL="54864" marR="54864" marT="18288" marB="18288">
                    <a:solidFill>
                      <a:srgbClr val="F6F4F2"/>
                    </a:solidFill>
                  </a:tcPr>
                </a:tc>
                <a:tc>
                  <a:txBody>
                    <a:bodyPr/>
                    <a:lstStyle/>
                    <a:p>
                      <a:r>
                        <a:rPr sz="1200" b="0">
                          <a:solidFill>
                            <a:srgbClr val="1F2328"/>
                          </a:solidFill>
                          <a:latin typeface="Calibri"/>
                        </a:rPr>
                        <a:t>Initial page weight</a:t>
                      </a:r>
                    </a:p>
                  </a:txBody>
                  <a:tcPr marL="54864" marR="54864" marT="18288" marB="18288">
                    <a:solidFill>
                      <a:srgbClr val="F6F4F2"/>
                    </a:solidFill>
                  </a:tcPr>
                </a:tc>
                <a:tc>
                  <a:txBody>
                    <a:bodyPr/>
                    <a:lstStyle/>
                    <a:p>
                      <a:r>
                        <a:rPr sz="1200" b="0">
                          <a:solidFill>
                            <a:srgbClr val="1F2328"/>
                          </a:solidFill>
                          <a:latin typeface="Calibri"/>
                        </a:rPr>
                        <a:t>measured value</a:t>
                      </a:r>
                    </a:p>
                  </a:txBody>
                  <a:tcPr marL="54864" marR="54864" marT="18288" marB="18288">
                    <a:solidFill>
                      <a:srgbClr val="F6F4F2"/>
                    </a:solidFill>
                  </a:tcPr>
                </a:tc>
                <a:tc>
                  <a:txBody>
                    <a:bodyPr/>
                    <a:lstStyle/>
                    <a:p>
                      <a:r>
                        <a:rPr sz="1200" b="0">
                          <a:solidFill>
                            <a:srgbClr val="1F2328"/>
                          </a:solidFill>
                          <a:latin typeface="Calibri"/>
                        </a:rPr>
                        <a:t>≤ 1,000 KB</a:t>
                      </a:r>
                    </a:p>
                  </a:txBody>
                  <a:tcPr marL="54864" marR="54864" marT="18288" marB="18288">
                    <a:solidFill>
                      <a:srgbClr val="F6F4F2"/>
                    </a:solidFill>
                  </a:tcPr>
                </a:tc>
                <a:tc>
                  <a:txBody>
                    <a:bodyPr/>
                    <a:lstStyle/>
                    <a:p>
                      <a:r>
                        <a:rPr sz="1200" b="0">
                          <a:solidFill>
                            <a:srgbClr val="1F2328"/>
                          </a:solidFill>
                          <a:latin typeface="Calibri"/>
                        </a:rPr>
                        <a:t>Lighthouse 12.8</a:t>
                      </a:r>
                    </a:p>
                  </a:txBody>
                  <a:tcPr marL="54864" marR="54864" marT="18288" marB="18288">
                    <a:solidFill>
                      <a:srgbClr val="F6F4F2"/>
                    </a:solidFill>
                  </a:tcPr>
                </a:tc>
                <a:extLst>
                  <a:ext uri="{0D108BD9-81ED-4DB2-BD59-A6C34878D82A}">
                    <a16:rowId xmlns:a16="http://schemas.microsoft.com/office/drawing/2014/main" val="10006"/>
                  </a:ext>
                </a:extLst>
              </a:tr>
              <a:tr h="274320">
                <a:tc>
                  <a:txBody>
                    <a:bodyPr/>
                    <a:lstStyle/>
                    <a:p>
                      <a:r>
                        <a:rPr sz="1200" b="0">
                          <a:solidFill>
                            <a:srgbClr val="1F2328"/>
                          </a:solidFill>
                          <a:latin typeface="Calibri"/>
                        </a:rPr>
                        <a:t>CO-01</a:t>
                      </a:r>
                    </a:p>
                  </a:txBody>
                  <a:tcPr marL="54864" marR="54864" marT="18288" marB="18288">
                    <a:solidFill>
                      <a:srgbClr val="FFFFFF"/>
                    </a:solidFill>
                  </a:tcPr>
                </a:tc>
                <a:tc>
                  <a:txBody>
                    <a:bodyPr/>
                    <a:lstStyle/>
                    <a:p>
                      <a:r>
                        <a:rPr sz="1200" b="0">
                          <a:solidFill>
                            <a:srgbClr val="1F2328"/>
                          </a:solidFill>
                          <a:latin typeface="Calibri"/>
                        </a:rPr>
                        <a:t>Interoperability</a:t>
                      </a:r>
                    </a:p>
                  </a:txBody>
                  <a:tcPr marL="54864" marR="54864" marT="18288" marB="18288">
                    <a:solidFill>
                      <a:srgbClr val="FFFFFF"/>
                    </a:solidFill>
                  </a:tcPr>
                </a:tc>
                <a:tc>
                  <a:txBody>
                    <a:bodyPr/>
                    <a:lstStyle/>
                    <a:p>
                      <a:r>
                        <a:rPr sz="1200" b="0">
                          <a:solidFill>
                            <a:srgbClr val="1F2328"/>
                          </a:solidFill>
                          <a:latin typeface="Calibri"/>
                        </a:rPr>
                        <a:t>Valid and consistent exports</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100 %</a:t>
                      </a:r>
                    </a:p>
                  </a:txBody>
                  <a:tcPr marL="54864" marR="54864" marT="18288" marB="18288">
                    <a:solidFill>
                      <a:srgbClr val="FFFFFF"/>
                    </a:solidFill>
                  </a:tcPr>
                </a:tc>
                <a:tc>
                  <a:txBody>
                    <a:bodyPr/>
                    <a:lstStyle/>
                    <a:p>
                      <a:r>
                        <a:rPr sz="1200" b="0">
                          <a:solidFill>
                            <a:srgbClr val="1F2328"/>
                          </a:solidFill>
                          <a:latin typeface="Calibri"/>
                        </a:rPr>
                        <a:t>Playwright</a:t>
                      </a:r>
                    </a:p>
                  </a:txBody>
                  <a:tcPr marL="54864" marR="54864" marT="18288" marB="18288">
                    <a:solidFill>
                      <a:srgbClr val="FFFFFF"/>
                    </a:solidFill>
                  </a:tcPr>
                </a:tc>
                <a:extLst>
                  <a:ext uri="{0D108BD9-81ED-4DB2-BD59-A6C34878D82A}">
                    <a16:rowId xmlns:a16="http://schemas.microsoft.com/office/drawing/2014/main" val="10007"/>
                  </a:ext>
                </a:extLst>
              </a:tr>
              <a:tr h="274320">
                <a:tc>
                  <a:txBody>
                    <a:bodyPr/>
                    <a:lstStyle/>
                    <a:p>
                      <a:r>
                        <a:rPr sz="1200" b="0">
                          <a:solidFill>
                            <a:srgbClr val="1F2328"/>
                          </a:solidFill>
                          <a:latin typeface="Calibri"/>
                        </a:rPr>
                        <a:t>MA-01</a:t>
                      </a:r>
                    </a:p>
                  </a:txBody>
                  <a:tcPr marL="54864" marR="54864" marT="18288" marB="18288">
                    <a:solidFill>
                      <a:srgbClr val="F6F4F2"/>
                    </a:solidFill>
                  </a:tcPr>
                </a:tc>
                <a:tc>
                  <a:txBody>
                    <a:bodyPr/>
                    <a:lstStyle/>
                    <a:p>
                      <a:r>
                        <a:rPr sz="1200" b="0">
                          <a:solidFill>
                            <a:srgbClr val="1F2328"/>
                          </a:solidFill>
                          <a:latin typeface="Calibri"/>
                        </a:rPr>
                        <a:t>Analysability</a:t>
                      </a:r>
                    </a:p>
                  </a:txBody>
                  <a:tcPr marL="54864" marR="54864" marT="18288" marB="18288">
                    <a:solidFill>
                      <a:srgbClr val="F6F4F2"/>
                    </a:solidFill>
                  </a:tcPr>
                </a:tc>
                <a:tc>
                  <a:txBody>
                    <a:bodyPr/>
                    <a:lstStyle/>
                    <a:p>
                      <a:r>
                        <a:rPr sz="1200" b="0">
                          <a:solidFill>
                            <a:srgbClr val="1F2328"/>
                          </a:solidFill>
                          <a:latin typeface="Calibri"/>
                        </a:rPr>
                        <a:t>Functions with acceptable complexity</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90 %</a:t>
                      </a:r>
                    </a:p>
                  </a:txBody>
                  <a:tcPr marL="54864" marR="54864" marT="18288" marB="18288">
                    <a:solidFill>
                      <a:srgbClr val="F6F4F2"/>
                    </a:solidFill>
                  </a:tcPr>
                </a:tc>
                <a:tc>
                  <a:txBody>
                    <a:bodyPr/>
                    <a:lstStyle/>
                    <a:p>
                      <a:r>
                        <a:rPr sz="1200" b="0">
                          <a:solidFill>
                            <a:srgbClr val="1F2328"/>
                          </a:solidFill>
                          <a:latin typeface="Calibri"/>
                        </a:rPr>
                        <a:t>ESLint 9 (regla complexity) + Radon 6</a:t>
                      </a:r>
                    </a:p>
                  </a:txBody>
                  <a:tcPr marL="54864" marR="54864" marT="18288" marB="18288">
                    <a:solidFill>
                      <a:srgbClr val="F6F4F2"/>
                    </a:solidFill>
                  </a:tcPr>
                </a:tc>
                <a:extLst>
                  <a:ext uri="{0D108BD9-81ED-4DB2-BD59-A6C34878D82A}">
                    <a16:rowId xmlns:a16="http://schemas.microsoft.com/office/drawing/2014/main" val="10008"/>
                  </a:ext>
                </a:extLst>
              </a:tr>
              <a:tr h="274320">
                <a:tc>
                  <a:txBody>
                    <a:bodyPr/>
                    <a:lstStyle/>
                    <a:p>
                      <a:r>
                        <a:rPr sz="1200" b="0">
                          <a:solidFill>
                            <a:srgbClr val="1F2328"/>
                          </a:solidFill>
                          <a:latin typeface="Calibri"/>
                        </a:rPr>
                        <a:t>MA-02</a:t>
                      </a:r>
                    </a:p>
                  </a:txBody>
                  <a:tcPr marL="54864" marR="54864" marT="18288" marB="18288">
                    <a:solidFill>
                      <a:srgbClr val="FFFFFF"/>
                    </a:solidFill>
                  </a:tcPr>
                </a:tc>
                <a:tc>
                  <a:txBody>
                    <a:bodyPr/>
                    <a:lstStyle/>
                    <a:p>
                      <a:r>
                        <a:rPr sz="1200" b="0">
                          <a:solidFill>
                            <a:srgbClr val="1F2328"/>
                          </a:solidFill>
                          <a:latin typeface="Calibri"/>
                        </a:rPr>
                        <a:t>Modifiability</a:t>
                      </a:r>
                    </a:p>
                  </a:txBody>
                  <a:tcPr marL="54864" marR="54864" marT="18288" marB="18288">
                    <a:solidFill>
                      <a:srgbClr val="FFFFFF"/>
                    </a:solidFill>
                  </a:tcPr>
                </a:tc>
                <a:tc>
                  <a:txBody>
                    <a:bodyPr/>
                    <a:lstStyle/>
                    <a:p>
                      <a:r>
                        <a:rPr sz="1200" b="0">
                          <a:solidFill>
                            <a:srgbClr val="1F2328"/>
                          </a:solidFill>
                          <a:latin typeface="Calibri"/>
                        </a:rPr>
                        <a:t>Static-analysis issue density</a:t>
                      </a:r>
                    </a:p>
                  </a:txBody>
                  <a:tcPr marL="54864" marR="54864" marT="18288" marB="18288">
                    <a:solidFill>
                      <a:srgbClr val="FFFFFF"/>
                    </a:solidFill>
                  </a:tcPr>
                </a:tc>
                <a:tc>
                  <a:txBody>
                    <a:bodyPr/>
                    <a:lstStyle/>
                    <a:p>
                      <a:r>
                        <a:rPr sz="1200" b="0">
                          <a:solidFill>
                            <a:srgbClr val="1F2328"/>
                          </a:solidFill>
                          <a:latin typeface="Calibri"/>
                        </a:rPr>
                        <a:t>measured value</a:t>
                      </a:r>
                    </a:p>
                  </a:txBody>
                  <a:tcPr marL="54864" marR="54864" marT="18288" marB="18288">
                    <a:solidFill>
                      <a:srgbClr val="FFFFFF"/>
                    </a:solidFill>
                  </a:tcPr>
                </a:tc>
                <a:tc>
                  <a:txBody>
                    <a:bodyPr/>
                    <a:lstStyle/>
                    <a:p>
                      <a:r>
                        <a:rPr sz="1200" b="0">
                          <a:solidFill>
                            <a:srgbClr val="1F2328"/>
                          </a:solidFill>
                          <a:latin typeface="Calibri"/>
                        </a:rPr>
                        <a:t>≤ 2 issues/KLOC</a:t>
                      </a:r>
                    </a:p>
                  </a:txBody>
                  <a:tcPr marL="54864" marR="54864" marT="18288" marB="18288">
                    <a:solidFill>
                      <a:srgbClr val="FFFFFF"/>
                    </a:solidFill>
                  </a:tcPr>
                </a:tc>
                <a:tc>
                  <a:txBody>
                    <a:bodyPr/>
                    <a:lstStyle/>
                    <a:p>
                      <a:r>
                        <a:rPr sz="1200" b="0">
                          <a:solidFill>
                            <a:srgbClr val="1F2328"/>
                          </a:solidFill>
                          <a:latin typeface="Calibri"/>
                        </a:rPr>
                        <a:t>ESLint 9</a:t>
                      </a:r>
                    </a:p>
                  </a:txBody>
                  <a:tcPr marL="54864" marR="54864" marT="18288" marB="18288">
                    <a:solidFill>
                      <a:srgbClr val="FFFFFF"/>
                    </a:solidFill>
                  </a:tcPr>
                </a:tc>
                <a:extLst>
                  <a:ext uri="{0D108BD9-81ED-4DB2-BD59-A6C34878D82A}">
                    <a16:rowId xmlns:a16="http://schemas.microsoft.com/office/drawing/2014/main" val="10009"/>
                  </a:ext>
                </a:extLst>
              </a:tr>
              <a:tr h="274320">
                <a:tc>
                  <a:txBody>
                    <a:bodyPr/>
                    <a:lstStyle/>
                    <a:p>
                      <a:r>
                        <a:rPr sz="1200" b="0">
                          <a:solidFill>
                            <a:srgbClr val="1F2328"/>
                          </a:solidFill>
                          <a:latin typeface="Calibri"/>
                        </a:rPr>
                        <a:t>MA-03</a:t>
                      </a:r>
                    </a:p>
                  </a:txBody>
                  <a:tcPr marL="54864" marR="54864" marT="18288" marB="18288">
                    <a:solidFill>
                      <a:srgbClr val="F6F4F2"/>
                    </a:solidFill>
                  </a:tcPr>
                </a:tc>
                <a:tc>
                  <a:txBody>
                    <a:bodyPr/>
                    <a:lstStyle/>
                    <a:p>
                      <a:r>
                        <a:rPr sz="1200" b="0">
                          <a:solidFill>
                            <a:srgbClr val="1F2328"/>
                          </a:solidFill>
                          <a:latin typeface="Calibri"/>
                        </a:rPr>
                        <a:t>Testability</a:t>
                      </a:r>
                    </a:p>
                  </a:txBody>
                  <a:tcPr marL="54864" marR="54864" marT="18288" marB="18288">
                    <a:solidFill>
                      <a:srgbClr val="F6F4F2"/>
                    </a:solidFill>
                  </a:tcPr>
                </a:tc>
                <a:tc>
                  <a:txBody>
                    <a:bodyPr/>
                    <a:lstStyle/>
                    <a:p>
                      <a:r>
                        <a:rPr sz="1200" b="0">
                          <a:solidFill>
                            <a:srgbClr val="1F2328"/>
                          </a:solidFill>
                          <a:latin typeface="Calibri"/>
                        </a:rPr>
                        <a:t>Requirements with automated tests</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90 %</a:t>
                      </a:r>
                    </a:p>
                  </a:txBody>
                  <a:tcPr marL="54864" marR="54864" marT="18288" marB="18288">
                    <a:solidFill>
                      <a:srgbClr val="F6F4F2"/>
                    </a:solidFill>
                  </a:tcPr>
                </a:tc>
                <a:tc>
                  <a:txBody>
                    <a:bodyPr/>
                    <a:lstStyle/>
                    <a:p>
                      <a:r>
                        <a:rPr sz="1200" b="0">
                          <a:solidFill>
                            <a:srgbClr val="1F2328"/>
                          </a:solidFill>
                          <a:latin typeface="Calibri"/>
                        </a:rPr>
                        <a:t>Script de consolidación</a:t>
                      </a:r>
                    </a:p>
                  </a:txBody>
                  <a:tcPr marL="54864" marR="54864" marT="18288" marB="18288">
                    <a:solidFill>
                      <a:srgbClr val="F6F4F2"/>
                    </a:solidFill>
                  </a:tcPr>
                </a:tc>
                <a:extLst>
                  <a:ext uri="{0D108BD9-81ED-4DB2-BD59-A6C34878D82A}">
                    <a16:rowId xmlns:a16="http://schemas.microsoft.com/office/drawing/2014/main" val="10010"/>
                  </a:ext>
                </a:extLst>
              </a:tr>
              <a:tr h="274320">
                <a:tc>
                  <a:txBody>
                    <a:bodyPr/>
                    <a:lstStyle/>
                    <a:p>
                      <a:r>
                        <a:rPr sz="1200" b="0">
                          <a:solidFill>
                            <a:srgbClr val="1F2328"/>
                          </a:solidFill>
                          <a:latin typeface="Calibri"/>
                        </a:rPr>
                        <a:t>FL-01</a:t>
                      </a:r>
                    </a:p>
                  </a:txBody>
                  <a:tcPr marL="54864" marR="54864" marT="18288" marB="18288">
                    <a:solidFill>
                      <a:srgbClr val="FFFFFF"/>
                    </a:solidFill>
                  </a:tcPr>
                </a:tc>
                <a:tc>
                  <a:txBody>
                    <a:bodyPr/>
                    <a:lstStyle/>
                    <a:p>
                      <a:r>
                        <a:rPr sz="1200" b="0">
                          <a:solidFill>
                            <a:srgbClr val="1F2328"/>
                          </a:solidFill>
                          <a:latin typeface="Calibri"/>
                        </a:rPr>
                        <a:t>Adaptability</a:t>
                      </a:r>
                    </a:p>
                  </a:txBody>
                  <a:tcPr marL="54864" marR="54864" marT="18288" marB="18288">
                    <a:solidFill>
                      <a:srgbClr val="FFFFFF"/>
                    </a:solidFill>
                  </a:tcPr>
                </a:tc>
                <a:tc>
                  <a:txBody>
                    <a:bodyPr/>
                    <a:lstStyle/>
                    <a:p>
                      <a:r>
                        <a:rPr sz="1200" b="0">
                          <a:solidFill>
                            <a:srgbClr val="1F2328"/>
                          </a:solidFill>
                          <a:latin typeface="Calibri"/>
                        </a:rPr>
                        <a:t>Correct browser × viewport combinations</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100 %</a:t>
                      </a:r>
                    </a:p>
                  </a:txBody>
                  <a:tcPr marL="54864" marR="54864" marT="18288" marB="18288">
                    <a:solidFill>
                      <a:srgbClr val="FFFFFF"/>
                    </a:solidFill>
                  </a:tcPr>
                </a:tc>
                <a:tc>
                  <a:txBody>
                    <a:bodyPr/>
                    <a:lstStyle/>
                    <a:p>
                      <a:r>
                        <a:rPr sz="1200" b="0">
                          <a:solidFill>
                            <a:srgbClr val="1F2328"/>
                          </a:solidFill>
                          <a:latin typeface="Calibri"/>
                        </a:rPr>
                        <a:t>Playwright</a:t>
                      </a:r>
                    </a:p>
                  </a:txBody>
                  <a:tcPr marL="54864" marR="54864" marT="18288" marB="18288">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2 — Metrics owned by Ower Frank Lopez Arela</a:t>
            </a:r>
          </a:p>
        </p:txBody>
      </p:sp>
      <p:sp>
        <p:nvSpPr>
          <p:cNvPr id="4" name="TextBox 3"/>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Ower Lopez</a:t>
            </a:r>
          </a:p>
        </p:txBody>
      </p:sp>
      <p:sp>
        <p:nvSpPr>
          <p:cNvPr id="5" name="TextBox 4"/>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11</a:t>
            </a:r>
          </a:p>
        </p:txBody>
      </p:sp>
      <p:graphicFrame>
        <p:nvGraphicFramePr>
          <p:cNvPr id="6" name="Table 5"/>
          <p:cNvGraphicFramePr>
            <a:graphicFrameLocks noGrp="1"/>
          </p:cNvGraphicFramePr>
          <p:nvPr/>
        </p:nvGraphicFramePr>
        <p:xfrm>
          <a:off x="548640" y="1280160"/>
          <a:ext cx="11064236" cy="4114800"/>
        </p:xfrm>
        <a:graphic>
          <a:graphicData uri="http://schemas.openxmlformats.org/drawingml/2006/table">
            <a:tbl>
              <a:tblPr firstRow="1" bandRow="1">
                <a:tableStyleId>{5C22544A-7EE6-4342-B048-85BDC9FD1C3A}</a:tableStyleId>
              </a:tblPr>
              <a:tblGrid>
                <a:gridCol w="725523">
                  <a:extLst>
                    <a:ext uri="{9D8B030D-6E8A-4147-A177-3AD203B41FA5}">
                      <a16:colId xmlns:a16="http://schemas.microsoft.com/office/drawing/2014/main" val="20000"/>
                    </a:ext>
                  </a:extLst>
                </a:gridCol>
                <a:gridCol w="2176571">
                  <a:extLst>
                    <a:ext uri="{9D8B030D-6E8A-4147-A177-3AD203B41FA5}">
                      <a16:colId xmlns:a16="http://schemas.microsoft.com/office/drawing/2014/main" val="20001"/>
                    </a:ext>
                  </a:extLst>
                </a:gridCol>
                <a:gridCol w="3264857">
                  <a:extLst>
                    <a:ext uri="{9D8B030D-6E8A-4147-A177-3AD203B41FA5}">
                      <a16:colId xmlns:a16="http://schemas.microsoft.com/office/drawing/2014/main" val="20002"/>
                    </a:ext>
                  </a:extLst>
                </a:gridCol>
                <a:gridCol w="1360357">
                  <a:extLst>
                    <a:ext uri="{9D8B030D-6E8A-4147-A177-3AD203B41FA5}">
                      <a16:colId xmlns:a16="http://schemas.microsoft.com/office/drawing/2014/main" val="20003"/>
                    </a:ext>
                  </a:extLst>
                </a:gridCol>
                <a:gridCol w="1178976">
                  <a:extLst>
                    <a:ext uri="{9D8B030D-6E8A-4147-A177-3AD203B41FA5}">
                      <a16:colId xmlns:a16="http://schemas.microsoft.com/office/drawing/2014/main" val="20004"/>
                    </a:ext>
                  </a:extLst>
                </a:gridCol>
                <a:gridCol w="2357952">
                  <a:extLst>
                    <a:ext uri="{9D8B030D-6E8A-4147-A177-3AD203B41FA5}">
                      <a16:colId xmlns:a16="http://schemas.microsoft.com/office/drawing/2014/main" val="20005"/>
                    </a:ext>
                  </a:extLst>
                </a:gridCol>
              </a:tblGrid>
              <a:tr h="274320">
                <a:tc>
                  <a:txBody>
                    <a:bodyPr/>
                    <a:lstStyle/>
                    <a:p>
                      <a:r>
                        <a:rPr sz="1200" b="1">
                          <a:solidFill>
                            <a:srgbClr val="FFFFFF"/>
                          </a:solidFill>
                          <a:latin typeface="Calibri"/>
                        </a:rPr>
                        <a:t>ID</a:t>
                      </a:r>
                    </a:p>
                  </a:txBody>
                  <a:tcPr marL="54864" marR="54864" marT="18288" marB="18288">
                    <a:solidFill>
                      <a:srgbClr val="7A1F2B"/>
                    </a:solidFill>
                  </a:tcPr>
                </a:tc>
                <a:tc>
                  <a:txBody>
                    <a:bodyPr/>
                    <a:lstStyle/>
                    <a:p>
                      <a:r>
                        <a:rPr sz="1200" b="1">
                          <a:solidFill>
                            <a:srgbClr val="FFFFFF"/>
                          </a:solidFill>
                          <a:latin typeface="Calibri"/>
                        </a:rPr>
                        <a:t>Sub-characteristic</a:t>
                      </a:r>
                    </a:p>
                  </a:txBody>
                  <a:tcPr marL="54864" marR="54864" marT="18288" marB="18288">
                    <a:solidFill>
                      <a:srgbClr val="7A1F2B"/>
                    </a:solidFill>
                  </a:tcPr>
                </a:tc>
                <a:tc>
                  <a:txBody>
                    <a:bodyPr/>
                    <a:lstStyle/>
                    <a:p>
                      <a:r>
                        <a:rPr sz="1200" b="1">
                          <a:solidFill>
                            <a:srgbClr val="FFFFFF"/>
                          </a:solidFill>
                          <a:latin typeface="Calibri"/>
                        </a:rPr>
                        <a:t>Metric</a:t>
                      </a:r>
                    </a:p>
                  </a:txBody>
                  <a:tcPr marL="54864" marR="54864" marT="18288" marB="18288">
                    <a:solidFill>
                      <a:srgbClr val="7A1F2B"/>
                    </a:solidFill>
                  </a:tcPr>
                </a:tc>
                <a:tc>
                  <a:txBody>
                    <a:bodyPr/>
                    <a:lstStyle/>
                    <a:p>
                      <a:r>
                        <a:rPr sz="1200" b="1">
                          <a:solidFill>
                            <a:srgbClr val="FFFFFF"/>
                          </a:solidFill>
                          <a:latin typeface="Calibri"/>
                        </a:rPr>
                        <a:t>A / B (or value)</a:t>
                      </a:r>
                    </a:p>
                  </a:txBody>
                  <a:tcPr marL="54864" marR="54864" marT="18288" marB="18288">
                    <a:solidFill>
                      <a:srgbClr val="7A1F2B"/>
                    </a:solidFill>
                  </a:tcPr>
                </a:tc>
                <a:tc>
                  <a:txBody>
                    <a:bodyPr/>
                    <a:lstStyle/>
                    <a:p>
                      <a:r>
                        <a:rPr sz="1200" b="1">
                          <a:solidFill>
                            <a:srgbClr val="FFFFFF"/>
                          </a:solidFill>
                          <a:latin typeface="Calibri"/>
                        </a:rPr>
                        <a:t>Threshold</a:t>
                      </a:r>
                    </a:p>
                  </a:txBody>
                  <a:tcPr marL="54864" marR="54864" marT="18288" marB="18288">
                    <a:solidFill>
                      <a:srgbClr val="7A1F2B"/>
                    </a:solidFill>
                  </a:tcPr>
                </a:tc>
                <a:tc>
                  <a:txBody>
                    <a:bodyPr/>
                    <a:lstStyle/>
                    <a:p>
                      <a:r>
                        <a:rPr sz="1200" b="1">
                          <a:solidFill>
                            <a:srgbClr val="FFFFFF"/>
                          </a:solidFill>
                          <a:latin typeface="Calibri"/>
                        </a:rPr>
                        <a:t>Tool</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200" b="0">
                          <a:solidFill>
                            <a:srgbClr val="1F2328"/>
                          </a:solidFill>
                          <a:latin typeface="Calibri"/>
                        </a:rPr>
                        <a:t>CI-01</a:t>
                      </a:r>
                    </a:p>
                  </a:txBody>
                  <a:tcPr marL="54864" marR="54864" marT="18288" marB="18288">
                    <a:solidFill>
                      <a:srgbClr val="FFFFFF"/>
                    </a:solidFill>
                  </a:tcPr>
                </a:tc>
                <a:tc>
                  <a:txBody>
                    <a:bodyPr/>
                    <a:lstStyle/>
                    <a:p>
                      <a:r>
                        <a:rPr sz="1200" b="0">
                          <a:solidFill>
                            <a:srgbClr val="1F2328"/>
                          </a:solidFill>
                          <a:latin typeface="Calibri"/>
                        </a:rPr>
                        <a:t>Operability</a:t>
                      </a:r>
                    </a:p>
                  </a:txBody>
                  <a:tcPr marL="54864" marR="54864" marT="18288" marB="18288">
                    <a:solidFill>
                      <a:srgbClr val="FFFFFF"/>
                    </a:solidFill>
                  </a:tcPr>
                </a:tc>
                <a:tc>
                  <a:txBody>
                    <a:bodyPr/>
                    <a:lstStyle/>
                    <a:p>
                      <a:r>
                        <a:rPr sz="1200" b="0">
                          <a:solidFill>
                            <a:srgbClr val="1F2328"/>
                          </a:solidFill>
                          <a:latin typeface="Calibri"/>
                        </a:rPr>
                        <a:t>Keyboard-operable controls</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95 %</a:t>
                      </a:r>
                    </a:p>
                  </a:txBody>
                  <a:tcPr marL="54864" marR="54864" marT="18288" marB="18288">
                    <a:solidFill>
                      <a:srgbClr val="FFFFFF"/>
                    </a:solidFill>
                  </a:tcPr>
                </a:tc>
                <a:tc>
                  <a:txBody>
                    <a:bodyPr/>
                    <a:lstStyle/>
                    <a:p>
                      <a:r>
                        <a:rPr sz="1200" b="0">
                          <a:solidFill>
                            <a:srgbClr val="1F2328"/>
                          </a:solidFill>
                          <a:latin typeface="Calibri"/>
                        </a:rPr>
                        <a:t>Playwright</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200" b="0">
                          <a:solidFill>
                            <a:srgbClr val="1F2328"/>
                          </a:solidFill>
                          <a:latin typeface="Calibri"/>
                        </a:rPr>
                        <a:t>CI-02</a:t>
                      </a:r>
                    </a:p>
                  </a:txBody>
                  <a:tcPr marL="54864" marR="54864" marT="18288" marB="18288">
                    <a:solidFill>
                      <a:srgbClr val="F6F4F2"/>
                    </a:solidFill>
                  </a:tcPr>
                </a:tc>
                <a:tc>
                  <a:txBody>
                    <a:bodyPr/>
                    <a:lstStyle/>
                    <a:p>
                      <a:r>
                        <a:rPr sz="1200" b="0">
                          <a:solidFill>
                            <a:srgbClr val="1F2328"/>
                          </a:solidFill>
                          <a:latin typeface="Calibri"/>
                        </a:rPr>
                        <a:t>User error protection</a:t>
                      </a:r>
                    </a:p>
                  </a:txBody>
                  <a:tcPr marL="54864" marR="54864" marT="18288" marB="18288">
                    <a:solidFill>
                      <a:srgbClr val="F6F4F2"/>
                    </a:solidFill>
                  </a:tcPr>
                </a:tc>
                <a:tc>
                  <a:txBody>
                    <a:bodyPr/>
                    <a:lstStyle/>
                    <a:p>
                      <a:r>
                        <a:rPr sz="1200" b="0">
                          <a:solidFill>
                            <a:srgbClr val="1F2328"/>
                          </a:solidFill>
                          <a:latin typeface="Calibri"/>
                        </a:rPr>
                        <a:t>Invalid inputs handled</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Playwright</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200" b="0">
                          <a:solidFill>
                            <a:srgbClr val="1F2328"/>
                          </a:solidFill>
                          <a:latin typeface="Calibri"/>
                        </a:rPr>
                        <a:t>CI-03</a:t>
                      </a:r>
                    </a:p>
                  </a:txBody>
                  <a:tcPr marL="54864" marR="54864" marT="18288" marB="18288">
                    <a:solidFill>
                      <a:srgbClr val="FFFFFF"/>
                    </a:solidFill>
                  </a:tcPr>
                </a:tc>
                <a:tc>
                  <a:txBody>
                    <a:bodyPr/>
                    <a:lstStyle/>
                    <a:p>
                      <a:r>
                        <a:rPr sz="1200" b="0">
                          <a:solidFill>
                            <a:srgbClr val="1F2328"/>
                          </a:solidFill>
                          <a:latin typeface="Calibri"/>
                        </a:rPr>
                        <a:t>Inclusivity</a:t>
                      </a:r>
                    </a:p>
                  </a:txBody>
                  <a:tcPr marL="54864" marR="54864" marT="18288" marB="18288">
                    <a:solidFill>
                      <a:srgbClr val="FFFFFF"/>
                    </a:solidFill>
                  </a:tcPr>
                </a:tc>
                <a:tc>
                  <a:txBody>
                    <a:bodyPr/>
                    <a:lstStyle/>
                    <a:p>
                      <a:r>
                        <a:rPr sz="1200" b="0">
                          <a:solidFill>
                            <a:srgbClr val="1F2328"/>
                          </a:solidFill>
                          <a:latin typeface="Calibri"/>
                        </a:rPr>
                        <a:t>Serious WCAG violations</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100 %</a:t>
                      </a:r>
                    </a:p>
                  </a:txBody>
                  <a:tcPr marL="54864" marR="54864" marT="18288" marB="18288">
                    <a:solidFill>
                      <a:srgbClr val="FFFFFF"/>
                    </a:solidFill>
                  </a:tcPr>
                </a:tc>
                <a:tc>
                  <a:txBody>
                    <a:bodyPr/>
                    <a:lstStyle/>
                    <a:p>
                      <a:r>
                        <a:rPr sz="1200" b="0">
                          <a:solidFill>
                            <a:srgbClr val="1F2328"/>
                          </a:solidFill>
                          <a:latin typeface="Calibri"/>
                        </a:rPr>
                        <a:t>axe-core 4 + Playwright</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200" b="0">
                          <a:solidFill>
                            <a:srgbClr val="1F2328"/>
                          </a:solidFill>
                          <a:latin typeface="Calibri"/>
                        </a:rPr>
                        <a:t>CI-04</a:t>
                      </a:r>
                    </a:p>
                  </a:txBody>
                  <a:tcPr marL="54864" marR="54864" marT="18288" marB="18288">
                    <a:solidFill>
                      <a:srgbClr val="F6F4F2"/>
                    </a:solidFill>
                  </a:tcPr>
                </a:tc>
                <a:tc>
                  <a:txBody>
                    <a:bodyPr/>
                    <a:lstStyle/>
                    <a:p>
                      <a:r>
                        <a:rPr sz="1200" b="0">
                          <a:solidFill>
                            <a:srgbClr val="1F2328"/>
                          </a:solidFill>
                          <a:latin typeface="Calibri"/>
                        </a:rPr>
                        <a:t>Self-descriptiveness</a:t>
                      </a:r>
                    </a:p>
                  </a:txBody>
                  <a:tcPr marL="54864" marR="54864" marT="18288" marB="18288">
                    <a:solidFill>
                      <a:srgbClr val="F6F4F2"/>
                    </a:solidFill>
                  </a:tcPr>
                </a:tc>
                <a:tc>
                  <a:txBody>
                    <a:bodyPr/>
                    <a:lstStyle/>
                    <a:p>
                      <a:r>
                        <a:rPr sz="1200" b="0">
                          <a:solidFill>
                            <a:srgbClr val="1F2328"/>
                          </a:solidFill>
                          <a:latin typeface="Calibri"/>
                        </a:rPr>
                        <a:t>Charts with a text alternative</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Playwright</a:t>
                      </a:r>
                    </a:p>
                  </a:txBody>
                  <a:tcPr marL="54864" marR="54864" marT="18288" marB="18288">
                    <a:solidFill>
                      <a:srgbClr val="F6F4F2"/>
                    </a:solidFill>
                  </a:tcPr>
                </a:tc>
                <a:extLst>
                  <a:ext uri="{0D108BD9-81ED-4DB2-BD59-A6C34878D82A}">
                    <a16:rowId xmlns:a16="http://schemas.microsoft.com/office/drawing/2014/main" val="10004"/>
                  </a:ext>
                </a:extLst>
              </a:tr>
              <a:tr h="274320">
                <a:tc>
                  <a:txBody>
                    <a:bodyPr/>
                    <a:lstStyle/>
                    <a:p>
                      <a:r>
                        <a:rPr sz="1200" b="0">
                          <a:solidFill>
                            <a:srgbClr val="1F2328"/>
                          </a:solidFill>
                          <a:latin typeface="Calibri"/>
                        </a:rPr>
                        <a:t>FI-01</a:t>
                      </a:r>
                    </a:p>
                  </a:txBody>
                  <a:tcPr marL="54864" marR="54864" marT="18288" marB="18288">
                    <a:solidFill>
                      <a:srgbClr val="FFFFFF"/>
                    </a:solidFill>
                  </a:tcPr>
                </a:tc>
                <a:tc>
                  <a:txBody>
                    <a:bodyPr/>
                    <a:lstStyle/>
                    <a:p>
                      <a:r>
                        <a:rPr sz="1200" b="0">
                          <a:solidFill>
                            <a:srgbClr val="1F2328"/>
                          </a:solidFill>
                          <a:latin typeface="Calibri"/>
                        </a:rPr>
                        <a:t>Faultlessness</a:t>
                      </a:r>
                    </a:p>
                  </a:txBody>
                  <a:tcPr marL="54864" marR="54864" marT="18288" marB="18288">
                    <a:solidFill>
                      <a:srgbClr val="FFFFFF"/>
                    </a:solidFill>
                  </a:tcPr>
                </a:tc>
                <a:tc>
                  <a:txBody>
                    <a:bodyPr/>
                    <a:lstStyle/>
                    <a:p>
                      <a:r>
                        <a:rPr sz="1200" b="0">
                          <a:solidFill>
                            <a:srgbClr val="1F2328"/>
                          </a:solidFill>
                          <a:latin typeface="Calibri"/>
                        </a:rPr>
                        <a:t>Runs without JavaScript errors</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100 %</a:t>
                      </a:r>
                    </a:p>
                  </a:txBody>
                  <a:tcPr marL="54864" marR="54864" marT="18288" marB="18288">
                    <a:solidFill>
                      <a:srgbClr val="FFFFFF"/>
                    </a:solidFill>
                  </a:tcPr>
                </a:tc>
                <a:tc>
                  <a:txBody>
                    <a:bodyPr/>
                    <a:lstStyle/>
                    <a:p>
                      <a:r>
                        <a:rPr sz="1200" b="0">
                          <a:solidFill>
                            <a:srgbClr val="1F2328"/>
                          </a:solidFill>
                          <a:latin typeface="Calibri"/>
                        </a:rPr>
                        <a:t>Playwright (Chromium, Firefox, WebKit)</a:t>
                      </a:r>
                    </a:p>
                  </a:txBody>
                  <a:tcPr marL="54864" marR="54864" marT="18288" marB="18288">
                    <a:solidFill>
                      <a:srgbClr val="FFFFFF"/>
                    </a:solidFill>
                  </a:tcPr>
                </a:tc>
                <a:extLst>
                  <a:ext uri="{0D108BD9-81ED-4DB2-BD59-A6C34878D82A}">
                    <a16:rowId xmlns:a16="http://schemas.microsoft.com/office/drawing/2014/main" val="10005"/>
                  </a:ext>
                </a:extLst>
              </a:tr>
              <a:tr h="274320">
                <a:tc>
                  <a:txBody>
                    <a:bodyPr/>
                    <a:lstStyle/>
                    <a:p>
                      <a:r>
                        <a:rPr sz="1200" b="0">
                          <a:solidFill>
                            <a:srgbClr val="1F2328"/>
                          </a:solidFill>
                          <a:latin typeface="Calibri"/>
                        </a:rPr>
                        <a:t>FI-02</a:t>
                      </a:r>
                    </a:p>
                  </a:txBody>
                  <a:tcPr marL="54864" marR="54864" marT="18288" marB="18288">
                    <a:solidFill>
                      <a:srgbClr val="F6F4F2"/>
                    </a:solidFill>
                  </a:tcPr>
                </a:tc>
                <a:tc>
                  <a:txBody>
                    <a:bodyPr/>
                    <a:lstStyle/>
                    <a:p>
                      <a:r>
                        <a:rPr sz="1200" b="0">
                          <a:solidFill>
                            <a:srgbClr val="1F2328"/>
                          </a:solidFill>
                          <a:latin typeface="Calibri"/>
                        </a:rPr>
                        <a:t>Availability</a:t>
                      </a:r>
                    </a:p>
                  </a:txBody>
                  <a:tcPr marL="54864" marR="54864" marT="18288" marB="18288">
                    <a:solidFill>
                      <a:srgbClr val="F6F4F2"/>
                    </a:solidFill>
                  </a:tcPr>
                </a:tc>
                <a:tc>
                  <a:txBody>
                    <a:bodyPr/>
                    <a:lstStyle/>
                    <a:p>
                      <a:r>
                        <a:rPr sz="1200" b="0">
                          <a:solidFill>
                            <a:srgbClr val="1F2328"/>
                          </a:solidFill>
                          <a:latin typeface="Calibri"/>
                        </a:rPr>
                        <a:t>Measured availability</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99 %</a:t>
                      </a:r>
                    </a:p>
                  </a:txBody>
                  <a:tcPr marL="54864" marR="54864" marT="18288" marB="18288">
                    <a:solidFill>
                      <a:srgbClr val="F6F4F2"/>
                    </a:solidFill>
                  </a:tcPr>
                </a:tc>
                <a:tc>
                  <a:txBody>
                    <a:bodyPr/>
                    <a:lstStyle/>
                    <a:p>
                      <a:r>
                        <a:rPr sz="1200" b="0">
                          <a:solidFill>
                            <a:srgbClr val="1F2328"/>
                          </a:solidFill>
                          <a:latin typeface="Calibri"/>
                        </a:rPr>
                        <a:t>Node.js fetch</a:t>
                      </a:r>
                    </a:p>
                  </a:txBody>
                  <a:tcPr marL="54864" marR="54864" marT="18288" marB="18288">
                    <a:solidFill>
                      <a:srgbClr val="F6F4F2"/>
                    </a:solidFill>
                  </a:tcPr>
                </a:tc>
                <a:extLst>
                  <a:ext uri="{0D108BD9-81ED-4DB2-BD59-A6C34878D82A}">
                    <a16:rowId xmlns:a16="http://schemas.microsoft.com/office/drawing/2014/main" val="10006"/>
                  </a:ext>
                </a:extLst>
              </a:tr>
              <a:tr h="274320">
                <a:tc>
                  <a:txBody>
                    <a:bodyPr/>
                    <a:lstStyle/>
                    <a:p>
                      <a:r>
                        <a:rPr sz="1200" b="0">
                          <a:solidFill>
                            <a:srgbClr val="1F2328"/>
                          </a:solidFill>
                          <a:latin typeface="Calibri"/>
                        </a:rPr>
                        <a:t>FI-03</a:t>
                      </a:r>
                    </a:p>
                  </a:txBody>
                  <a:tcPr marL="54864" marR="54864" marT="18288" marB="18288">
                    <a:solidFill>
                      <a:srgbClr val="FFFFFF"/>
                    </a:solidFill>
                  </a:tcPr>
                </a:tc>
                <a:tc>
                  <a:txBody>
                    <a:bodyPr/>
                    <a:lstStyle/>
                    <a:p>
                      <a:r>
                        <a:rPr sz="1200" b="0">
                          <a:solidFill>
                            <a:srgbClr val="1F2328"/>
                          </a:solidFill>
                          <a:latin typeface="Calibri"/>
                        </a:rPr>
                        <a:t>Fault tolerance</a:t>
                      </a:r>
                    </a:p>
                  </a:txBody>
                  <a:tcPr marL="54864" marR="54864" marT="18288" marB="18288">
                    <a:solidFill>
                      <a:srgbClr val="FFFFFF"/>
                    </a:solidFill>
                  </a:tcPr>
                </a:tc>
                <a:tc>
                  <a:txBody>
                    <a:bodyPr/>
                    <a:lstStyle/>
                    <a:p>
                      <a:r>
                        <a:rPr sz="1200" b="0">
                          <a:solidFill>
                            <a:srgbClr val="1F2328"/>
                          </a:solidFill>
                          <a:latin typeface="Calibri"/>
                        </a:rPr>
                        <a:t>Data failures handled</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100 %</a:t>
                      </a:r>
                    </a:p>
                  </a:txBody>
                  <a:tcPr marL="54864" marR="54864" marT="18288" marB="18288">
                    <a:solidFill>
                      <a:srgbClr val="FFFFFF"/>
                    </a:solidFill>
                  </a:tcPr>
                </a:tc>
                <a:tc>
                  <a:txBody>
                    <a:bodyPr/>
                    <a:lstStyle/>
                    <a:p>
                      <a:r>
                        <a:rPr sz="1200" b="0">
                          <a:solidFill>
                            <a:srgbClr val="1F2328"/>
                          </a:solidFill>
                          <a:latin typeface="Calibri"/>
                        </a:rPr>
                        <a:t>Playwright (page.route)</a:t>
                      </a:r>
                    </a:p>
                  </a:txBody>
                  <a:tcPr marL="54864" marR="54864" marT="18288" marB="18288">
                    <a:solidFill>
                      <a:srgbClr val="FFFFFF"/>
                    </a:solidFill>
                  </a:tcPr>
                </a:tc>
                <a:extLst>
                  <a:ext uri="{0D108BD9-81ED-4DB2-BD59-A6C34878D82A}">
                    <a16:rowId xmlns:a16="http://schemas.microsoft.com/office/drawing/2014/main" val="10007"/>
                  </a:ext>
                </a:extLst>
              </a:tr>
              <a:tr h="274320">
                <a:tc>
                  <a:txBody>
                    <a:bodyPr/>
                    <a:lstStyle/>
                    <a:p>
                      <a:r>
                        <a:rPr sz="1200" b="0">
                          <a:solidFill>
                            <a:srgbClr val="1F2328"/>
                          </a:solidFill>
                          <a:latin typeface="Calibri"/>
                        </a:rPr>
                        <a:t>FI-04</a:t>
                      </a:r>
                    </a:p>
                  </a:txBody>
                  <a:tcPr marL="54864" marR="54864" marT="18288" marB="18288">
                    <a:solidFill>
                      <a:srgbClr val="F6F4F2"/>
                    </a:solidFill>
                  </a:tcPr>
                </a:tc>
                <a:tc>
                  <a:txBody>
                    <a:bodyPr/>
                    <a:lstStyle/>
                    <a:p>
                      <a:r>
                        <a:rPr sz="1200" b="0">
                          <a:solidFill>
                            <a:srgbClr val="1F2328"/>
                          </a:solidFill>
                          <a:latin typeface="Calibri"/>
                        </a:rPr>
                        <a:t>Recoverability</a:t>
                      </a:r>
                    </a:p>
                  </a:txBody>
                  <a:tcPr marL="54864" marR="54864" marT="18288" marB="18288">
                    <a:solidFill>
                      <a:srgbClr val="F6F4F2"/>
                    </a:solidFill>
                  </a:tcPr>
                </a:tc>
                <a:tc>
                  <a:txBody>
                    <a:bodyPr/>
                    <a:lstStyle/>
                    <a:p>
                      <a:r>
                        <a:rPr sz="1200" b="0">
                          <a:solidFill>
                            <a:srgbClr val="1F2328"/>
                          </a:solidFill>
                          <a:latin typeface="Calibri"/>
                        </a:rPr>
                        <a:t>Recovery after failure</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Playwright</a:t>
                      </a:r>
                    </a:p>
                  </a:txBody>
                  <a:tcPr marL="54864" marR="54864" marT="18288" marB="18288">
                    <a:solidFill>
                      <a:srgbClr val="F6F4F2"/>
                    </a:solidFill>
                  </a:tcPr>
                </a:tc>
                <a:extLst>
                  <a:ext uri="{0D108BD9-81ED-4DB2-BD59-A6C34878D82A}">
                    <a16:rowId xmlns:a16="http://schemas.microsoft.com/office/drawing/2014/main" val="10008"/>
                  </a:ext>
                </a:extLst>
              </a:tr>
              <a:tr h="274320">
                <a:tc>
                  <a:txBody>
                    <a:bodyPr/>
                    <a:lstStyle/>
                    <a:p>
                      <a:r>
                        <a:rPr sz="1200" b="0">
                          <a:solidFill>
                            <a:srgbClr val="1F2328"/>
                          </a:solidFill>
                          <a:latin typeface="Calibri"/>
                        </a:rPr>
                        <a:t>SE-01</a:t>
                      </a:r>
                    </a:p>
                  </a:txBody>
                  <a:tcPr marL="54864" marR="54864" marT="18288" marB="18288">
                    <a:solidFill>
                      <a:srgbClr val="FFFFFF"/>
                    </a:solidFill>
                  </a:tcPr>
                </a:tc>
                <a:tc>
                  <a:txBody>
                    <a:bodyPr/>
                    <a:lstStyle/>
                    <a:p>
                      <a:r>
                        <a:rPr sz="1200" b="0">
                          <a:solidFill>
                            <a:srgbClr val="1F2328"/>
                          </a:solidFill>
                          <a:latin typeface="Calibri"/>
                        </a:rPr>
                        <a:t>Confidentiality</a:t>
                      </a:r>
                    </a:p>
                  </a:txBody>
                  <a:tcPr marL="54864" marR="54864" marT="18288" marB="18288">
                    <a:solidFill>
                      <a:srgbClr val="FFFFFF"/>
                    </a:solidFill>
                  </a:tcPr>
                </a:tc>
                <a:tc>
                  <a:txBody>
                    <a:bodyPr/>
                    <a:lstStyle/>
                    <a:p>
                      <a:r>
                        <a:rPr sz="1200" b="0">
                          <a:solidFill>
                            <a:srgbClr val="1F2328"/>
                          </a:solidFill>
                          <a:latin typeface="Calibri"/>
                        </a:rPr>
                        <a:t>No published microdata</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100 %</a:t>
                      </a:r>
                    </a:p>
                  </a:txBody>
                  <a:tcPr marL="54864" marR="54864" marT="18288" marB="18288">
                    <a:solidFill>
                      <a:srgbClr val="FFFFFF"/>
                    </a:solidFill>
                  </a:tcPr>
                </a:tc>
                <a:tc>
                  <a:txBody>
                    <a:bodyPr/>
                    <a:lstStyle/>
                    <a:p>
                      <a:r>
                        <a:rPr sz="1200" b="0">
                          <a:solidFill>
                            <a:srgbClr val="1F2328"/>
                          </a:solidFill>
                          <a:latin typeface="Calibri"/>
                        </a:rPr>
                        <a:t>Node.js</a:t>
                      </a:r>
                    </a:p>
                  </a:txBody>
                  <a:tcPr marL="54864" marR="54864" marT="18288" marB="18288">
                    <a:solidFill>
                      <a:srgbClr val="FFFFFF"/>
                    </a:solidFill>
                  </a:tcPr>
                </a:tc>
                <a:extLst>
                  <a:ext uri="{0D108BD9-81ED-4DB2-BD59-A6C34878D82A}">
                    <a16:rowId xmlns:a16="http://schemas.microsoft.com/office/drawing/2014/main" val="10009"/>
                  </a:ext>
                </a:extLst>
              </a:tr>
              <a:tr h="274320">
                <a:tc>
                  <a:txBody>
                    <a:bodyPr/>
                    <a:lstStyle/>
                    <a:p>
                      <a:r>
                        <a:rPr sz="1200" b="0">
                          <a:solidFill>
                            <a:srgbClr val="1F2328"/>
                          </a:solidFill>
                          <a:latin typeface="Calibri"/>
                        </a:rPr>
                        <a:t>SE-02</a:t>
                      </a:r>
                    </a:p>
                  </a:txBody>
                  <a:tcPr marL="54864" marR="54864" marT="18288" marB="18288">
                    <a:solidFill>
                      <a:srgbClr val="F6F4F2"/>
                    </a:solidFill>
                  </a:tcPr>
                </a:tc>
                <a:tc>
                  <a:txBody>
                    <a:bodyPr/>
                    <a:lstStyle/>
                    <a:p>
                      <a:r>
                        <a:rPr sz="1200" b="0">
                          <a:solidFill>
                            <a:srgbClr val="1F2328"/>
                          </a:solidFill>
                          <a:latin typeface="Calibri"/>
                        </a:rPr>
                        <a:t>Integrity</a:t>
                      </a:r>
                    </a:p>
                  </a:txBody>
                  <a:tcPr marL="54864" marR="54864" marT="18288" marB="18288">
                    <a:solidFill>
                      <a:srgbClr val="F6F4F2"/>
                    </a:solidFill>
                  </a:tcPr>
                </a:tc>
                <a:tc>
                  <a:txBody>
                    <a:bodyPr/>
                    <a:lstStyle/>
                    <a:p>
                      <a:r>
                        <a:rPr sz="1200" b="0">
                          <a:solidFill>
                            <a:srgbClr val="1F2328"/>
                          </a:solidFill>
                          <a:latin typeface="Calibri"/>
                        </a:rPr>
                        <a:t>Source data integrity</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Node.js crypto</a:t>
                      </a:r>
                    </a:p>
                  </a:txBody>
                  <a:tcPr marL="54864" marR="54864" marT="18288" marB="18288">
                    <a:solidFill>
                      <a:srgbClr val="F6F4F2"/>
                    </a:solidFill>
                  </a:tcPr>
                </a:tc>
                <a:extLst>
                  <a:ext uri="{0D108BD9-81ED-4DB2-BD59-A6C34878D82A}">
                    <a16:rowId xmlns:a16="http://schemas.microsoft.com/office/drawing/2014/main" val="10010"/>
                  </a:ext>
                </a:extLst>
              </a:tr>
              <a:tr h="274320">
                <a:tc>
                  <a:txBody>
                    <a:bodyPr/>
                    <a:lstStyle/>
                    <a:p>
                      <a:r>
                        <a:rPr sz="1200" b="0">
                          <a:solidFill>
                            <a:srgbClr val="1F2328"/>
                          </a:solidFill>
                          <a:latin typeface="Calibri"/>
                        </a:rPr>
                        <a:t>SE-03</a:t>
                      </a:r>
                    </a:p>
                  </a:txBody>
                  <a:tcPr marL="54864" marR="54864" marT="18288" marB="18288">
                    <a:solidFill>
                      <a:srgbClr val="FFFFFF"/>
                    </a:solidFill>
                  </a:tcPr>
                </a:tc>
                <a:tc>
                  <a:txBody>
                    <a:bodyPr/>
                    <a:lstStyle/>
                    <a:p>
                      <a:r>
                        <a:rPr sz="1200" b="0">
                          <a:solidFill>
                            <a:srgbClr val="1F2328"/>
                          </a:solidFill>
                          <a:latin typeface="Calibri"/>
                        </a:rPr>
                        <a:t>Resistance</a:t>
                      </a:r>
                    </a:p>
                  </a:txBody>
                  <a:tcPr marL="54864" marR="54864" marT="18288" marB="18288">
                    <a:solidFill>
                      <a:srgbClr val="FFFFFF"/>
                    </a:solidFill>
                  </a:tcPr>
                </a:tc>
                <a:tc>
                  <a:txBody>
                    <a:bodyPr/>
                    <a:lstStyle/>
                    <a:p>
                      <a:r>
                        <a:rPr sz="1200" b="0">
                          <a:solidFill>
                            <a:srgbClr val="1F2328"/>
                          </a:solidFill>
                          <a:latin typeface="Calibri"/>
                        </a:rPr>
                        <a:t>OWASP security headers</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85 %</a:t>
                      </a:r>
                    </a:p>
                  </a:txBody>
                  <a:tcPr marL="54864" marR="54864" marT="18288" marB="18288">
                    <a:solidFill>
                      <a:srgbClr val="FFFFFF"/>
                    </a:solidFill>
                  </a:tcPr>
                </a:tc>
                <a:tc>
                  <a:txBody>
                    <a:bodyPr/>
                    <a:lstStyle/>
                    <a:p>
                      <a:r>
                        <a:rPr sz="1200" b="0">
                          <a:solidFill>
                            <a:srgbClr val="1F2328"/>
                          </a:solidFill>
                          <a:latin typeface="Calibri"/>
                        </a:rPr>
                        <a:t>Node.js fetch</a:t>
                      </a:r>
                    </a:p>
                  </a:txBody>
                  <a:tcPr marL="54864" marR="54864" marT="18288" marB="18288">
                    <a:solidFill>
                      <a:srgbClr val="FFFFFF"/>
                    </a:solidFill>
                  </a:tcPr>
                </a:tc>
                <a:extLst>
                  <a:ext uri="{0D108BD9-81ED-4DB2-BD59-A6C34878D82A}">
                    <a16:rowId xmlns:a16="http://schemas.microsoft.com/office/drawing/2014/main" val="10011"/>
                  </a:ext>
                </a:extLst>
              </a:tr>
              <a:tr h="274320">
                <a:tc>
                  <a:txBody>
                    <a:bodyPr/>
                    <a:lstStyle/>
                    <a:p>
                      <a:r>
                        <a:rPr sz="1200" b="0">
                          <a:solidFill>
                            <a:srgbClr val="1F2328"/>
                          </a:solidFill>
                          <a:latin typeface="Calibri"/>
                        </a:rPr>
                        <a:t>SO-01</a:t>
                      </a:r>
                    </a:p>
                  </a:txBody>
                  <a:tcPr marL="54864" marR="54864" marT="18288" marB="18288">
                    <a:solidFill>
                      <a:srgbClr val="F6F4F2"/>
                    </a:solidFill>
                  </a:tcPr>
                </a:tc>
                <a:tc>
                  <a:txBody>
                    <a:bodyPr/>
                    <a:lstStyle/>
                    <a:p>
                      <a:r>
                        <a:rPr sz="1200" b="0">
                          <a:solidFill>
                            <a:srgbClr val="1F2328"/>
                          </a:solidFill>
                          <a:latin typeface="Calibri"/>
                        </a:rPr>
                        <a:t>Hazard warning</a:t>
                      </a:r>
                    </a:p>
                  </a:txBody>
                  <a:tcPr marL="54864" marR="54864" marT="18288" marB="18288">
                    <a:solidFill>
                      <a:srgbClr val="F6F4F2"/>
                    </a:solidFill>
                  </a:tcPr>
                </a:tc>
                <a:tc>
                  <a:txBody>
                    <a:bodyPr/>
                    <a:lstStyle/>
                    <a:p>
                      <a:r>
                        <a:rPr sz="1200" b="0">
                          <a:solidFill>
                            <a:srgbClr val="1F2328"/>
                          </a:solidFill>
                          <a:latin typeface="Calibri"/>
                        </a:rPr>
                        <a:t>Views with a provisional-data warning</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Playwright</a:t>
                      </a:r>
                    </a:p>
                  </a:txBody>
                  <a:tcPr marL="54864" marR="54864" marT="18288" marB="18288">
                    <a:solidFill>
                      <a:srgbClr val="F6F4F2"/>
                    </a:solidFill>
                  </a:tcPr>
                </a:tc>
                <a:extLst>
                  <a:ext uri="{0D108BD9-81ED-4DB2-BD59-A6C34878D82A}">
                    <a16:rowId xmlns:a16="http://schemas.microsoft.com/office/drawing/2014/main" val="10012"/>
                  </a:ext>
                </a:extLst>
              </a:tr>
              <a:tr h="274320">
                <a:tc>
                  <a:txBody>
                    <a:bodyPr/>
                    <a:lstStyle/>
                    <a:p>
                      <a:r>
                        <a:rPr sz="1200" b="0">
                          <a:solidFill>
                            <a:srgbClr val="1F2328"/>
                          </a:solidFill>
                          <a:latin typeface="Calibri"/>
                        </a:rPr>
                        <a:t>SO-02</a:t>
                      </a:r>
                    </a:p>
                  </a:txBody>
                  <a:tcPr marL="54864" marR="54864" marT="18288" marB="18288">
                    <a:solidFill>
                      <a:srgbClr val="FFFFFF"/>
                    </a:solidFill>
                  </a:tcPr>
                </a:tc>
                <a:tc>
                  <a:txBody>
                    <a:bodyPr/>
                    <a:lstStyle/>
                    <a:p>
                      <a:r>
                        <a:rPr sz="1200" b="0">
                          <a:solidFill>
                            <a:srgbClr val="1F2328"/>
                          </a:solidFill>
                          <a:latin typeface="Calibri"/>
                        </a:rPr>
                        <a:t>Fail safe</a:t>
                      </a:r>
                    </a:p>
                  </a:txBody>
                  <a:tcPr marL="54864" marR="54864" marT="18288" marB="18288">
                    <a:solidFill>
                      <a:srgbClr val="FFFFFF"/>
                    </a:solidFill>
                  </a:tcPr>
                </a:tc>
                <a:tc>
                  <a:txBody>
                    <a:bodyPr/>
                    <a:lstStyle/>
                    <a:p>
                      <a:r>
                        <a:rPr sz="1200" b="0">
                          <a:solidFill>
                            <a:srgbClr val="1F2328"/>
                          </a:solidFill>
                          <a:latin typeface="Calibri"/>
                        </a:rPr>
                        <a:t>No partial figures on failure</a:t>
                      </a:r>
                    </a:p>
                  </a:txBody>
                  <a:tcPr marL="54864" marR="54864" marT="18288" marB="18288">
                    <a:solidFill>
                      <a:srgbClr val="FFFFFF"/>
                    </a:solidFill>
                  </a:tcPr>
                </a:tc>
                <a:tc>
                  <a:txBody>
                    <a:bodyPr/>
                    <a:lstStyle/>
                    <a:p>
                      <a:r>
                        <a:rPr sz="1200" b="0">
                          <a:solidFill>
                            <a:srgbClr val="1F2328"/>
                          </a:solidFill>
                          <a:latin typeface="Calibri"/>
                        </a:rPr>
                        <a:t>A/B × 100</a:t>
                      </a:r>
                    </a:p>
                  </a:txBody>
                  <a:tcPr marL="54864" marR="54864" marT="18288" marB="18288">
                    <a:solidFill>
                      <a:srgbClr val="FFFFFF"/>
                    </a:solidFill>
                  </a:tcPr>
                </a:tc>
                <a:tc>
                  <a:txBody>
                    <a:bodyPr/>
                    <a:lstStyle/>
                    <a:p>
                      <a:r>
                        <a:rPr sz="1200" b="0">
                          <a:solidFill>
                            <a:srgbClr val="1F2328"/>
                          </a:solidFill>
                          <a:latin typeface="Calibri"/>
                        </a:rPr>
                        <a:t>≥ 100 %</a:t>
                      </a:r>
                    </a:p>
                  </a:txBody>
                  <a:tcPr marL="54864" marR="54864" marT="18288" marB="18288">
                    <a:solidFill>
                      <a:srgbClr val="FFFFFF"/>
                    </a:solidFill>
                  </a:tcPr>
                </a:tc>
                <a:tc>
                  <a:txBody>
                    <a:bodyPr/>
                    <a:lstStyle/>
                    <a:p>
                      <a:r>
                        <a:rPr sz="1200" b="0">
                          <a:solidFill>
                            <a:srgbClr val="1F2328"/>
                          </a:solidFill>
                          <a:latin typeface="Calibri"/>
                        </a:rPr>
                        <a:t>Playwright</a:t>
                      </a:r>
                    </a:p>
                  </a:txBody>
                  <a:tcPr marL="54864" marR="54864" marT="18288" marB="18288">
                    <a:solidFill>
                      <a:srgbClr val="FFFFFF"/>
                    </a:solidFill>
                  </a:tcPr>
                </a:tc>
                <a:extLst>
                  <a:ext uri="{0D108BD9-81ED-4DB2-BD59-A6C34878D82A}">
                    <a16:rowId xmlns:a16="http://schemas.microsoft.com/office/drawing/2014/main" val="10013"/>
                  </a:ext>
                </a:extLst>
              </a:tr>
              <a:tr h="274320">
                <a:tc>
                  <a:txBody>
                    <a:bodyPr/>
                    <a:lstStyle/>
                    <a:p>
                      <a:r>
                        <a:rPr sz="1200" b="0">
                          <a:solidFill>
                            <a:srgbClr val="1F2328"/>
                          </a:solidFill>
                          <a:latin typeface="Calibri"/>
                        </a:rPr>
                        <a:t>SO-03</a:t>
                      </a:r>
                    </a:p>
                  </a:txBody>
                  <a:tcPr marL="54864" marR="54864" marT="18288" marB="18288">
                    <a:solidFill>
                      <a:srgbClr val="F6F4F2"/>
                    </a:solidFill>
                  </a:tcPr>
                </a:tc>
                <a:tc>
                  <a:txBody>
                    <a:bodyPr/>
                    <a:lstStyle/>
                    <a:p>
                      <a:r>
                        <a:rPr sz="1200" b="0">
                          <a:solidFill>
                            <a:srgbClr val="1F2328"/>
                          </a:solidFill>
                          <a:latin typeface="Calibri"/>
                        </a:rPr>
                        <a:t>Risk identification</a:t>
                      </a:r>
                    </a:p>
                  </a:txBody>
                  <a:tcPr marL="54864" marR="54864" marT="18288" marB="18288">
                    <a:solidFill>
                      <a:srgbClr val="F6F4F2"/>
                    </a:solidFill>
                  </a:tcPr>
                </a:tc>
                <a:tc>
                  <a:txBody>
                    <a:bodyPr/>
                    <a:lstStyle/>
                    <a:p>
                      <a:r>
                        <a:rPr sz="1200" b="0">
                          <a:solidFill>
                            <a:srgbClr val="1F2328"/>
                          </a:solidFill>
                          <a:latin typeface="Calibri"/>
                        </a:rPr>
                        <a:t>Source limitations disclosed</a:t>
                      </a:r>
                    </a:p>
                  </a:txBody>
                  <a:tcPr marL="54864" marR="54864" marT="18288" marB="18288">
                    <a:solidFill>
                      <a:srgbClr val="F6F4F2"/>
                    </a:solidFill>
                  </a:tcPr>
                </a:tc>
                <a:tc>
                  <a:txBody>
                    <a:bodyPr/>
                    <a:lstStyle/>
                    <a:p>
                      <a:r>
                        <a:rPr sz="1200" b="0">
                          <a:solidFill>
                            <a:srgbClr val="1F2328"/>
                          </a:solidFill>
                          <a:latin typeface="Calibri"/>
                        </a:rPr>
                        <a:t>A/B × 100</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Playwright</a:t>
                      </a:r>
                    </a:p>
                  </a:txBody>
                  <a:tcPr marL="54864" marR="54864" marT="18288" marB="18288">
                    <a:solidFill>
                      <a:srgbClr val="F6F4F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3 — Evaluation process (ISO/IEC 25040)</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Five activities with inputs, outputs and owners; every rejected metric loops back through an incident</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Alejandro Phocco</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12</a:t>
            </a:r>
          </a:p>
        </p:txBody>
      </p:sp>
      <p:pic>
        <p:nvPicPr>
          <p:cNvPr id="7" name="Picture 6" descr="en-diag-proceso.jpg"/>
          <p:cNvPicPr>
            <a:picLocks noChangeAspect="1"/>
          </p:cNvPicPr>
          <p:nvPr/>
        </p:nvPicPr>
        <p:blipFill>
          <a:blip r:embed="rId3"/>
          <a:stretch>
            <a:fillRect/>
          </a:stretch>
        </p:blipFill>
        <p:spPr>
          <a:xfrm>
            <a:off x="548640" y="1984705"/>
            <a:ext cx="11064240" cy="37115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3 — Data-collection format</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One record per metric and run, seven blocks, generated from the evidence and mirrored in Excel</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Alejandro Phocco</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13</a:t>
            </a:r>
          </a:p>
        </p:txBody>
      </p:sp>
      <p:pic>
        <p:nvPicPr>
          <p:cNvPr id="7" name="Picture 6" descr="en-diag-formato.jpg"/>
          <p:cNvPicPr>
            <a:picLocks noChangeAspect="1"/>
          </p:cNvPicPr>
          <p:nvPr/>
        </p:nvPicPr>
        <p:blipFill>
          <a:blip r:embed="rId3"/>
          <a:stretch>
            <a:fillRect/>
          </a:stretch>
        </p:blipFill>
        <p:spPr>
          <a:xfrm>
            <a:off x="548640" y="1793596"/>
            <a:ext cx="11064240" cy="40937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3 — Classifying every failure by its origin</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22 incidents: 17 product · 4 test script · 1 infrastructure</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Alejandro Phocco</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14</a:t>
            </a:r>
          </a:p>
        </p:txBody>
      </p:sp>
      <p:pic>
        <p:nvPicPr>
          <p:cNvPr id="7" name="Picture 6" descr="en-diag-origen.jpg"/>
          <p:cNvPicPr>
            <a:picLocks noChangeAspect="1"/>
          </p:cNvPicPr>
          <p:nvPr/>
        </p:nvPicPr>
        <p:blipFill>
          <a:blip r:embed="rId3"/>
          <a:stretch>
            <a:fillRect/>
          </a:stretch>
        </p:blipFill>
        <p:spPr>
          <a:xfrm>
            <a:off x="548640" y="2067687"/>
            <a:ext cx="11064240" cy="35455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4 — The control board (what it shows and how to read it)</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https://vigisalud-malaria.vercel.app/calidad.html · bilingual · regenerated from the evidence after every run</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Mauricio Zegarra</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15</a:t>
            </a:r>
          </a:p>
        </p:txBody>
      </p:sp>
      <p:pic>
        <p:nvPicPr>
          <p:cNvPr id="7" name="Picture 6" descr="en-calidad-inicio.jpg"/>
          <p:cNvPicPr>
            <a:picLocks noChangeAspect="1"/>
          </p:cNvPicPr>
          <p:nvPr/>
        </p:nvPicPr>
        <p:blipFill>
          <a:blip r:embed="rId3"/>
          <a:stretch>
            <a:fillRect/>
          </a:stretch>
        </p:blipFill>
        <p:spPr>
          <a:xfrm>
            <a:off x="548640" y="1725930"/>
            <a:ext cx="6766560" cy="4229100"/>
          </a:xfrm>
          <a:prstGeom prst="rect">
            <a:avLst/>
          </a:prstGeom>
          <a:ln w="9525">
            <a:solidFill>
              <a:srgbClr val="D0D7DE"/>
            </a:solidFill>
          </a:ln>
        </p:spPr>
      </p:pic>
      <p:sp>
        <p:nvSpPr>
          <p:cNvPr id="8" name="TextBox 7"/>
          <p:cNvSpPr txBox="1"/>
          <p:nvPr/>
        </p:nvSpPr>
        <p:spPr>
          <a:xfrm>
            <a:off x="7543800" y="1463040"/>
            <a:ext cx="4114800" cy="4846320"/>
          </a:xfrm>
          <a:prstGeom prst="rect">
            <a:avLst/>
          </a:prstGeom>
          <a:noFill/>
        </p:spPr>
        <p:txBody>
          <a:bodyPr wrap="square">
            <a:spAutoFit/>
          </a:bodyPr>
          <a:lstStyle/>
          <a:p>
            <a:pPr>
              <a:spcAft>
                <a:spcPts val="900"/>
              </a:spcAft>
            </a:pPr>
            <a:r>
              <a:rPr sz="1500">
                <a:solidFill>
                  <a:srgbClr val="7A1F2B"/>
                </a:solidFill>
                <a:latin typeface="Calibri"/>
              </a:rPr>
              <a:t>▪  </a:t>
            </a:r>
            <a:r>
              <a:rPr sz="1500" b="1">
                <a:solidFill>
                  <a:srgbClr val="1F2328"/>
                </a:solidFill>
                <a:latin typeface="Calibri"/>
              </a:rPr>
              <a:t>Status:</a:t>
            </a:r>
            <a:r>
              <a:rPr sz="1500">
                <a:solidFill>
                  <a:srgbClr val="1F2328"/>
                </a:solidFill>
                <a:latin typeface="Calibri"/>
              </a:rPr>
              <a:t> approved / rejected / pending / N/A</a:t>
            </a:r>
          </a:p>
          <a:p>
            <a:pPr>
              <a:spcAft>
                <a:spcPts val="900"/>
              </a:spcAft>
            </a:pPr>
            <a:r>
              <a:rPr sz="1500">
                <a:solidFill>
                  <a:srgbClr val="7A1F2B"/>
                </a:solidFill>
                <a:latin typeface="Calibri"/>
              </a:rPr>
              <a:t>▪  </a:t>
            </a:r>
            <a:r>
              <a:rPr sz="1500" b="1">
                <a:solidFill>
                  <a:srgbClr val="1F2328"/>
                </a:solidFill>
                <a:latin typeface="Calibri"/>
              </a:rPr>
              <a:t>Score per characteristic:</a:t>
            </a:r>
            <a:r>
              <a:rPr sz="1500">
                <a:solidFill>
                  <a:srgbClr val="1F2328"/>
                </a:solidFill>
                <a:latin typeface="Calibri"/>
              </a:rPr>
              <a:t> Calabrese scale</a:t>
            </a:r>
          </a:p>
          <a:p>
            <a:pPr>
              <a:spcAft>
                <a:spcPts val="900"/>
              </a:spcAft>
            </a:pPr>
            <a:r>
              <a:rPr sz="1500">
                <a:solidFill>
                  <a:srgbClr val="7A1F2B"/>
                </a:solidFill>
                <a:latin typeface="Calibri"/>
              </a:rPr>
              <a:t>▪  </a:t>
            </a:r>
            <a:r>
              <a:rPr sz="1500" b="1">
                <a:solidFill>
                  <a:srgbClr val="1F2328"/>
                </a:solidFill>
                <a:latin typeface="Calibri"/>
              </a:rPr>
              <a:t>Metric detail:</a:t>
            </a:r>
            <a:r>
              <a:rPr sz="1500">
                <a:solidFill>
                  <a:srgbClr val="1F2328"/>
                </a:solidFill>
                <a:latin typeface="Calibri"/>
              </a:rPr>
              <a:t> A, B, X, threshold, evidence link</a:t>
            </a:r>
          </a:p>
          <a:p>
            <a:pPr>
              <a:spcAft>
                <a:spcPts val="900"/>
              </a:spcAft>
            </a:pPr>
            <a:r>
              <a:rPr sz="1500">
                <a:solidFill>
                  <a:srgbClr val="7A1F2B"/>
                </a:solidFill>
                <a:latin typeface="Calibri"/>
              </a:rPr>
              <a:t>▪  </a:t>
            </a:r>
            <a:r>
              <a:rPr sz="1500" b="1">
                <a:solidFill>
                  <a:srgbClr val="1F2328"/>
                </a:solidFill>
                <a:latin typeface="Calibri"/>
              </a:rPr>
              <a:t>Requirement coverage:</a:t>
            </a:r>
            <a:r>
              <a:rPr sz="1500">
                <a:solidFill>
                  <a:srgbClr val="1F2328"/>
                </a:solidFill>
                <a:latin typeface="Calibri"/>
              </a:rPr>
              <a:t> 15 RF + 14 RNF</a:t>
            </a:r>
          </a:p>
          <a:p>
            <a:pPr>
              <a:spcAft>
                <a:spcPts val="900"/>
              </a:spcAft>
            </a:pPr>
            <a:r>
              <a:rPr sz="1500">
                <a:solidFill>
                  <a:srgbClr val="7A1F2B"/>
                </a:solidFill>
                <a:latin typeface="Calibri"/>
              </a:rPr>
              <a:t>▪  </a:t>
            </a:r>
            <a:r>
              <a:rPr sz="1500" b="1">
                <a:solidFill>
                  <a:srgbClr val="1F2328"/>
                </a:solidFill>
                <a:latin typeface="Calibri"/>
              </a:rPr>
              <a:t>Incidents:</a:t>
            </a:r>
            <a:r>
              <a:rPr sz="1500">
                <a:solidFill>
                  <a:srgbClr val="1F2328"/>
                </a:solidFill>
                <a:latin typeface="Calibri"/>
              </a:rPr>
              <a:t> by origin and state</a:t>
            </a:r>
          </a:p>
          <a:p>
            <a:pPr>
              <a:spcAft>
                <a:spcPts val="900"/>
              </a:spcAft>
            </a:pPr>
            <a:r>
              <a:rPr sz="1500">
                <a:solidFill>
                  <a:srgbClr val="7A1F2B"/>
                </a:solidFill>
                <a:latin typeface="Calibri"/>
              </a:rPr>
              <a:t>▪  </a:t>
            </a:r>
            <a:r>
              <a:rPr sz="1500" b="1">
                <a:solidFill>
                  <a:srgbClr val="1F2328"/>
                </a:solidFill>
                <a:latin typeface="Calibri"/>
              </a:rPr>
              <a:t>Evolution:</a:t>
            </a:r>
            <a:r>
              <a:rPr sz="1500">
                <a:solidFill>
                  <a:srgbClr val="1F2328"/>
                </a:solidFill>
                <a:latin typeface="Calibri"/>
              </a:rPr>
              <a:t> runs 01 → 09</a:t>
            </a:r>
          </a:p>
          <a:p>
            <a:pPr>
              <a:spcAft>
                <a:spcPts val="900"/>
              </a:spcAft>
            </a:pPr>
            <a:r>
              <a:rPr sz="1500">
                <a:solidFill>
                  <a:srgbClr val="7A1F2B"/>
                </a:solidFill>
                <a:latin typeface="Calibri"/>
              </a:rPr>
              <a:t>▪  </a:t>
            </a:r>
            <a:r>
              <a:rPr sz="1500" b="1">
                <a:solidFill>
                  <a:srgbClr val="1F2328"/>
                </a:solidFill>
                <a:latin typeface="Calibri"/>
              </a:rPr>
              <a:t>Evidence:</a:t>
            </a:r>
            <a:r>
              <a:rPr sz="1500">
                <a:solidFill>
                  <a:srgbClr val="1F2328"/>
                </a:solidFill>
                <a:latin typeface="Calibri"/>
              </a:rPr>
              <a:t> screenshots of the last run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Point 4 — Board detail: metrics and incidents</a:t>
            </a:r>
          </a:p>
        </p:txBody>
      </p:sp>
      <p:sp>
        <p:nvSpPr>
          <p:cNvPr id="4" name="TextBox 3"/>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Mauricio Zegarra</a:t>
            </a:r>
          </a:p>
        </p:txBody>
      </p:sp>
      <p:sp>
        <p:nvSpPr>
          <p:cNvPr id="5" name="TextBox 4"/>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16</a:t>
            </a:r>
          </a:p>
        </p:txBody>
      </p:sp>
      <p:pic>
        <p:nvPicPr>
          <p:cNvPr id="6" name="Picture 5" descr="en-calidad-metricas.jpg"/>
          <p:cNvPicPr>
            <a:picLocks noChangeAspect="1"/>
          </p:cNvPicPr>
          <p:nvPr/>
        </p:nvPicPr>
        <p:blipFill>
          <a:blip r:embed="rId3"/>
          <a:stretch>
            <a:fillRect/>
          </a:stretch>
        </p:blipFill>
        <p:spPr>
          <a:xfrm>
            <a:off x="1648410" y="1280160"/>
            <a:ext cx="3286859" cy="4937760"/>
          </a:xfrm>
          <a:prstGeom prst="rect">
            <a:avLst/>
          </a:prstGeom>
          <a:ln w="9525">
            <a:solidFill>
              <a:srgbClr val="D0D7DE"/>
            </a:solidFill>
          </a:ln>
        </p:spPr>
      </p:pic>
      <p:pic>
        <p:nvPicPr>
          <p:cNvPr id="7" name="Picture 6" descr="en-calidad-incidentes.jpg"/>
          <p:cNvPicPr>
            <a:picLocks noChangeAspect="1"/>
          </p:cNvPicPr>
          <p:nvPr/>
        </p:nvPicPr>
        <p:blipFill>
          <a:blip r:embed="rId4"/>
          <a:stretch>
            <a:fillRect/>
          </a:stretch>
        </p:blipFill>
        <p:spPr>
          <a:xfrm>
            <a:off x="6172200" y="2103120"/>
            <a:ext cx="5486400" cy="3291840"/>
          </a:xfrm>
          <a:prstGeom prst="rect">
            <a:avLst/>
          </a:prstGeom>
          <a:ln w="9525">
            <a:solidFill>
              <a:srgbClr val="D0D7DE"/>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Evolution on the control board</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The board keeps every run: status per metric, conditions and the version evaluated</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Mauricio Zegarra</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17</a:t>
            </a:r>
          </a:p>
        </p:txBody>
      </p:sp>
      <p:pic>
        <p:nvPicPr>
          <p:cNvPr id="7" name="Picture 6" descr="en-calidad-evolucion.jpg"/>
          <p:cNvPicPr>
            <a:picLocks noChangeAspect="1"/>
          </p:cNvPicPr>
          <p:nvPr/>
        </p:nvPicPr>
        <p:blipFill>
          <a:blip r:embed="rId3"/>
          <a:stretch>
            <a:fillRect/>
          </a:stretch>
        </p:blipFill>
        <p:spPr>
          <a:xfrm>
            <a:off x="2112347" y="1417320"/>
            <a:ext cx="7936825" cy="4754880"/>
          </a:xfrm>
          <a:prstGeom prst="rect">
            <a:avLst/>
          </a:prstGeom>
          <a:ln w="9525">
            <a:solidFill>
              <a:srgbClr val="D0D7DE"/>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Results across the runs</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Approved metrics per run: 18 → 24 → 24 → 24 → 25 → 25 → 25 → 25 → 25 (of 25) · automated tests: 40/51 → 51/51</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Daniel Chura</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18</a:t>
            </a:r>
          </a:p>
        </p:txBody>
      </p:sp>
      <p:graphicFrame>
        <p:nvGraphicFramePr>
          <p:cNvPr id="7" name="Table 6"/>
          <p:cNvGraphicFramePr>
            <a:graphicFrameLocks noGrp="1"/>
          </p:cNvGraphicFramePr>
          <p:nvPr/>
        </p:nvGraphicFramePr>
        <p:xfrm>
          <a:off x="548640" y="1417320"/>
          <a:ext cx="11064234" cy="3017520"/>
        </p:xfrm>
        <a:graphic>
          <a:graphicData uri="http://schemas.openxmlformats.org/drawingml/2006/table">
            <a:tbl>
              <a:tblPr firstRow="1" bandRow="1">
                <a:tableStyleId>{5C22544A-7EE6-4342-B048-85BDC9FD1C3A}</a:tableStyleId>
              </a:tblPr>
              <a:tblGrid>
                <a:gridCol w="722562">
                  <a:extLst>
                    <a:ext uri="{9D8B030D-6E8A-4147-A177-3AD203B41FA5}">
                      <a16:colId xmlns:a16="http://schemas.microsoft.com/office/drawing/2014/main" val="20000"/>
                    </a:ext>
                  </a:extLst>
                </a:gridCol>
                <a:gridCol w="2890250">
                  <a:extLst>
                    <a:ext uri="{9D8B030D-6E8A-4147-A177-3AD203B41FA5}">
                      <a16:colId xmlns:a16="http://schemas.microsoft.com/office/drawing/2014/main" val="20001"/>
                    </a:ext>
                  </a:extLst>
                </a:gridCol>
                <a:gridCol w="1354804">
                  <a:extLst>
                    <a:ext uri="{9D8B030D-6E8A-4147-A177-3AD203B41FA5}">
                      <a16:colId xmlns:a16="http://schemas.microsoft.com/office/drawing/2014/main" val="20002"/>
                    </a:ext>
                  </a:extLst>
                </a:gridCol>
                <a:gridCol w="677402">
                  <a:extLst>
                    <a:ext uri="{9D8B030D-6E8A-4147-A177-3AD203B41FA5}">
                      <a16:colId xmlns:a16="http://schemas.microsoft.com/office/drawing/2014/main" val="20003"/>
                    </a:ext>
                  </a:extLst>
                </a:gridCol>
                <a:gridCol w="677402">
                  <a:extLst>
                    <a:ext uri="{9D8B030D-6E8A-4147-A177-3AD203B41FA5}">
                      <a16:colId xmlns:a16="http://schemas.microsoft.com/office/drawing/2014/main" val="20004"/>
                    </a:ext>
                  </a:extLst>
                </a:gridCol>
                <a:gridCol w="677402">
                  <a:extLst>
                    <a:ext uri="{9D8B030D-6E8A-4147-A177-3AD203B41FA5}">
                      <a16:colId xmlns:a16="http://schemas.microsoft.com/office/drawing/2014/main" val="20005"/>
                    </a:ext>
                  </a:extLst>
                </a:gridCol>
                <a:gridCol w="677402">
                  <a:extLst>
                    <a:ext uri="{9D8B030D-6E8A-4147-A177-3AD203B41FA5}">
                      <a16:colId xmlns:a16="http://schemas.microsoft.com/office/drawing/2014/main" val="20006"/>
                    </a:ext>
                  </a:extLst>
                </a:gridCol>
                <a:gridCol w="677402">
                  <a:extLst>
                    <a:ext uri="{9D8B030D-6E8A-4147-A177-3AD203B41FA5}">
                      <a16:colId xmlns:a16="http://schemas.microsoft.com/office/drawing/2014/main" val="20007"/>
                    </a:ext>
                  </a:extLst>
                </a:gridCol>
                <a:gridCol w="677402">
                  <a:extLst>
                    <a:ext uri="{9D8B030D-6E8A-4147-A177-3AD203B41FA5}">
                      <a16:colId xmlns:a16="http://schemas.microsoft.com/office/drawing/2014/main" val="20008"/>
                    </a:ext>
                  </a:extLst>
                </a:gridCol>
                <a:gridCol w="677402">
                  <a:extLst>
                    <a:ext uri="{9D8B030D-6E8A-4147-A177-3AD203B41FA5}">
                      <a16:colId xmlns:a16="http://schemas.microsoft.com/office/drawing/2014/main" val="20009"/>
                    </a:ext>
                  </a:extLst>
                </a:gridCol>
                <a:gridCol w="677402">
                  <a:extLst>
                    <a:ext uri="{9D8B030D-6E8A-4147-A177-3AD203B41FA5}">
                      <a16:colId xmlns:a16="http://schemas.microsoft.com/office/drawing/2014/main" val="20010"/>
                    </a:ext>
                  </a:extLst>
                </a:gridCol>
                <a:gridCol w="677402">
                  <a:extLst>
                    <a:ext uri="{9D8B030D-6E8A-4147-A177-3AD203B41FA5}">
                      <a16:colId xmlns:a16="http://schemas.microsoft.com/office/drawing/2014/main" val="20011"/>
                    </a:ext>
                  </a:extLst>
                </a:gridCol>
              </a:tblGrid>
              <a:tr h="274320">
                <a:tc>
                  <a:txBody>
                    <a:bodyPr/>
                    <a:lstStyle/>
                    <a:p>
                      <a:r>
                        <a:rPr sz="1200" b="1">
                          <a:solidFill>
                            <a:srgbClr val="FFFFFF"/>
                          </a:solidFill>
                          <a:latin typeface="Calibri"/>
                        </a:rPr>
                        <a:t>ID</a:t>
                      </a:r>
                    </a:p>
                  </a:txBody>
                  <a:tcPr marL="54864" marR="54864" marT="18288" marB="18288">
                    <a:solidFill>
                      <a:srgbClr val="7A1F2B"/>
                    </a:solidFill>
                  </a:tcPr>
                </a:tc>
                <a:tc>
                  <a:txBody>
                    <a:bodyPr/>
                    <a:lstStyle/>
                    <a:p>
                      <a:r>
                        <a:rPr sz="1200" b="1">
                          <a:solidFill>
                            <a:srgbClr val="FFFFFF"/>
                          </a:solidFill>
                          <a:latin typeface="Calibri"/>
                        </a:rPr>
                        <a:t>Metric</a:t>
                      </a:r>
                    </a:p>
                  </a:txBody>
                  <a:tcPr marL="54864" marR="54864" marT="18288" marB="18288">
                    <a:solidFill>
                      <a:srgbClr val="7A1F2B"/>
                    </a:solidFill>
                  </a:tcPr>
                </a:tc>
                <a:tc>
                  <a:txBody>
                    <a:bodyPr/>
                    <a:lstStyle/>
                    <a:p>
                      <a:r>
                        <a:rPr sz="1200" b="1">
                          <a:solidFill>
                            <a:srgbClr val="FFFFFF"/>
                          </a:solidFill>
                          <a:latin typeface="Calibri"/>
                        </a:rPr>
                        <a:t>Threshold</a:t>
                      </a:r>
                    </a:p>
                  </a:txBody>
                  <a:tcPr marL="54864" marR="54864" marT="18288" marB="18288">
                    <a:solidFill>
                      <a:srgbClr val="7A1F2B"/>
                    </a:solidFill>
                  </a:tcPr>
                </a:tc>
                <a:tc>
                  <a:txBody>
                    <a:bodyPr/>
                    <a:lstStyle/>
                    <a:p>
                      <a:r>
                        <a:rPr sz="1200" b="1">
                          <a:solidFill>
                            <a:srgbClr val="FFFFFF"/>
                          </a:solidFill>
                          <a:latin typeface="Calibri"/>
                        </a:rPr>
                        <a:t>01</a:t>
                      </a:r>
                    </a:p>
                  </a:txBody>
                  <a:tcPr marL="54864" marR="54864" marT="18288" marB="18288">
                    <a:solidFill>
                      <a:srgbClr val="7A1F2B"/>
                    </a:solidFill>
                  </a:tcPr>
                </a:tc>
                <a:tc>
                  <a:txBody>
                    <a:bodyPr/>
                    <a:lstStyle/>
                    <a:p>
                      <a:r>
                        <a:rPr sz="1200" b="1">
                          <a:solidFill>
                            <a:srgbClr val="FFFFFF"/>
                          </a:solidFill>
                          <a:latin typeface="Calibri"/>
                        </a:rPr>
                        <a:t>02</a:t>
                      </a:r>
                    </a:p>
                  </a:txBody>
                  <a:tcPr marL="54864" marR="54864" marT="18288" marB="18288">
                    <a:solidFill>
                      <a:srgbClr val="7A1F2B"/>
                    </a:solidFill>
                  </a:tcPr>
                </a:tc>
                <a:tc>
                  <a:txBody>
                    <a:bodyPr/>
                    <a:lstStyle/>
                    <a:p>
                      <a:r>
                        <a:rPr sz="1200" b="1">
                          <a:solidFill>
                            <a:srgbClr val="FFFFFF"/>
                          </a:solidFill>
                          <a:latin typeface="Calibri"/>
                        </a:rPr>
                        <a:t>03</a:t>
                      </a:r>
                    </a:p>
                  </a:txBody>
                  <a:tcPr marL="54864" marR="54864" marT="18288" marB="18288">
                    <a:solidFill>
                      <a:srgbClr val="7A1F2B"/>
                    </a:solidFill>
                  </a:tcPr>
                </a:tc>
                <a:tc>
                  <a:txBody>
                    <a:bodyPr/>
                    <a:lstStyle/>
                    <a:p>
                      <a:r>
                        <a:rPr sz="1200" b="1">
                          <a:solidFill>
                            <a:srgbClr val="FFFFFF"/>
                          </a:solidFill>
                          <a:latin typeface="Calibri"/>
                        </a:rPr>
                        <a:t>04</a:t>
                      </a:r>
                    </a:p>
                  </a:txBody>
                  <a:tcPr marL="54864" marR="54864" marT="18288" marB="18288">
                    <a:solidFill>
                      <a:srgbClr val="7A1F2B"/>
                    </a:solidFill>
                  </a:tcPr>
                </a:tc>
                <a:tc>
                  <a:txBody>
                    <a:bodyPr/>
                    <a:lstStyle/>
                    <a:p>
                      <a:r>
                        <a:rPr sz="1200" b="1">
                          <a:solidFill>
                            <a:srgbClr val="FFFFFF"/>
                          </a:solidFill>
                          <a:latin typeface="Calibri"/>
                        </a:rPr>
                        <a:t>05</a:t>
                      </a:r>
                    </a:p>
                  </a:txBody>
                  <a:tcPr marL="54864" marR="54864" marT="18288" marB="18288">
                    <a:solidFill>
                      <a:srgbClr val="7A1F2B"/>
                    </a:solidFill>
                  </a:tcPr>
                </a:tc>
                <a:tc>
                  <a:txBody>
                    <a:bodyPr/>
                    <a:lstStyle/>
                    <a:p>
                      <a:r>
                        <a:rPr sz="1200" b="1">
                          <a:solidFill>
                            <a:srgbClr val="FFFFFF"/>
                          </a:solidFill>
                          <a:latin typeface="Calibri"/>
                        </a:rPr>
                        <a:t>06</a:t>
                      </a:r>
                    </a:p>
                  </a:txBody>
                  <a:tcPr marL="54864" marR="54864" marT="18288" marB="18288">
                    <a:solidFill>
                      <a:srgbClr val="7A1F2B"/>
                    </a:solidFill>
                  </a:tcPr>
                </a:tc>
                <a:tc>
                  <a:txBody>
                    <a:bodyPr/>
                    <a:lstStyle/>
                    <a:p>
                      <a:r>
                        <a:rPr sz="1200" b="1">
                          <a:solidFill>
                            <a:srgbClr val="FFFFFF"/>
                          </a:solidFill>
                          <a:latin typeface="Calibri"/>
                        </a:rPr>
                        <a:t>07</a:t>
                      </a:r>
                    </a:p>
                  </a:txBody>
                  <a:tcPr marL="54864" marR="54864" marT="18288" marB="18288">
                    <a:solidFill>
                      <a:srgbClr val="7A1F2B"/>
                    </a:solidFill>
                  </a:tcPr>
                </a:tc>
                <a:tc>
                  <a:txBody>
                    <a:bodyPr/>
                    <a:lstStyle/>
                    <a:p>
                      <a:r>
                        <a:rPr sz="1200" b="1">
                          <a:solidFill>
                            <a:srgbClr val="FFFFFF"/>
                          </a:solidFill>
                          <a:latin typeface="Calibri"/>
                        </a:rPr>
                        <a:t>08</a:t>
                      </a:r>
                    </a:p>
                  </a:txBody>
                  <a:tcPr marL="54864" marR="54864" marT="18288" marB="18288">
                    <a:solidFill>
                      <a:srgbClr val="7A1F2B"/>
                    </a:solidFill>
                  </a:tcPr>
                </a:tc>
                <a:tc>
                  <a:txBody>
                    <a:bodyPr/>
                    <a:lstStyle/>
                    <a:p>
                      <a:r>
                        <a:rPr sz="1200" b="1">
                          <a:solidFill>
                            <a:srgbClr val="FFFFFF"/>
                          </a:solidFill>
                          <a:latin typeface="Calibri"/>
                        </a:rPr>
                        <a:t>09</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200" b="0">
                          <a:solidFill>
                            <a:srgbClr val="1F2328"/>
                          </a:solidFill>
                          <a:latin typeface="Calibri"/>
                        </a:rPr>
                        <a:t>IF-01</a:t>
                      </a:r>
                    </a:p>
                  </a:txBody>
                  <a:tcPr marL="54864" marR="54864" marT="18288" marB="18288">
                    <a:solidFill>
                      <a:srgbClr val="FFFFFF"/>
                    </a:solidFill>
                  </a:tcPr>
                </a:tc>
                <a:tc>
                  <a:txBody>
                    <a:bodyPr/>
                    <a:lstStyle/>
                    <a:p>
                      <a:r>
                        <a:rPr sz="1200" b="0">
                          <a:solidFill>
                            <a:srgbClr val="1F2328"/>
                          </a:solidFill>
                          <a:latin typeface="Calibri"/>
                        </a:rPr>
                        <a:t>Functional requirement coverage</a:t>
                      </a:r>
                    </a:p>
                  </a:txBody>
                  <a:tcPr marL="54864" marR="54864" marT="18288" marB="18288">
                    <a:solidFill>
                      <a:srgbClr val="FFFFFF"/>
                    </a:solidFill>
                  </a:tcPr>
                </a:tc>
                <a:tc>
                  <a:txBody>
                    <a:bodyPr/>
                    <a:lstStyle/>
                    <a:p>
                      <a:r>
                        <a:rPr sz="1200" b="0">
                          <a:solidFill>
                            <a:srgbClr val="1F2328"/>
                          </a:solidFill>
                          <a:latin typeface="Calibri"/>
                        </a:rPr>
                        <a:t>≥ 95 %</a:t>
                      </a:r>
                    </a:p>
                  </a:txBody>
                  <a:tcPr marL="54864" marR="54864" marT="18288" marB="18288">
                    <a:solidFill>
                      <a:srgbClr val="FFFFFF"/>
                    </a:solidFill>
                  </a:tcPr>
                </a:tc>
                <a:tc>
                  <a:txBody>
                    <a:bodyPr/>
                    <a:lstStyle/>
                    <a:p>
                      <a:r>
                        <a:rPr sz="1200" b="0">
                          <a:solidFill>
                            <a:srgbClr val="1F2328"/>
                          </a:solidFill>
                          <a:latin typeface="Calibri"/>
                        </a:rPr>
                        <a:t>93.3 ✗</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200" b="0">
                          <a:solidFill>
                            <a:srgbClr val="1F2328"/>
                          </a:solidFill>
                          <a:latin typeface="Calibri"/>
                        </a:rPr>
                        <a:t>IF-02</a:t>
                      </a:r>
                    </a:p>
                  </a:txBody>
                  <a:tcPr marL="54864" marR="54864" marT="18288" marB="18288">
                    <a:solidFill>
                      <a:srgbClr val="F6F4F2"/>
                    </a:solidFill>
                  </a:tcPr>
                </a:tc>
                <a:tc>
                  <a:txBody>
                    <a:bodyPr/>
                    <a:lstStyle/>
                    <a:p>
                      <a:r>
                        <a:rPr sz="1200" b="0">
                          <a:solidFill>
                            <a:srgbClr val="1F2328"/>
                          </a:solidFill>
                          <a:latin typeface="Calibri"/>
                        </a:rPr>
                        <a:t>Accuracy against the official oracle</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200" b="0">
                          <a:solidFill>
                            <a:srgbClr val="1F2328"/>
                          </a:solidFill>
                          <a:latin typeface="Calibri"/>
                        </a:rPr>
                        <a:t>ED-01</a:t>
                      </a:r>
                    </a:p>
                  </a:txBody>
                  <a:tcPr marL="54864" marR="54864" marT="18288" marB="18288">
                    <a:solidFill>
                      <a:srgbClr val="FFFFFF"/>
                    </a:solidFill>
                  </a:tcPr>
                </a:tc>
                <a:tc>
                  <a:txBody>
                    <a:bodyPr/>
                    <a:lstStyle/>
                    <a:p>
                      <a:r>
                        <a:rPr sz="1200" b="0">
                          <a:solidFill>
                            <a:srgbClr val="1F2328"/>
                          </a:solidFill>
                          <a:latin typeface="Calibri"/>
                        </a:rPr>
                        <a:t>Largest Contentful Paint (mobile)</a:t>
                      </a:r>
                    </a:p>
                  </a:txBody>
                  <a:tcPr marL="54864" marR="54864" marT="18288" marB="18288">
                    <a:solidFill>
                      <a:srgbClr val="FFFFFF"/>
                    </a:solidFill>
                  </a:tcPr>
                </a:tc>
                <a:tc>
                  <a:txBody>
                    <a:bodyPr/>
                    <a:lstStyle/>
                    <a:p>
                      <a:r>
                        <a:rPr sz="1200" b="0">
                          <a:solidFill>
                            <a:srgbClr val="1F2328"/>
                          </a:solidFill>
                          <a:latin typeface="Calibri"/>
                        </a:rPr>
                        <a:t>≤ 2.5 s</a:t>
                      </a:r>
                    </a:p>
                  </a:txBody>
                  <a:tcPr marL="54864" marR="54864" marT="18288" marB="18288">
                    <a:solidFill>
                      <a:srgbClr val="FFFFFF"/>
                    </a:solidFill>
                  </a:tcPr>
                </a:tc>
                <a:tc>
                  <a:txBody>
                    <a:bodyPr/>
                    <a:lstStyle/>
                    <a:p>
                      <a:r>
                        <a:rPr sz="1200" b="0">
                          <a:solidFill>
                            <a:srgbClr val="1F2328"/>
                          </a:solidFill>
                          <a:latin typeface="Calibri"/>
                        </a:rPr>
                        <a:t>3.29 ✗</a:t>
                      </a:r>
                    </a:p>
                  </a:txBody>
                  <a:tcPr marL="54864" marR="54864" marT="18288" marB="18288">
                    <a:solidFill>
                      <a:srgbClr val="FFFFFF"/>
                    </a:solidFill>
                  </a:tcPr>
                </a:tc>
                <a:tc>
                  <a:txBody>
                    <a:bodyPr/>
                    <a:lstStyle/>
                    <a:p>
                      <a:r>
                        <a:rPr sz="1200" b="0">
                          <a:solidFill>
                            <a:srgbClr val="1F2328"/>
                          </a:solidFill>
                          <a:latin typeface="Calibri"/>
                        </a:rPr>
                        <a:t>2.48</a:t>
                      </a:r>
                    </a:p>
                  </a:txBody>
                  <a:tcPr marL="54864" marR="54864" marT="18288" marB="18288">
                    <a:solidFill>
                      <a:srgbClr val="FFFFFF"/>
                    </a:solidFill>
                  </a:tcPr>
                </a:tc>
                <a:tc>
                  <a:txBody>
                    <a:bodyPr/>
                    <a:lstStyle/>
                    <a:p>
                      <a:r>
                        <a:rPr sz="1200" b="0">
                          <a:solidFill>
                            <a:srgbClr val="1F2328"/>
                          </a:solidFill>
                          <a:latin typeface="Calibri"/>
                        </a:rPr>
                        <a:t>2.56 ✗</a:t>
                      </a:r>
                    </a:p>
                  </a:txBody>
                  <a:tcPr marL="54864" marR="54864" marT="18288" marB="18288">
                    <a:solidFill>
                      <a:srgbClr val="FFFFFF"/>
                    </a:solidFill>
                  </a:tcPr>
                </a:tc>
                <a:tc>
                  <a:txBody>
                    <a:bodyPr/>
                    <a:lstStyle/>
                    <a:p>
                      <a:r>
                        <a:rPr sz="1200" b="0">
                          <a:solidFill>
                            <a:srgbClr val="1F2328"/>
                          </a:solidFill>
                          <a:latin typeface="Calibri"/>
                        </a:rPr>
                        <a:t>2.55 ✗</a:t>
                      </a:r>
                    </a:p>
                  </a:txBody>
                  <a:tcPr marL="54864" marR="54864" marT="18288" marB="18288">
                    <a:solidFill>
                      <a:srgbClr val="FFFFFF"/>
                    </a:solidFill>
                  </a:tcPr>
                </a:tc>
                <a:tc>
                  <a:txBody>
                    <a:bodyPr/>
                    <a:lstStyle/>
                    <a:p>
                      <a:r>
                        <a:rPr sz="1200" b="0">
                          <a:solidFill>
                            <a:srgbClr val="1F2328"/>
                          </a:solidFill>
                          <a:latin typeface="Calibri"/>
                        </a:rPr>
                        <a:t>0.98</a:t>
                      </a:r>
                    </a:p>
                  </a:txBody>
                  <a:tcPr marL="54864" marR="54864" marT="18288" marB="18288">
                    <a:solidFill>
                      <a:srgbClr val="FFFFFF"/>
                    </a:solidFill>
                  </a:tcPr>
                </a:tc>
                <a:tc>
                  <a:txBody>
                    <a:bodyPr/>
                    <a:lstStyle/>
                    <a:p>
                      <a:r>
                        <a:rPr sz="1200" b="0">
                          <a:solidFill>
                            <a:srgbClr val="1F2328"/>
                          </a:solidFill>
                          <a:latin typeface="Calibri"/>
                        </a:rPr>
                        <a:t>0.98</a:t>
                      </a:r>
                    </a:p>
                  </a:txBody>
                  <a:tcPr marL="54864" marR="54864" marT="18288" marB="18288">
                    <a:solidFill>
                      <a:srgbClr val="FFFFFF"/>
                    </a:solidFill>
                  </a:tcPr>
                </a:tc>
                <a:tc>
                  <a:txBody>
                    <a:bodyPr/>
                    <a:lstStyle/>
                    <a:p>
                      <a:r>
                        <a:rPr sz="1200" b="0">
                          <a:solidFill>
                            <a:srgbClr val="1F2328"/>
                          </a:solidFill>
                          <a:latin typeface="Calibri"/>
                        </a:rPr>
                        <a:t>0.98</a:t>
                      </a:r>
                    </a:p>
                  </a:txBody>
                  <a:tcPr marL="54864" marR="54864" marT="18288" marB="18288">
                    <a:solidFill>
                      <a:srgbClr val="FFFFFF"/>
                    </a:solidFill>
                  </a:tcPr>
                </a:tc>
                <a:tc>
                  <a:txBody>
                    <a:bodyPr/>
                    <a:lstStyle/>
                    <a:p>
                      <a:r>
                        <a:rPr sz="1200" b="0">
                          <a:solidFill>
                            <a:srgbClr val="1F2328"/>
                          </a:solidFill>
                          <a:latin typeface="Calibri"/>
                        </a:rPr>
                        <a:t>0.98</a:t>
                      </a:r>
                    </a:p>
                  </a:txBody>
                  <a:tcPr marL="54864" marR="54864" marT="18288" marB="18288">
                    <a:solidFill>
                      <a:srgbClr val="FFFFFF"/>
                    </a:solidFill>
                  </a:tcPr>
                </a:tc>
                <a:tc>
                  <a:txBody>
                    <a:bodyPr/>
                    <a:lstStyle/>
                    <a:p>
                      <a:r>
                        <a:rPr sz="1200" b="0">
                          <a:solidFill>
                            <a:srgbClr val="1F2328"/>
                          </a:solidFill>
                          <a:latin typeface="Calibri"/>
                        </a:rPr>
                        <a:t>0.98</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200" b="0">
                          <a:solidFill>
                            <a:srgbClr val="1F2328"/>
                          </a:solidFill>
                          <a:latin typeface="Calibri"/>
                        </a:rPr>
                        <a:t>ED-02</a:t>
                      </a:r>
                    </a:p>
                  </a:txBody>
                  <a:tcPr marL="54864" marR="54864" marT="18288" marB="18288">
                    <a:solidFill>
                      <a:srgbClr val="F6F4F2"/>
                    </a:solidFill>
                  </a:tcPr>
                </a:tc>
                <a:tc>
                  <a:txBody>
                    <a:bodyPr/>
                    <a:lstStyle/>
                    <a:p>
                      <a:r>
                        <a:rPr sz="1200" b="0">
                          <a:solidFill>
                            <a:srgbClr val="1F2328"/>
                          </a:solidFill>
                          <a:latin typeface="Calibri"/>
                        </a:rPr>
                        <a:t>Filter response time</a:t>
                      </a:r>
                    </a:p>
                  </a:txBody>
                  <a:tcPr marL="54864" marR="54864" marT="18288" marB="18288">
                    <a:solidFill>
                      <a:srgbClr val="F6F4F2"/>
                    </a:solidFill>
                  </a:tcPr>
                </a:tc>
                <a:tc>
                  <a:txBody>
                    <a:bodyPr/>
                    <a:lstStyle/>
                    <a:p>
                      <a:r>
                        <a:rPr sz="1200" b="0">
                          <a:solidFill>
                            <a:srgbClr val="1F2328"/>
                          </a:solidFill>
                          <a:latin typeface="Calibri"/>
                        </a:rPr>
                        <a:t>≤ 200 ms</a:t>
                      </a:r>
                    </a:p>
                  </a:txBody>
                  <a:tcPr marL="54864" marR="54864" marT="18288" marB="18288">
                    <a:solidFill>
                      <a:srgbClr val="F6F4F2"/>
                    </a:solidFill>
                  </a:tcPr>
                </a:tc>
                <a:tc>
                  <a:txBody>
                    <a:bodyPr/>
                    <a:lstStyle/>
                    <a:p>
                      <a:r>
                        <a:rPr sz="1200" b="0">
                          <a:solidFill>
                            <a:srgbClr val="1F2328"/>
                          </a:solidFill>
                          <a:latin typeface="Calibri"/>
                        </a:rPr>
                        <a:t>42.80</a:t>
                      </a:r>
                    </a:p>
                  </a:txBody>
                  <a:tcPr marL="54864" marR="54864" marT="18288" marB="18288">
                    <a:solidFill>
                      <a:srgbClr val="F6F4F2"/>
                    </a:solidFill>
                  </a:tcPr>
                </a:tc>
                <a:tc>
                  <a:txBody>
                    <a:bodyPr/>
                    <a:lstStyle/>
                    <a:p>
                      <a:r>
                        <a:rPr sz="1200" b="0">
                          <a:solidFill>
                            <a:srgbClr val="1F2328"/>
                          </a:solidFill>
                          <a:latin typeface="Calibri"/>
                        </a:rPr>
                        <a:t>42.40</a:t>
                      </a:r>
                    </a:p>
                  </a:txBody>
                  <a:tcPr marL="54864" marR="54864" marT="18288" marB="18288">
                    <a:solidFill>
                      <a:srgbClr val="F6F4F2"/>
                    </a:solidFill>
                  </a:tcPr>
                </a:tc>
                <a:tc>
                  <a:txBody>
                    <a:bodyPr/>
                    <a:lstStyle/>
                    <a:p>
                      <a:r>
                        <a:rPr sz="1200" b="0">
                          <a:solidFill>
                            <a:srgbClr val="1F2328"/>
                          </a:solidFill>
                          <a:latin typeface="Calibri"/>
                        </a:rPr>
                        <a:t>38.50</a:t>
                      </a:r>
                    </a:p>
                  </a:txBody>
                  <a:tcPr marL="54864" marR="54864" marT="18288" marB="18288">
                    <a:solidFill>
                      <a:srgbClr val="F6F4F2"/>
                    </a:solidFill>
                  </a:tcPr>
                </a:tc>
                <a:tc>
                  <a:txBody>
                    <a:bodyPr/>
                    <a:lstStyle/>
                    <a:p>
                      <a:r>
                        <a:rPr sz="1200" b="0">
                          <a:solidFill>
                            <a:srgbClr val="1F2328"/>
                          </a:solidFill>
                          <a:latin typeface="Calibri"/>
                        </a:rPr>
                        <a:t>38.50</a:t>
                      </a:r>
                    </a:p>
                  </a:txBody>
                  <a:tcPr marL="54864" marR="54864" marT="18288" marB="18288">
                    <a:solidFill>
                      <a:srgbClr val="F6F4F2"/>
                    </a:solidFill>
                  </a:tcPr>
                </a:tc>
                <a:tc>
                  <a:txBody>
                    <a:bodyPr/>
                    <a:lstStyle/>
                    <a:p>
                      <a:r>
                        <a:rPr sz="1200" b="0">
                          <a:solidFill>
                            <a:srgbClr val="1F2328"/>
                          </a:solidFill>
                          <a:latin typeface="Calibri"/>
                        </a:rPr>
                        <a:t>36.90</a:t>
                      </a:r>
                    </a:p>
                  </a:txBody>
                  <a:tcPr marL="54864" marR="54864" marT="18288" marB="18288">
                    <a:solidFill>
                      <a:srgbClr val="F6F4F2"/>
                    </a:solidFill>
                  </a:tcPr>
                </a:tc>
                <a:tc>
                  <a:txBody>
                    <a:bodyPr/>
                    <a:lstStyle/>
                    <a:p>
                      <a:r>
                        <a:rPr sz="1200" b="0">
                          <a:solidFill>
                            <a:srgbClr val="1F2328"/>
                          </a:solidFill>
                          <a:latin typeface="Calibri"/>
                        </a:rPr>
                        <a:t>36.60</a:t>
                      </a:r>
                    </a:p>
                  </a:txBody>
                  <a:tcPr marL="54864" marR="54864" marT="18288" marB="18288">
                    <a:solidFill>
                      <a:srgbClr val="F6F4F2"/>
                    </a:solidFill>
                  </a:tcPr>
                </a:tc>
                <a:tc>
                  <a:txBody>
                    <a:bodyPr/>
                    <a:lstStyle/>
                    <a:p>
                      <a:r>
                        <a:rPr sz="1200" b="0">
                          <a:solidFill>
                            <a:srgbClr val="1F2328"/>
                          </a:solidFill>
                          <a:latin typeface="Calibri"/>
                        </a:rPr>
                        <a:t>37.10</a:t>
                      </a:r>
                    </a:p>
                  </a:txBody>
                  <a:tcPr marL="54864" marR="54864" marT="18288" marB="18288">
                    <a:solidFill>
                      <a:srgbClr val="F6F4F2"/>
                    </a:solidFill>
                  </a:tcPr>
                </a:tc>
                <a:tc>
                  <a:txBody>
                    <a:bodyPr/>
                    <a:lstStyle/>
                    <a:p>
                      <a:r>
                        <a:rPr sz="1200" b="0">
                          <a:solidFill>
                            <a:srgbClr val="1F2328"/>
                          </a:solidFill>
                          <a:latin typeface="Calibri"/>
                        </a:rPr>
                        <a:t>38.80</a:t>
                      </a:r>
                    </a:p>
                  </a:txBody>
                  <a:tcPr marL="54864" marR="54864" marT="18288" marB="18288">
                    <a:solidFill>
                      <a:srgbClr val="F6F4F2"/>
                    </a:solidFill>
                  </a:tcPr>
                </a:tc>
                <a:tc>
                  <a:txBody>
                    <a:bodyPr/>
                    <a:lstStyle/>
                    <a:p>
                      <a:r>
                        <a:rPr sz="1200" b="0">
                          <a:solidFill>
                            <a:srgbClr val="1F2328"/>
                          </a:solidFill>
                          <a:latin typeface="Calibri"/>
                        </a:rPr>
                        <a:t>39.20</a:t>
                      </a:r>
                    </a:p>
                  </a:txBody>
                  <a:tcPr marL="54864" marR="54864" marT="18288" marB="18288">
                    <a:solidFill>
                      <a:srgbClr val="F6F4F2"/>
                    </a:solidFill>
                  </a:tcPr>
                </a:tc>
                <a:extLst>
                  <a:ext uri="{0D108BD9-81ED-4DB2-BD59-A6C34878D82A}">
                    <a16:rowId xmlns:a16="http://schemas.microsoft.com/office/drawing/2014/main" val="10004"/>
                  </a:ext>
                </a:extLst>
              </a:tr>
              <a:tr h="274320">
                <a:tc>
                  <a:txBody>
                    <a:bodyPr/>
                    <a:lstStyle/>
                    <a:p>
                      <a:r>
                        <a:rPr sz="1200" b="0">
                          <a:solidFill>
                            <a:srgbClr val="1F2328"/>
                          </a:solidFill>
                          <a:latin typeface="Calibri"/>
                        </a:rPr>
                        <a:t>CI-03</a:t>
                      </a:r>
                    </a:p>
                  </a:txBody>
                  <a:tcPr marL="54864" marR="54864" marT="18288" marB="18288">
                    <a:solidFill>
                      <a:srgbClr val="FFFFFF"/>
                    </a:solidFill>
                  </a:tcPr>
                </a:tc>
                <a:tc>
                  <a:txBody>
                    <a:bodyPr/>
                    <a:lstStyle/>
                    <a:p>
                      <a:r>
                        <a:rPr sz="1200" b="0">
                          <a:solidFill>
                            <a:srgbClr val="1F2328"/>
                          </a:solidFill>
                          <a:latin typeface="Calibri"/>
                        </a:rPr>
                        <a:t>Serious WCAG violations</a:t>
                      </a:r>
                    </a:p>
                  </a:txBody>
                  <a:tcPr marL="54864" marR="54864" marT="18288" marB="18288">
                    <a:solidFill>
                      <a:srgbClr val="FFFFFF"/>
                    </a:solidFill>
                  </a:tcPr>
                </a:tc>
                <a:tc>
                  <a:txBody>
                    <a:bodyPr/>
                    <a:lstStyle/>
                    <a:p>
                      <a:r>
                        <a:rPr sz="1200" b="0">
                          <a:solidFill>
                            <a:srgbClr val="1F2328"/>
                          </a:solidFill>
                          <a:latin typeface="Calibri"/>
                        </a:rPr>
                        <a:t>≥ 100 %</a:t>
                      </a:r>
                    </a:p>
                  </a:txBody>
                  <a:tcPr marL="54864" marR="54864" marT="18288" marB="18288">
                    <a:solidFill>
                      <a:srgbClr val="FFFFFF"/>
                    </a:solidFill>
                  </a:tcPr>
                </a:tc>
                <a:tc>
                  <a:txBody>
                    <a:bodyPr/>
                    <a:lstStyle/>
                    <a:p>
                      <a:r>
                        <a:rPr sz="1200" b="0">
                          <a:solidFill>
                            <a:srgbClr val="1F2328"/>
                          </a:solidFill>
                          <a:latin typeface="Calibri"/>
                        </a:rPr>
                        <a:t>0.0 ✗</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extLst>
                  <a:ext uri="{0D108BD9-81ED-4DB2-BD59-A6C34878D82A}">
                    <a16:rowId xmlns:a16="http://schemas.microsoft.com/office/drawing/2014/main" val="10005"/>
                  </a:ext>
                </a:extLst>
              </a:tr>
              <a:tr h="274320">
                <a:tc>
                  <a:txBody>
                    <a:bodyPr/>
                    <a:lstStyle/>
                    <a:p>
                      <a:r>
                        <a:rPr sz="1200" b="0">
                          <a:solidFill>
                            <a:srgbClr val="1F2328"/>
                          </a:solidFill>
                          <a:latin typeface="Calibri"/>
                        </a:rPr>
                        <a:t>FI-01</a:t>
                      </a:r>
                    </a:p>
                  </a:txBody>
                  <a:tcPr marL="54864" marR="54864" marT="18288" marB="18288">
                    <a:solidFill>
                      <a:srgbClr val="F6F4F2"/>
                    </a:solidFill>
                  </a:tcPr>
                </a:tc>
                <a:tc>
                  <a:txBody>
                    <a:bodyPr/>
                    <a:lstStyle/>
                    <a:p>
                      <a:r>
                        <a:rPr sz="1200" b="0">
                          <a:solidFill>
                            <a:srgbClr val="1F2328"/>
                          </a:solidFill>
                          <a:latin typeface="Calibri"/>
                        </a:rPr>
                        <a:t>Runs without JavaScript errors</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33.3 ✗</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extLst>
                  <a:ext uri="{0D108BD9-81ED-4DB2-BD59-A6C34878D82A}">
                    <a16:rowId xmlns:a16="http://schemas.microsoft.com/office/drawing/2014/main" val="10006"/>
                  </a:ext>
                </a:extLst>
              </a:tr>
              <a:tr h="274320">
                <a:tc>
                  <a:txBody>
                    <a:bodyPr/>
                    <a:lstStyle/>
                    <a:p>
                      <a:r>
                        <a:rPr sz="1200" b="0">
                          <a:solidFill>
                            <a:srgbClr val="1F2328"/>
                          </a:solidFill>
                          <a:latin typeface="Calibri"/>
                        </a:rPr>
                        <a:t>FI-02</a:t>
                      </a:r>
                    </a:p>
                  </a:txBody>
                  <a:tcPr marL="54864" marR="54864" marT="18288" marB="18288">
                    <a:solidFill>
                      <a:srgbClr val="FFFFFF"/>
                    </a:solidFill>
                  </a:tcPr>
                </a:tc>
                <a:tc>
                  <a:txBody>
                    <a:bodyPr/>
                    <a:lstStyle/>
                    <a:p>
                      <a:r>
                        <a:rPr sz="1200" b="0">
                          <a:solidFill>
                            <a:srgbClr val="1F2328"/>
                          </a:solidFill>
                          <a:latin typeface="Calibri"/>
                        </a:rPr>
                        <a:t>Measured availability</a:t>
                      </a:r>
                    </a:p>
                  </a:txBody>
                  <a:tcPr marL="54864" marR="54864" marT="18288" marB="18288">
                    <a:solidFill>
                      <a:srgbClr val="FFFFFF"/>
                    </a:solidFill>
                  </a:tcPr>
                </a:tc>
                <a:tc>
                  <a:txBody>
                    <a:bodyPr/>
                    <a:lstStyle/>
                    <a:p>
                      <a:r>
                        <a:rPr sz="1200" b="0">
                          <a:solidFill>
                            <a:srgbClr val="1F2328"/>
                          </a:solidFill>
                          <a:latin typeface="Calibri"/>
                        </a:rPr>
                        <a:t>≥ 99 %</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tc>
                  <a:txBody>
                    <a:bodyPr/>
                    <a:lstStyle/>
                    <a:p>
                      <a:r>
                        <a:rPr sz="1200" b="0">
                          <a:solidFill>
                            <a:srgbClr val="1F2328"/>
                          </a:solidFill>
                          <a:latin typeface="Calibri"/>
                        </a:rPr>
                        <a:t>100.0</a:t>
                      </a:r>
                    </a:p>
                  </a:txBody>
                  <a:tcPr marL="54864" marR="54864" marT="18288" marB="18288">
                    <a:solidFill>
                      <a:srgbClr val="FFFFFF"/>
                    </a:solidFill>
                  </a:tcPr>
                </a:tc>
                <a:extLst>
                  <a:ext uri="{0D108BD9-81ED-4DB2-BD59-A6C34878D82A}">
                    <a16:rowId xmlns:a16="http://schemas.microsoft.com/office/drawing/2014/main" val="10007"/>
                  </a:ext>
                </a:extLst>
              </a:tr>
              <a:tr h="274320">
                <a:tc>
                  <a:txBody>
                    <a:bodyPr/>
                    <a:lstStyle/>
                    <a:p>
                      <a:r>
                        <a:rPr sz="1200" b="0">
                          <a:solidFill>
                            <a:srgbClr val="1F2328"/>
                          </a:solidFill>
                          <a:latin typeface="Calibri"/>
                        </a:rPr>
                        <a:t>SE-01</a:t>
                      </a:r>
                    </a:p>
                  </a:txBody>
                  <a:tcPr marL="54864" marR="54864" marT="18288" marB="18288">
                    <a:solidFill>
                      <a:srgbClr val="F6F4F2"/>
                    </a:solidFill>
                  </a:tcPr>
                </a:tc>
                <a:tc>
                  <a:txBody>
                    <a:bodyPr/>
                    <a:lstStyle/>
                    <a:p>
                      <a:r>
                        <a:rPr sz="1200" b="0">
                          <a:solidFill>
                            <a:srgbClr val="1F2328"/>
                          </a:solidFill>
                          <a:latin typeface="Calibri"/>
                        </a:rPr>
                        <a:t>No published microdata</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66.7 ✗</a:t>
                      </a:r>
                    </a:p>
                  </a:txBody>
                  <a:tcPr marL="54864" marR="54864" marT="18288" marB="18288">
                    <a:solidFill>
                      <a:srgbClr val="F6F4F2"/>
                    </a:solidFill>
                  </a:tcPr>
                </a:tc>
                <a:tc>
                  <a:txBody>
                    <a:bodyPr/>
                    <a:lstStyle/>
                    <a:p>
                      <a:r>
                        <a:rPr sz="1200" b="0">
                          <a:solidFill>
                            <a:srgbClr val="1F2328"/>
                          </a:solidFill>
                          <a:latin typeface="Calibri"/>
                        </a:rPr>
                        <a:t>66.7 ✗</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extLst>
                  <a:ext uri="{0D108BD9-81ED-4DB2-BD59-A6C34878D82A}">
                    <a16:rowId xmlns:a16="http://schemas.microsoft.com/office/drawing/2014/main" val="10008"/>
                  </a:ext>
                </a:extLst>
              </a:tr>
              <a:tr h="274320">
                <a:tc>
                  <a:txBody>
                    <a:bodyPr/>
                    <a:lstStyle/>
                    <a:p>
                      <a:r>
                        <a:rPr sz="1200" b="0">
                          <a:solidFill>
                            <a:srgbClr val="1F2328"/>
                          </a:solidFill>
                          <a:latin typeface="Calibri"/>
                        </a:rPr>
                        <a:t>MA-02</a:t>
                      </a:r>
                    </a:p>
                  </a:txBody>
                  <a:tcPr marL="54864" marR="54864" marT="18288" marB="18288">
                    <a:solidFill>
                      <a:srgbClr val="FFFFFF"/>
                    </a:solidFill>
                  </a:tcPr>
                </a:tc>
                <a:tc>
                  <a:txBody>
                    <a:bodyPr/>
                    <a:lstStyle/>
                    <a:p>
                      <a:r>
                        <a:rPr sz="1200" b="0">
                          <a:solidFill>
                            <a:srgbClr val="1F2328"/>
                          </a:solidFill>
                          <a:latin typeface="Calibri"/>
                        </a:rPr>
                        <a:t>Static-analysis issue density</a:t>
                      </a:r>
                    </a:p>
                  </a:txBody>
                  <a:tcPr marL="54864" marR="54864" marT="18288" marB="18288">
                    <a:solidFill>
                      <a:srgbClr val="FFFFFF"/>
                    </a:solidFill>
                  </a:tcPr>
                </a:tc>
                <a:tc>
                  <a:txBody>
                    <a:bodyPr/>
                    <a:lstStyle/>
                    <a:p>
                      <a:r>
                        <a:rPr sz="1200" b="0">
                          <a:solidFill>
                            <a:srgbClr val="1F2328"/>
                          </a:solidFill>
                          <a:latin typeface="Calibri"/>
                        </a:rPr>
                        <a:t>≤ 2 issues/KLOC</a:t>
                      </a:r>
                    </a:p>
                  </a:txBody>
                  <a:tcPr marL="54864" marR="54864" marT="18288" marB="18288">
                    <a:solidFill>
                      <a:srgbClr val="FFFFFF"/>
                    </a:solidFill>
                  </a:tcPr>
                </a:tc>
                <a:tc>
                  <a:txBody>
                    <a:bodyPr/>
                    <a:lstStyle/>
                    <a:p>
                      <a:r>
                        <a:rPr sz="1200" b="0">
                          <a:solidFill>
                            <a:srgbClr val="1F2328"/>
                          </a:solidFill>
                          <a:latin typeface="Calibri"/>
                        </a:rPr>
                        <a:t>3.01 ✗</a:t>
                      </a:r>
                    </a:p>
                  </a:txBody>
                  <a:tcPr marL="54864" marR="54864" marT="18288" marB="18288">
                    <a:solidFill>
                      <a:srgbClr val="FFFFFF"/>
                    </a:solidFill>
                  </a:tcPr>
                </a:tc>
                <a:tc>
                  <a:txBody>
                    <a:bodyPr/>
                    <a:lstStyle/>
                    <a:p>
                      <a:r>
                        <a:rPr sz="1200" b="0">
                          <a:solidFill>
                            <a:srgbClr val="1F2328"/>
                          </a:solidFill>
                          <a:latin typeface="Calibri"/>
                        </a:rPr>
                        <a:t>0.00</a:t>
                      </a:r>
                    </a:p>
                  </a:txBody>
                  <a:tcPr marL="54864" marR="54864" marT="18288" marB="18288">
                    <a:solidFill>
                      <a:srgbClr val="FFFFFF"/>
                    </a:solidFill>
                  </a:tcPr>
                </a:tc>
                <a:tc>
                  <a:txBody>
                    <a:bodyPr/>
                    <a:lstStyle/>
                    <a:p>
                      <a:r>
                        <a:rPr sz="1200" b="0">
                          <a:solidFill>
                            <a:srgbClr val="1F2328"/>
                          </a:solidFill>
                          <a:latin typeface="Calibri"/>
                        </a:rPr>
                        <a:t>0.00</a:t>
                      </a:r>
                    </a:p>
                  </a:txBody>
                  <a:tcPr marL="54864" marR="54864" marT="18288" marB="18288">
                    <a:solidFill>
                      <a:srgbClr val="FFFFFF"/>
                    </a:solidFill>
                  </a:tcPr>
                </a:tc>
                <a:tc>
                  <a:txBody>
                    <a:bodyPr/>
                    <a:lstStyle/>
                    <a:p>
                      <a:r>
                        <a:rPr sz="1200" b="0">
                          <a:solidFill>
                            <a:srgbClr val="1F2328"/>
                          </a:solidFill>
                          <a:latin typeface="Calibri"/>
                        </a:rPr>
                        <a:t>0.00</a:t>
                      </a:r>
                    </a:p>
                  </a:txBody>
                  <a:tcPr marL="54864" marR="54864" marT="18288" marB="18288">
                    <a:solidFill>
                      <a:srgbClr val="FFFFFF"/>
                    </a:solidFill>
                  </a:tcPr>
                </a:tc>
                <a:tc>
                  <a:txBody>
                    <a:bodyPr/>
                    <a:lstStyle/>
                    <a:p>
                      <a:r>
                        <a:rPr sz="1200" b="0">
                          <a:solidFill>
                            <a:srgbClr val="1F2328"/>
                          </a:solidFill>
                          <a:latin typeface="Calibri"/>
                        </a:rPr>
                        <a:t>0.00</a:t>
                      </a:r>
                    </a:p>
                  </a:txBody>
                  <a:tcPr marL="54864" marR="54864" marT="18288" marB="18288">
                    <a:solidFill>
                      <a:srgbClr val="FFFFFF"/>
                    </a:solidFill>
                  </a:tcPr>
                </a:tc>
                <a:tc>
                  <a:txBody>
                    <a:bodyPr/>
                    <a:lstStyle/>
                    <a:p>
                      <a:r>
                        <a:rPr sz="1200" b="0">
                          <a:solidFill>
                            <a:srgbClr val="1F2328"/>
                          </a:solidFill>
                          <a:latin typeface="Calibri"/>
                        </a:rPr>
                        <a:t>0.00</a:t>
                      </a:r>
                    </a:p>
                  </a:txBody>
                  <a:tcPr marL="54864" marR="54864" marT="18288" marB="18288">
                    <a:solidFill>
                      <a:srgbClr val="FFFFFF"/>
                    </a:solidFill>
                  </a:tcPr>
                </a:tc>
                <a:tc>
                  <a:txBody>
                    <a:bodyPr/>
                    <a:lstStyle/>
                    <a:p>
                      <a:r>
                        <a:rPr sz="1200" b="0">
                          <a:solidFill>
                            <a:srgbClr val="1F2328"/>
                          </a:solidFill>
                          <a:latin typeface="Calibri"/>
                        </a:rPr>
                        <a:t>0.00</a:t>
                      </a:r>
                    </a:p>
                  </a:txBody>
                  <a:tcPr marL="54864" marR="54864" marT="18288" marB="18288">
                    <a:solidFill>
                      <a:srgbClr val="FFFFFF"/>
                    </a:solidFill>
                  </a:tcPr>
                </a:tc>
                <a:tc>
                  <a:txBody>
                    <a:bodyPr/>
                    <a:lstStyle/>
                    <a:p>
                      <a:r>
                        <a:rPr sz="1200" b="0">
                          <a:solidFill>
                            <a:srgbClr val="1F2328"/>
                          </a:solidFill>
                          <a:latin typeface="Calibri"/>
                        </a:rPr>
                        <a:t>0.00</a:t>
                      </a:r>
                    </a:p>
                  </a:txBody>
                  <a:tcPr marL="54864" marR="54864" marT="18288" marB="18288">
                    <a:solidFill>
                      <a:srgbClr val="FFFFFF"/>
                    </a:solidFill>
                  </a:tcPr>
                </a:tc>
                <a:tc>
                  <a:txBody>
                    <a:bodyPr/>
                    <a:lstStyle/>
                    <a:p>
                      <a:r>
                        <a:rPr sz="1200" b="0">
                          <a:solidFill>
                            <a:srgbClr val="1F2328"/>
                          </a:solidFill>
                          <a:latin typeface="Calibri"/>
                        </a:rPr>
                        <a:t>0.00</a:t>
                      </a:r>
                    </a:p>
                  </a:txBody>
                  <a:tcPr marL="54864" marR="54864" marT="18288" marB="18288">
                    <a:solidFill>
                      <a:srgbClr val="FFFFFF"/>
                    </a:solidFill>
                  </a:tcPr>
                </a:tc>
                <a:extLst>
                  <a:ext uri="{0D108BD9-81ED-4DB2-BD59-A6C34878D82A}">
                    <a16:rowId xmlns:a16="http://schemas.microsoft.com/office/drawing/2014/main" val="10009"/>
                  </a:ext>
                </a:extLst>
              </a:tr>
              <a:tr h="274320">
                <a:tc>
                  <a:txBody>
                    <a:bodyPr/>
                    <a:lstStyle/>
                    <a:p>
                      <a:r>
                        <a:rPr sz="1200" b="0">
                          <a:solidFill>
                            <a:srgbClr val="1F2328"/>
                          </a:solidFill>
                          <a:latin typeface="Calibri"/>
                        </a:rPr>
                        <a:t>FL-01</a:t>
                      </a:r>
                    </a:p>
                  </a:txBody>
                  <a:tcPr marL="54864" marR="54864" marT="18288" marB="18288">
                    <a:solidFill>
                      <a:srgbClr val="F6F4F2"/>
                    </a:solidFill>
                  </a:tcPr>
                </a:tc>
                <a:tc>
                  <a:txBody>
                    <a:bodyPr/>
                    <a:lstStyle/>
                    <a:p>
                      <a:r>
                        <a:rPr sz="1200" b="0">
                          <a:solidFill>
                            <a:srgbClr val="1F2328"/>
                          </a:solidFill>
                          <a:latin typeface="Calibri"/>
                        </a:rPr>
                        <a:t>Correct browser × viewport combinations</a:t>
                      </a:r>
                    </a:p>
                  </a:txBody>
                  <a:tcPr marL="54864" marR="54864" marT="18288" marB="18288">
                    <a:solidFill>
                      <a:srgbClr val="F6F4F2"/>
                    </a:solidFill>
                  </a:tcPr>
                </a:tc>
                <a:tc>
                  <a:txBody>
                    <a:bodyPr/>
                    <a:lstStyle/>
                    <a:p>
                      <a:r>
                        <a:rPr sz="1200" b="0">
                          <a:solidFill>
                            <a:srgbClr val="1F2328"/>
                          </a:solidFill>
                          <a:latin typeface="Calibri"/>
                        </a:rPr>
                        <a:t>≥ 100 %</a:t>
                      </a:r>
                    </a:p>
                  </a:txBody>
                  <a:tcPr marL="54864" marR="54864" marT="18288" marB="18288">
                    <a:solidFill>
                      <a:srgbClr val="F6F4F2"/>
                    </a:solidFill>
                  </a:tcPr>
                </a:tc>
                <a:tc>
                  <a:txBody>
                    <a:bodyPr/>
                    <a:lstStyle/>
                    <a:p>
                      <a:r>
                        <a:rPr sz="1200" b="0">
                          <a:solidFill>
                            <a:srgbClr val="1F2328"/>
                          </a:solidFill>
                          <a:latin typeface="Calibri"/>
                        </a:rPr>
                        <a:t>33.3 ✗</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tc>
                  <a:txBody>
                    <a:bodyPr/>
                    <a:lstStyle/>
                    <a:p>
                      <a:r>
                        <a:rPr sz="1200" b="0">
                          <a:solidFill>
                            <a:srgbClr val="1F2328"/>
                          </a:solidFill>
                          <a:latin typeface="Calibri"/>
                        </a:rPr>
                        <a:t>100.0</a:t>
                      </a:r>
                    </a:p>
                  </a:txBody>
                  <a:tcPr marL="54864" marR="54864" marT="18288" marB="18288">
                    <a:solidFill>
                      <a:srgbClr val="F6F4F2"/>
                    </a:solidFill>
                  </a:tcPr>
                </a:tc>
                <a:extLst>
                  <a:ext uri="{0D108BD9-81ED-4DB2-BD59-A6C34878D82A}">
                    <a16:rowId xmlns:a16="http://schemas.microsoft.com/office/drawing/2014/main" val="10010"/>
                  </a:ext>
                </a:extLst>
              </a:tr>
            </a:tbl>
          </a:graphicData>
        </a:graphic>
      </p:graphicFrame>
      <p:sp>
        <p:nvSpPr>
          <p:cNvPr id="8" name="TextBox 7"/>
          <p:cNvSpPr txBox="1"/>
          <p:nvPr/>
        </p:nvSpPr>
        <p:spPr>
          <a:xfrm>
            <a:off x="548640" y="5897880"/>
            <a:ext cx="11064240" cy="36576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Columns 01–09: result X per run (units as in the threshold). Rows: metrics rejected in at least one run, plus three reference metrics. ✗ = threshold not met.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Incident log (1/2)</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22 incidents: 17 product · 4 test script · 1 infrastructure — all reproduced, classified, fixed and re-measured</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Ower Lopez</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19</a:t>
            </a:r>
          </a:p>
        </p:txBody>
      </p:sp>
      <p:graphicFrame>
        <p:nvGraphicFramePr>
          <p:cNvPr id="7" name="Table 6"/>
          <p:cNvGraphicFramePr>
            <a:graphicFrameLocks noGrp="1"/>
          </p:cNvGraphicFramePr>
          <p:nvPr/>
        </p:nvGraphicFramePr>
        <p:xfrm>
          <a:off x="548640" y="1417320"/>
          <a:ext cx="11064240" cy="329184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7680960">
                  <a:extLst>
                    <a:ext uri="{9D8B030D-6E8A-4147-A177-3AD203B41FA5}">
                      <a16:colId xmlns:a16="http://schemas.microsoft.com/office/drawing/2014/main" val="20004"/>
                    </a:ext>
                  </a:extLst>
                </a:gridCol>
              </a:tblGrid>
              <a:tr h="274320">
                <a:tc>
                  <a:txBody>
                    <a:bodyPr/>
                    <a:lstStyle/>
                    <a:p>
                      <a:r>
                        <a:rPr sz="1100" b="1">
                          <a:solidFill>
                            <a:srgbClr val="FFFFFF"/>
                          </a:solidFill>
                          <a:latin typeface="Calibri"/>
                        </a:rPr>
                        <a:t>ID</a:t>
                      </a:r>
                    </a:p>
                  </a:txBody>
                  <a:tcPr marL="54864" marR="54864" marT="18288" marB="18288">
                    <a:solidFill>
                      <a:srgbClr val="7A1F2B"/>
                    </a:solidFill>
                  </a:tcPr>
                </a:tc>
                <a:tc>
                  <a:txBody>
                    <a:bodyPr/>
                    <a:lstStyle/>
                    <a:p>
                      <a:r>
                        <a:rPr sz="1100" b="1">
                          <a:solidFill>
                            <a:srgbClr val="FFFFFF"/>
                          </a:solidFill>
                          <a:latin typeface="Calibri"/>
                        </a:rPr>
                        <a:t>Run</a:t>
                      </a:r>
                    </a:p>
                  </a:txBody>
                  <a:tcPr marL="54864" marR="54864" marT="18288" marB="18288">
                    <a:solidFill>
                      <a:srgbClr val="7A1F2B"/>
                    </a:solidFill>
                  </a:tcPr>
                </a:tc>
                <a:tc>
                  <a:txBody>
                    <a:bodyPr/>
                    <a:lstStyle/>
                    <a:p>
                      <a:r>
                        <a:rPr sz="1100" b="1">
                          <a:solidFill>
                            <a:srgbClr val="FFFFFF"/>
                          </a:solidFill>
                          <a:latin typeface="Calibri"/>
                        </a:rPr>
                        <a:t>Metric</a:t>
                      </a:r>
                    </a:p>
                  </a:txBody>
                  <a:tcPr marL="54864" marR="54864" marT="18288" marB="18288">
                    <a:solidFill>
                      <a:srgbClr val="7A1F2B"/>
                    </a:solidFill>
                  </a:tcPr>
                </a:tc>
                <a:tc>
                  <a:txBody>
                    <a:bodyPr/>
                    <a:lstStyle/>
                    <a:p>
                      <a:r>
                        <a:rPr sz="1100" b="1">
                          <a:solidFill>
                            <a:srgbClr val="FFFFFF"/>
                          </a:solidFill>
                          <a:latin typeface="Calibri"/>
                        </a:rPr>
                        <a:t>Origin</a:t>
                      </a:r>
                    </a:p>
                  </a:txBody>
                  <a:tcPr marL="54864" marR="54864" marT="18288" marB="18288">
                    <a:solidFill>
                      <a:srgbClr val="7A1F2B"/>
                    </a:solidFill>
                  </a:tcPr>
                </a:tc>
                <a:tc>
                  <a:txBody>
                    <a:bodyPr/>
                    <a:lstStyle/>
                    <a:p>
                      <a:r>
                        <a:rPr sz="1100" b="1">
                          <a:solidFill>
                            <a:srgbClr val="FFFFFF"/>
                          </a:solidFill>
                          <a:latin typeface="Calibri"/>
                        </a:rPr>
                        <a:t>What happened</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100" b="0">
                          <a:solidFill>
                            <a:srgbClr val="1F2328"/>
                          </a:solidFill>
                          <a:latin typeface="Calibri"/>
                        </a:rPr>
                        <a:t>INC-01</a:t>
                      </a:r>
                    </a:p>
                  </a:txBody>
                  <a:tcPr marL="54864" marR="54864" marT="18288" marB="18288">
                    <a:solidFill>
                      <a:srgbClr val="FFFFFF"/>
                    </a:solidFill>
                  </a:tcPr>
                </a:tc>
                <a:tc>
                  <a:txBody>
                    <a:bodyPr/>
                    <a:lstStyle/>
                    <a:p>
                      <a:r>
                        <a:rPr sz="1100" b="0">
                          <a:solidFill>
                            <a:srgbClr val="1F2328"/>
                          </a:solidFill>
                          <a:latin typeface="Calibri"/>
                        </a:rPr>
                        <a:t>01</a:t>
                      </a:r>
                    </a:p>
                  </a:txBody>
                  <a:tcPr marL="54864" marR="54864" marT="18288" marB="18288">
                    <a:solidFill>
                      <a:srgbClr val="FFFFFF"/>
                    </a:solidFill>
                  </a:tcPr>
                </a:tc>
                <a:tc>
                  <a:txBody>
                    <a:bodyPr/>
                    <a:lstStyle/>
                    <a:p>
                      <a:r>
                        <a:rPr sz="1100" b="0">
                          <a:solidFill>
                            <a:srgbClr val="1F2328"/>
                          </a:solidFill>
                          <a:latin typeface="Calibri"/>
                        </a:rPr>
                        <a:t>CI-03</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axe-core (rule label-content-name-mismatch, serious impact): the logo link has aria-label “VigiSalud Malaria”, which does not contain its…</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100" b="0">
                          <a:solidFill>
                            <a:srgbClr val="1F2328"/>
                          </a:solidFill>
                          <a:latin typeface="Calibri"/>
                        </a:rPr>
                        <a:t>INC-02</a:t>
                      </a:r>
                    </a:p>
                  </a:txBody>
                  <a:tcPr marL="54864" marR="54864" marT="18288" marB="18288">
                    <a:solidFill>
                      <a:srgbClr val="F6F4F2"/>
                    </a:solidFill>
                  </a:tcPr>
                </a:tc>
                <a:tc>
                  <a:txBody>
                    <a:bodyPr/>
                    <a:lstStyle/>
                    <a:p>
                      <a:r>
                        <a:rPr sz="1100" b="0">
                          <a:solidFill>
                            <a:srgbClr val="1F2328"/>
                          </a:solidFill>
                          <a:latin typeface="Calibri"/>
                        </a:rPr>
                        <a:t>01</a:t>
                      </a:r>
                    </a:p>
                  </a:txBody>
                  <a:tcPr marL="54864" marR="54864" marT="18288" marB="18288">
                    <a:solidFill>
                      <a:srgbClr val="F6F4F2"/>
                    </a:solidFill>
                  </a:tcPr>
                </a:tc>
                <a:tc>
                  <a:txBody>
                    <a:bodyPr/>
                    <a:lstStyle/>
                    <a:p>
                      <a:r>
                        <a:rPr sz="1100" b="0">
                          <a:solidFill>
                            <a:srgbClr val="1F2328"/>
                          </a:solidFill>
                          <a:latin typeface="Calibri"/>
                        </a:rPr>
                        <a:t>CI-03</a:t>
                      </a:r>
                    </a:p>
                  </a:txBody>
                  <a:tcPr marL="54864" marR="54864" marT="18288" marB="18288">
                    <a:solidFill>
                      <a:srgbClr val="F6F4F2"/>
                    </a:solidFill>
                  </a:tcPr>
                </a:tc>
                <a:tc>
                  <a:txBody>
                    <a:bodyPr/>
                    <a:lstStyle/>
                    <a:p>
                      <a:r>
                        <a:rPr sz="1100" b="0">
                          <a:solidFill>
                            <a:srgbClr val="1F2328"/>
                          </a:solidFill>
                          <a:latin typeface="Calibri"/>
                        </a:rPr>
                        <a:t>Product</a:t>
                      </a:r>
                    </a:p>
                  </a:txBody>
                  <a:tcPr marL="54864" marR="54864" marT="18288" marB="18288">
                    <a:solidFill>
                      <a:srgbClr val="F6F4F2"/>
                    </a:solidFill>
                  </a:tcPr>
                </a:tc>
                <a:tc>
                  <a:txBody>
                    <a:bodyPr/>
                    <a:lstStyle/>
                    <a:p>
                      <a:r>
                        <a:rPr sz="1100" b="0">
                          <a:solidFill>
                            <a:srgbClr val="1F2328"/>
                          </a:solidFill>
                          <a:latin typeface="Calibri"/>
                        </a:rPr>
                        <a:t>axe-core (rule scrollable-region-focusable, serious impact): scrollable table containers (#tbAnual, #tbCanal and the board's not-applicable…</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100" b="0">
                          <a:solidFill>
                            <a:srgbClr val="1F2328"/>
                          </a:solidFill>
                          <a:latin typeface="Calibri"/>
                        </a:rPr>
                        <a:t>INC-03</a:t>
                      </a:r>
                    </a:p>
                  </a:txBody>
                  <a:tcPr marL="54864" marR="54864" marT="18288" marB="18288">
                    <a:solidFill>
                      <a:srgbClr val="FFFFFF"/>
                    </a:solidFill>
                  </a:tcPr>
                </a:tc>
                <a:tc>
                  <a:txBody>
                    <a:bodyPr/>
                    <a:lstStyle/>
                    <a:p>
                      <a:r>
                        <a:rPr sz="1100" b="0">
                          <a:solidFill>
                            <a:srgbClr val="1F2328"/>
                          </a:solidFill>
                          <a:latin typeface="Calibri"/>
                        </a:rPr>
                        <a:t>01</a:t>
                      </a:r>
                    </a:p>
                  </a:txBody>
                  <a:tcPr marL="54864" marR="54864" marT="18288" marB="18288">
                    <a:solidFill>
                      <a:srgbClr val="FFFFFF"/>
                    </a:solidFill>
                  </a:tcPr>
                </a:tc>
                <a:tc>
                  <a:txBody>
                    <a:bodyPr/>
                    <a:lstStyle/>
                    <a:p>
                      <a:r>
                        <a:rPr sz="1100" b="0">
                          <a:solidFill>
                            <a:srgbClr val="1F2328"/>
                          </a:solidFill>
                          <a:latin typeface="Calibri"/>
                        </a:rPr>
                        <a:t>FL-01</a:t>
                      </a:r>
                    </a:p>
                  </a:txBody>
                  <a:tcPr marL="54864" marR="54864" marT="18288" marB="18288">
                    <a:solidFill>
                      <a:srgbClr val="FFFFFF"/>
                    </a:solidFill>
                  </a:tcPr>
                </a:tc>
                <a:tc>
                  <a:txBody>
                    <a:bodyPr/>
                    <a:lstStyle/>
                    <a:p>
                      <a:r>
                        <a:rPr sz="1100" b="0">
                          <a:solidFill>
                            <a:srgbClr val="1F2328"/>
                          </a:solidFill>
                          <a:latin typeface="Calibri"/>
                        </a:rPr>
                        <a:t>Infrastructure</a:t>
                      </a:r>
                    </a:p>
                  </a:txBody>
                  <a:tcPr marL="54864" marR="54864" marT="18288" marB="18288">
                    <a:solidFill>
                      <a:srgbClr val="FFFFFF"/>
                    </a:solidFill>
                  </a:tcPr>
                </a:tc>
                <a:tc>
                  <a:txBody>
                    <a:bodyPr/>
                    <a:lstStyle/>
                    <a:p>
                      <a:r>
                        <a:rPr sz="1100" b="0">
                          <a:solidFill>
                            <a:srgbClr val="1F2328"/>
                          </a:solidFill>
                          <a:latin typeface="Calibri"/>
                        </a:rPr>
                        <a:t>The 6 Firefox and WebKit combinations (mobile, tablet and desktop) did not run: “browserType.launch: Executable doesn't exist” on the test…</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100" b="0">
                          <a:solidFill>
                            <a:srgbClr val="1F2328"/>
                          </a:solidFill>
                          <a:latin typeface="Calibri"/>
                        </a:rPr>
                        <a:t>INC-04</a:t>
                      </a:r>
                    </a:p>
                  </a:txBody>
                  <a:tcPr marL="54864" marR="54864" marT="18288" marB="18288">
                    <a:solidFill>
                      <a:srgbClr val="F6F4F2"/>
                    </a:solidFill>
                  </a:tcPr>
                </a:tc>
                <a:tc>
                  <a:txBody>
                    <a:bodyPr/>
                    <a:lstStyle/>
                    <a:p>
                      <a:r>
                        <a:rPr sz="1100" b="0">
                          <a:solidFill>
                            <a:srgbClr val="1F2328"/>
                          </a:solidFill>
                          <a:latin typeface="Calibri"/>
                        </a:rPr>
                        <a:t>01</a:t>
                      </a:r>
                    </a:p>
                  </a:txBody>
                  <a:tcPr marL="54864" marR="54864" marT="18288" marB="18288">
                    <a:solidFill>
                      <a:srgbClr val="F6F4F2"/>
                    </a:solidFill>
                  </a:tcPr>
                </a:tc>
                <a:tc>
                  <a:txBody>
                    <a:bodyPr/>
                    <a:lstStyle/>
                    <a:p>
                      <a:r>
                        <a:rPr sz="1100" b="0">
                          <a:solidFill>
                            <a:srgbClr val="1F2328"/>
                          </a:solidFill>
                          <a:latin typeface="Calibri"/>
                        </a:rPr>
                        <a:t>IF-01</a:t>
                      </a:r>
                    </a:p>
                  </a:txBody>
                  <a:tcPr marL="54864" marR="54864" marT="18288" marB="18288">
                    <a:solidFill>
                      <a:srgbClr val="F6F4F2"/>
                    </a:solidFill>
                  </a:tcPr>
                </a:tc>
                <a:tc>
                  <a:txBody>
                    <a:bodyPr/>
                    <a:lstStyle/>
                    <a:p>
                      <a:r>
                        <a:rPr sz="1100" b="0">
                          <a:solidFill>
                            <a:srgbClr val="1F2328"/>
                          </a:solidFill>
                          <a:latin typeface="Calibri"/>
                        </a:rPr>
                        <a:t>Script</a:t>
                      </a:r>
                    </a:p>
                  </a:txBody>
                  <a:tcPr marL="54864" marR="54864" marT="18288" marB="18288">
                    <a:solidFill>
                      <a:srgbClr val="F6F4F2"/>
                    </a:solidFill>
                  </a:tcPr>
                </a:tc>
                <a:tc>
                  <a:txBody>
                    <a:bodyPr/>
                    <a:lstStyle/>
                    <a:p>
                      <a:r>
                        <a:rPr sz="1100" b="0">
                          <a:solidFill>
                            <a:srgbClr val="1F2328"/>
                          </a:solidFill>
                          <a:latin typeface="Calibri"/>
                        </a:rPr>
                        <a:t>Test RF-04 failed with a “strict mode violation”: the locator getByRole('button', {name: 'P. falciparum'}) matched both the species filter…</a:t>
                      </a:r>
                    </a:p>
                  </a:txBody>
                  <a:tcPr marL="54864" marR="54864" marT="18288" marB="18288">
                    <a:solidFill>
                      <a:srgbClr val="F6F4F2"/>
                    </a:solidFill>
                  </a:tcPr>
                </a:tc>
                <a:extLst>
                  <a:ext uri="{0D108BD9-81ED-4DB2-BD59-A6C34878D82A}">
                    <a16:rowId xmlns:a16="http://schemas.microsoft.com/office/drawing/2014/main" val="10004"/>
                  </a:ext>
                </a:extLst>
              </a:tr>
              <a:tr h="274320">
                <a:tc>
                  <a:txBody>
                    <a:bodyPr/>
                    <a:lstStyle/>
                    <a:p>
                      <a:r>
                        <a:rPr sz="1100" b="0">
                          <a:solidFill>
                            <a:srgbClr val="1F2328"/>
                          </a:solidFill>
                          <a:latin typeface="Calibri"/>
                        </a:rPr>
                        <a:t>INC-05</a:t>
                      </a:r>
                    </a:p>
                  </a:txBody>
                  <a:tcPr marL="54864" marR="54864" marT="18288" marB="18288">
                    <a:solidFill>
                      <a:srgbClr val="FFFFFF"/>
                    </a:solidFill>
                  </a:tcPr>
                </a:tc>
                <a:tc>
                  <a:txBody>
                    <a:bodyPr/>
                    <a:lstStyle/>
                    <a:p>
                      <a:r>
                        <a:rPr sz="1100" b="0">
                          <a:solidFill>
                            <a:srgbClr val="1F2328"/>
                          </a:solidFill>
                          <a:latin typeface="Calibri"/>
                        </a:rPr>
                        <a:t>01</a:t>
                      </a:r>
                    </a:p>
                  </a:txBody>
                  <a:tcPr marL="54864" marR="54864" marT="18288" marB="18288">
                    <a:solidFill>
                      <a:srgbClr val="FFFFFF"/>
                    </a:solidFill>
                  </a:tcPr>
                </a:tc>
                <a:tc>
                  <a:txBody>
                    <a:bodyPr/>
                    <a:lstStyle/>
                    <a:p>
                      <a:r>
                        <a:rPr sz="1100" b="0">
                          <a:solidFill>
                            <a:srgbClr val="1F2328"/>
                          </a:solidFill>
                          <a:latin typeface="Calibri"/>
                        </a:rPr>
                        <a:t>CI-03</a:t>
                      </a:r>
                    </a:p>
                  </a:txBody>
                  <a:tcPr marL="54864" marR="54864" marT="18288" marB="18288">
                    <a:solidFill>
                      <a:srgbClr val="FFFFFF"/>
                    </a:solidFill>
                  </a:tcPr>
                </a:tc>
                <a:tc>
                  <a:txBody>
                    <a:bodyPr/>
                    <a:lstStyle/>
                    <a:p>
                      <a:r>
                        <a:rPr sz="1100" b="0">
                          <a:solidFill>
                            <a:srgbClr val="1F2328"/>
                          </a:solidFill>
                          <a:latin typeface="Calibri"/>
                        </a:rPr>
                        <a:t>Script</a:t>
                      </a:r>
                    </a:p>
                  </a:txBody>
                  <a:tcPr marL="54864" marR="54864" marT="18288" marB="18288">
                    <a:solidFill>
                      <a:srgbClr val="FFFFFF"/>
                    </a:solidFill>
                  </a:tcPr>
                </a:tc>
                <a:tc>
                  <a:txBody>
                    <a:bodyPr/>
                    <a:lstStyle/>
                    <a:p>
                      <a:r>
                        <a:rPr sz="1100" b="0">
                          <a:solidFill>
                            <a:srgbClr val="1F2328"/>
                          </a:solidFill>
                          <a:latin typeface="Calibri"/>
                        </a:rPr>
                        <a:t>ci03-axe.json kept only the last of the 4 audited views. When a test fails Playwright restarts the worker, and rows held in memory were…</a:t>
                      </a:r>
                    </a:p>
                  </a:txBody>
                  <a:tcPr marL="54864" marR="54864" marT="18288" marB="18288">
                    <a:solidFill>
                      <a:srgbClr val="FFFFFF"/>
                    </a:solidFill>
                  </a:tcPr>
                </a:tc>
                <a:extLst>
                  <a:ext uri="{0D108BD9-81ED-4DB2-BD59-A6C34878D82A}">
                    <a16:rowId xmlns:a16="http://schemas.microsoft.com/office/drawing/2014/main" val="10005"/>
                  </a:ext>
                </a:extLst>
              </a:tr>
              <a:tr h="274320">
                <a:tc>
                  <a:txBody>
                    <a:bodyPr/>
                    <a:lstStyle/>
                    <a:p>
                      <a:r>
                        <a:rPr sz="1100" b="0">
                          <a:solidFill>
                            <a:srgbClr val="1F2328"/>
                          </a:solidFill>
                          <a:latin typeface="Calibri"/>
                        </a:rPr>
                        <a:t>INC-06</a:t>
                      </a:r>
                    </a:p>
                  </a:txBody>
                  <a:tcPr marL="54864" marR="54864" marT="18288" marB="18288">
                    <a:solidFill>
                      <a:srgbClr val="F6F4F2"/>
                    </a:solidFill>
                  </a:tcPr>
                </a:tc>
                <a:tc>
                  <a:txBody>
                    <a:bodyPr/>
                    <a:lstStyle/>
                    <a:p>
                      <a:r>
                        <a:rPr sz="1100" b="0">
                          <a:solidFill>
                            <a:srgbClr val="1F2328"/>
                          </a:solidFill>
                          <a:latin typeface="Calibri"/>
                        </a:rPr>
                        <a:t>01</a:t>
                      </a:r>
                    </a:p>
                  </a:txBody>
                  <a:tcPr marL="54864" marR="54864" marT="18288" marB="18288">
                    <a:solidFill>
                      <a:srgbClr val="F6F4F2"/>
                    </a:solidFill>
                  </a:tcPr>
                </a:tc>
                <a:tc>
                  <a:txBody>
                    <a:bodyPr/>
                    <a:lstStyle/>
                    <a:p>
                      <a:r>
                        <a:rPr sz="1100" b="0">
                          <a:solidFill>
                            <a:srgbClr val="1F2328"/>
                          </a:solidFill>
                          <a:latin typeface="Calibri"/>
                        </a:rPr>
                        <a:t>SE-01</a:t>
                      </a:r>
                    </a:p>
                  </a:txBody>
                  <a:tcPr marL="54864" marR="54864" marT="18288" marB="18288">
                    <a:solidFill>
                      <a:srgbClr val="F6F4F2"/>
                    </a:solidFill>
                  </a:tcPr>
                </a:tc>
                <a:tc>
                  <a:txBody>
                    <a:bodyPr/>
                    <a:lstStyle/>
                    <a:p>
                      <a:r>
                        <a:rPr sz="1100" b="0">
                          <a:solidFill>
                            <a:srgbClr val="1F2328"/>
                          </a:solidFill>
                          <a:latin typeface="Calibri"/>
                        </a:rPr>
                        <a:t>Script</a:t>
                      </a:r>
                    </a:p>
                  </a:txBody>
                  <a:tcPr marL="54864" marR="54864" marT="18288" marB="18288">
                    <a:solidFill>
                      <a:srgbClr val="F6F4F2"/>
                    </a:solidFill>
                  </a:tcPr>
                </a:tc>
                <a:tc>
                  <a:txBody>
                    <a:bodyPr/>
                    <a:lstStyle/>
                    <a:p>
                      <a:r>
                        <a:rPr sz="1100" b="0">
                          <a:solidFill>
                            <a:srgbClr val="1F2328"/>
                          </a:solidFill>
                          <a:latin typeface="Calibri"/>
                        </a:rPr>
                        <a:t>SE-01 flagged calidad_datos.json as individual data because it contains the key “tipo_edad”. On review, that key holds an aggregate count…</a:t>
                      </a:r>
                    </a:p>
                  </a:txBody>
                  <a:tcPr marL="54864" marR="54864" marT="18288" marB="18288">
                    <a:solidFill>
                      <a:srgbClr val="F6F4F2"/>
                    </a:solidFill>
                  </a:tcPr>
                </a:tc>
                <a:extLst>
                  <a:ext uri="{0D108BD9-81ED-4DB2-BD59-A6C34878D82A}">
                    <a16:rowId xmlns:a16="http://schemas.microsoft.com/office/drawing/2014/main" val="10006"/>
                  </a:ext>
                </a:extLst>
              </a:tr>
              <a:tr h="274320">
                <a:tc>
                  <a:txBody>
                    <a:bodyPr/>
                    <a:lstStyle/>
                    <a:p>
                      <a:r>
                        <a:rPr sz="1100" b="0">
                          <a:solidFill>
                            <a:srgbClr val="1F2328"/>
                          </a:solidFill>
                          <a:latin typeface="Calibri"/>
                        </a:rPr>
                        <a:t>INC-07</a:t>
                      </a:r>
                    </a:p>
                  </a:txBody>
                  <a:tcPr marL="54864" marR="54864" marT="18288" marB="18288">
                    <a:solidFill>
                      <a:srgbClr val="FFFFFF"/>
                    </a:solidFill>
                  </a:tcPr>
                </a:tc>
                <a:tc>
                  <a:txBody>
                    <a:bodyPr/>
                    <a:lstStyle/>
                    <a:p>
                      <a:r>
                        <a:rPr sz="1100" b="0">
                          <a:solidFill>
                            <a:srgbClr val="1F2328"/>
                          </a:solidFill>
                          <a:latin typeface="Calibri"/>
                        </a:rPr>
                        <a:t>01</a:t>
                      </a:r>
                    </a:p>
                  </a:txBody>
                  <a:tcPr marL="54864" marR="54864" marT="18288" marB="18288">
                    <a:solidFill>
                      <a:srgbClr val="FFFFFF"/>
                    </a:solidFill>
                  </a:tcPr>
                </a:tc>
                <a:tc>
                  <a:txBody>
                    <a:bodyPr/>
                    <a:lstStyle/>
                    <a:p>
                      <a:r>
                        <a:rPr sz="1100" b="0">
                          <a:solidFill>
                            <a:srgbClr val="1F2328"/>
                          </a:solidFill>
                          <a:latin typeface="Calibri"/>
                        </a:rPr>
                        <a:t>MA-02</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ESLint reported 3 no-unused-vars problems (unused “e” in catch blocks of comun.js and calidad.js): 3.01 per KLOC, above the threshold of 2.</a:t>
                      </a:r>
                    </a:p>
                  </a:txBody>
                  <a:tcPr marL="54864" marR="54864" marT="18288" marB="18288">
                    <a:solidFill>
                      <a:srgbClr val="FFFFFF"/>
                    </a:solidFill>
                  </a:tcPr>
                </a:tc>
                <a:extLst>
                  <a:ext uri="{0D108BD9-81ED-4DB2-BD59-A6C34878D82A}">
                    <a16:rowId xmlns:a16="http://schemas.microsoft.com/office/drawing/2014/main" val="10007"/>
                  </a:ext>
                </a:extLst>
              </a:tr>
              <a:tr h="274320">
                <a:tc>
                  <a:txBody>
                    <a:bodyPr/>
                    <a:lstStyle/>
                    <a:p>
                      <a:r>
                        <a:rPr sz="1100" b="0">
                          <a:solidFill>
                            <a:srgbClr val="1F2328"/>
                          </a:solidFill>
                          <a:latin typeface="Calibri"/>
                        </a:rPr>
                        <a:t>INC-08</a:t>
                      </a:r>
                    </a:p>
                  </a:txBody>
                  <a:tcPr marL="54864" marR="54864" marT="18288" marB="18288">
                    <a:solidFill>
                      <a:srgbClr val="F6F4F2"/>
                    </a:solidFill>
                  </a:tcPr>
                </a:tc>
                <a:tc>
                  <a:txBody>
                    <a:bodyPr/>
                    <a:lstStyle/>
                    <a:p>
                      <a:r>
                        <a:rPr sz="1100" b="0">
                          <a:solidFill>
                            <a:srgbClr val="1F2328"/>
                          </a:solidFill>
                          <a:latin typeface="Calibri"/>
                        </a:rPr>
                        <a:t>01</a:t>
                      </a:r>
                    </a:p>
                  </a:txBody>
                  <a:tcPr marL="54864" marR="54864" marT="18288" marB="18288">
                    <a:solidFill>
                      <a:srgbClr val="F6F4F2"/>
                    </a:solidFill>
                  </a:tcPr>
                </a:tc>
                <a:tc>
                  <a:txBody>
                    <a:bodyPr/>
                    <a:lstStyle/>
                    <a:p>
                      <a:r>
                        <a:rPr sz="1100" b="0">
                          <a:solidFill>
                            <a:srgbClr val="1F2328"/>
                          </a:solidFill>
                          <a:latin typeface="Calibri"/>
                        </a:rPr>
                        <a:t>ED-01</a:t>
                      </a:r>
                    </a:p>
                  </a:txBody>
                  <a:tcPr marL="54864" marR="54864" marT="18288" marB="18288">
                    <a:solidFill>
                      <a:srgbClr val="F6F4F2"/>
                    </a:solidFill>
                  </a:tcPr>
                </a:tc>
                <a:tc>
                  <a:txBody>
                    <a:bodyPr/>
                    <a:lstStyle/>
                    <a:p>
                      <a:r>
                        <a:rPr sz="1100" b="0">
                          <a:solidFill>
                            <a:srgbClr val="1F2328"/>
                          </a:solidFill>
                          <a:latin typeface="Calibri"/>
                        </a:rPr>
                        <a:t>Product</a:t>
                      </a:r>
                    </a:p>
                  </a:txBody>
                  <a:tcPr marL="54864" marR="54864" marT="18288" marB="18288">
                    <a:solidFill>
                      <a:srgbClr val="F6F4F2"/>
                    </a:solidFill>
                  </a:tcPr>
                </a:tc>
                <a:tc>
                  <a:txBody>
                    <a:bodyPr/>
                    <a:lstStyle/>
                    <a:p>
                      <a:r>
                        <a:rPr sz="1100" b="0">
                          <a:solidFill>
                            <a:srgbClr val="1F2328"/>
                          </a:solidFill>
                          <a:latin typeface="Calibri"/>
                        </a:rPr>
                        <a:t>Mobile LCP of 3.29 s (median of 3 Lighthouse runs), above 2.5 s. The LCP element is the provisional-data notice; 79 % of the time is render…</a:t>
                      </a:r>
                    </a:p>
                  </a:txBody>
                  <a:tcPr marL="54864" marR="54864" marT="18288" marB="18288">
                    <a:solidFill>
                      <a:srgbClr val="F6F4F2"/>
                    </a:solidFill>
                  </a:tcPr>
                </a:tc>
                <a:extLst>
                  <a:ext uri="{0D108BD9-81ED-4DB2-BD59-A6C34878D82A}">
                    <a16:rowId xmlns:a16="http://schemas.microsoft.com/office/drawing/2014/main" val="10008"/>
                  </a:ext>
                </a:extLst>
              </a:tr>
              <a:tr h="274320">
                <a:tc>
                  <a:txBody>
                    <a:bodyPr/>
                    <a:lstStyle/>
                    <a:p>
                      <a:r>
                        <a:rPr sz="1100" b="0">
                          <a:solidFill>
                            <a:srgbClr val="1F2328"/>
                          </a:solidFill>
                          <a:latin typeface="Calibri"/>
                        </a:rPr>
                        <a:t>INC-09</a:t>
                      </a:r>
                    </a:p>
                  </a:txBody>
                  <a:tcPr marL="54864" marR="54864" marT="18288" marB="18288">
                    <a:solidFill>
                      <a:srgbClr val="FFFFFF"/>
                    </a:solidFill>
                  </a:tcPr>
                </a:tc>
                <a:tc>
                  <a:txBody>
                    <a:bodyPr/>
                    <a:lstStyle/>
                    <a:p>
                      <a:r>
                        <a:rPr sz="1100" b="0">
                          <a:solidFill>
                            <a:srgbClr val="1F2328"/>
                          </a:solidFill>
                          <a:latin typeface="Calibri"/>
                        </a:rPr>
                        <a:t>01</a:t>
                      </a:r>
                    </a:p>
                  </a:txBody>
                  <a:tcPr marL="54864" marR="54864" marT="18288" marB="18288">
                    <a:solidFill>
                      <a:srgbClr val="FFFFFF"/>
                    </a:solidFill>
                  </a:tcPr>
                </a:tc>
                <a:tc>
                  <a:txBody>
                    <a:bodyPr/>
                    <a:lstStyle/>
                    <a:p>
                      <a:r>
                        <a:rPr sz="1100" b="0">
                          <a:solidFill>
                            <a:srgbClr val="1F2328"/>
                          </a:solidFill>
                          <a:latin typeface="Calibri"/>
                        </a:rPr>
                        <a:t>MA-01</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Function kpis() in app.js had cyclomatic complexity 25, more than twice the limit of 10, although MA-01 overall (98.2 %) met the threshold.</a:t>
                      </a:r>
                    </a:p>
                  </a:txBody>
                  <a:tcPr marL="54864" marR="54864" marT="18288" marB="18288">
                    <a:solidFill>
                      <a:srgbClr val="FFFFFF"/>
                    </a:solidFill>
                  </a:tcPr>
                </a:tc>
                <a:extLst>
                  <a:ext uri="{0D108BD9-81ED-4DB2-BD59-A6C34878D82A}">
                    <a16:rowId xmlns:a16="http://schemas.microsoft.com/office/drawing/2014/main" val="10009"/>
                  </a:ext>
                </a:extLst>
              </a:tr>
              <a:tr h="274320">
                <a:tc>
                  <a:txBody>
                    <a:bodyPr/>
                    <a:lstStyle/>
                    <a:p>
                      <a:r>
                        <a:rPr sz="1100" b="0">
                          <a:solidFill>
                            <a:srgbClr val="1F2328"/>
                          </a:solidFill>
                          <a:latin typeface="Calibri"/>
                        </a:rPr>
                        <a:t>INC-10</a:t>
                      </a:r>
                    </a:p>
                  </a:txBody>
                  <a:tcPr marL="54864" marR="54864" marT="18288" marB="18288">
                    <a:solidFill>
                      <a:srgbClr val="F6F4F2"/>
                    </a:solidFill>
                  </a:tcPr>
                </a:tc>
                <a:tc>
                  <a:txBody>
                    <a:bodyPr/>
                    <a:lstStyle/>
                    <a:p>
                      <a:r>
                        <a:rPr sz="1100" b="0">
                          <a:solidFill>
                            <a:srgbClr val="1F2328"/>
                          </a:solidFill>
                          <a:latin typeface="Calibri"/>
                        </a:rPr>
                        <a:t>02</a:t>
                      </a:r>
                    </a:p>
                  </a:txBody>
                  <a:tcPr marL="54864" marR="54864" marT="18288" marB="18288">
                    <a:solidFill>
                      <a:srgbClr val="F6F4F2"/>
                    </a:solidFill>
                  </a:tcPr>
                </a:tc>
                <a:tc>
                  <a:txBody>
                    <a:bodyPr/>
                    <a:lstStyle/>
                    <a:p>
                      <a:r>
                        <a:rPr sz="1100" b="0">
                          <a:solidFill>
                            <a:srgbClr val="1F2328"/>
                          </a:solidFill>
                          <a:latin typeface="Calibri"/>
                        </a:rPr>
                        <a:t>SE-01</a:t>
                      </a:r>
                    </a:p>
                  </a:txBody>
                  <a:tcPr marL="54864" marR="54864" marT="18288" marB="18288">
                    <a:solidFill>
                      <a:srgbClr val="F6F4F2"/>
                    </a:solidFill>
                  </a:tcPr>
                </a:tc>
                <a:tc>
                  <a:txBody>
                    <a:bodyPr/>
                    <a:lstStyle/>
                    <a:p>
                      <a:r>
                        <a:rPr sz="1100" b="0">
                          <a:solidFill>
                            <a:srgbClr val="1F2328"/>
                          </a:solidFill>
                          <a:latin typeface="Calibri"/>
                        </a:rPr>
                        <a:t>Script</a:t>
                      </a:r>
                    </a:p>
                  </a:txBody>
                  <a:tcPr marL="54864" marR="54864" marT="18288" marB="18288">
                    <a:solidFill>
                      <a:srgbClr val="F6F4F2"/>
                    </a:solidFill>
                  </a:tcPr>
                </a:tc>
                <a:tc>
                  <a:txBody>
                    <a:bodyPr/>
                    <a:lstStyle/>
                    <a:p>
                      <a:r>
                        <a:rPr sz="1100" b="0">
                          <a:solidFill>
                            <a:srgbClr val="1F2328"/>
                          </a:solidFill>
                          <a:latin typeface="Calibri"/>
                        </a:rPr>
                        <a:t>SE-01 flagged calidad_datos.json again, this time for “localidad” and “localcod” inside “nulos” ({localidad: 5412, localcod: 5634}), which…</a:t>
                      </a:r>
                    </a:p>
                  </a:txBody>
                  <a:tcPr marL="54864" marR="54864" marT="18288" marB="18288">
                    <a:solidFill>
                      <a:srgbClr val="F6F4F2"/>
                    </a:solidFill>
                  </a:tcPr>
                </a:tc>
                <a:extLst>
                  <a:ext uri="{0D108BD9-81ED-4DB2-BD59-A6C34878D82A}">
                    <a16:rowId xmlns:a16="http://schemas.microsoft.com/office/drawing/2014/main" val="10010"/>
                  </a:ext>
                </a:extLst>
              </a:tr>
              <a:tr h="274320">
                <a:tc>
                  <a:txBody>
                    <a:bodyPr/>
                    <a:lstStyle/>
                    <a:p>
                      <a:r>
                        <a:rPr sz="1100" b="0">
                          <a:solidFill>
                            <a:srgbClr val="1F2328"/>
                          </a:solidFill>
                          <a:latin typeface="Calibri"/>
                        </a:rPr>
                        <a:t>INC-11</a:t>
                      </a:r>
                    </a:p>
                  </a:txBody>
                  <a:tcPr marL="54864" marR="54864" marT="18288" marB="18288">
                    <a:solidFill>
                      <a:srgbClr val="FFFFFF"/>
                    </a:solidFill>
                  </a:tcPr>
                </a:tc>
                <a:tc>
                  <a:txBody>
                    <a:bodyPr/>
                    <a:lstStyle/>
                    <a:p>
                      <a:r>
                        <a:rPr sz="1100" b="0">
                          <a:solidFill>
                            <a:srgbClr val="1F2328"/>
                          </a:solidFill>
                          <a:latin typeface="Calibri"/>
                        </a:rPr>
                        <a:t>02</a:t>
                      </a:r>
                    </a:p>
                  </a:txBody>
                  <a:tcPr marL="54864" marR="54864" marT="18288" marB="18288">
                    <a:solidFill>
                      <a:srgbClr val="FFFFFF"/>
                    </a:solidFill>
                  </a:tcPr>
                </a:tc>
                <a:tc>
                  <a:txBody>
                    <a:bodyPr/>
                    <a:lstStyle/>
                    <a:p>
                      <a:r>
                        <a:rPr sz="1100" b="0">
                          <a:solidFill>
                            <a:srgbClr val="1F2328"/>
                          </a:solidFill>
                          <a:latin typeface="Calibri"/>
                        </a:rPr>
                        <a:t>CI-03</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Lighthouse's mobile accessibility audit dropped from 100 to 96 (rule link-name): below 960 px the logo link had no accessible name. This is…</a:t>
                      </a:r>
                    </a:p>
                  </a:txBody>
                  <a:tcPr marL="54864" marR="54864" marT="18288" marB="18288">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Incident log (2/2)</a:t>
            </a:r>
          </a:p>
        </p:txBody>
      </p:sp>
      <p:sp>
        <p:nvSpPr>
          <p:cNvPr id="4" name="TextBox 3"/>
          <p:cNvSpPr txBox="1"/>
          <p:nvPr/>
        </p:nvSpPr>
        <p:spPr>
          <a:xfrm>
            <a:off x="548640" y="960120"/>
            <a:ext cx="10972800" cy="457200"/>
          </a:xfrm>
          <a:prstGeom prst="rect">
            <a:avLst/>
          </a:prstGeom>
          <a:noFill/>
        </p:spPr>
        <p:txBody>
          <a:bodyPr wrap="square" lIns="45720" rIns="45720" anchor="t">
            <a:spAutoFit/>
          </a:bodyPr>
          <a:lstStyle/>
          <a:p>
            <a:pPr algn="l">
              <a:spcAft>
                <a:spcPts val="600"/>
              </a:spcAft>
            </a:pPr>
            <a:r>
              <a:rPr sz="1600" b="0">
                <a:solidFill>
                  <a:srgbClr val="57606A"/>
                </a:solidFill>
                <a:latin typeface="Calibri"/>
              </a:rPr>
              <a:t>22 incidents: 17 product · 4 test script · 1 infrastructure — all reproduced, classified, fixed and re-measured</a:t>
            </a:r>
          </a:p>
        </p:txBody>
      </p:sp>
      <p:sp>
        <p:nvSpPr>
          <p:cNvPr id="5" name="TextBox 4"/>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Ower Lopez</a:t>
            </a:r>
          </a:p>
        </p:txBody>
      </p:sp>
      <p:sp>
        <p:nvSpPr>
          <p:cNvPr id="6" name="TextBox 5"/>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20</a:t>
            </a:r>
          </a:p>
        </p:txBody>
      </p:sp>
      <p:graphicFrame>
        <p:nvGraphicFramePr>
          <p:cNvPr id="7" name="Table 6"/>
          <p:cNvGraphicFramePr>
            <a:graphicFrameLocks noGrp="1"/>
          </p:cNvGraphicFramePr>
          <p:nvPr/>
        </p:nvGraphicFramePr>
        <p:xfrm>
          <a:off x="548640" y="1417320"/>
          <a:ext cx="11064240" cy="329184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7680960">
                  <a:extLst>
                    <a:ext uri="{9D8B030D-6E8A-4147-A177-3AD203B41FA5}">
                      <a16:colId xmlns:a16="http://schemas.microsoft.com/office/drawing/2014/main" val="20004"/>
                    </a:ext>
                  </a:extLst>
                </a:gridCol>
              </a:tblGrid>
              <a:tr h="274320">
                <a:tc>
                  <a:txBody>
                    <a:bodyPr/>
                    <a:lstStyle/>
                    <a:p>
                      <a:r>
                        <a:rPr sz="1100" b="1">
                          <a:solidFill>
                            <a:srgbClr val="FFFFFF"/>
                          </a:solidFill>
                          <a:latin typeface="Calibri"/>
                        </a:rPr>
                        <a:t>ID</a:t>
                      </a:r>
                    </a:p>
                  </a:txBody>
                  <a:tcPr marL="54864" marR="54864" marT="18288" marB="18288">
                    <a:solidFill>
                      <a:srgbClr val="7A1F2B"/>
                    </a:solidFill>
                  </a:tcPr>
                </a:tc>
                <a:tc>
                  <a:txBody>
                    <a:bodyPr/>
                    <a:lstStyle/>
                    <a:p>
                      <a:r>
                        <a:rPr sz="1100" b="1">
                          <a:solidFill>
                            <a:srgbClr val="FFFFFF"/>
                          </a:solidFill>
                          <a:latin typeface="Calibri"/>
                        </a:rPr>
                        <a:t>Run</a:t>
                      </a:r>
                    </a:p>
                  </a:txBody>
                  <a:tcPr marL="54864" marR="54864" marT="18288" marB="18288">
                    <a:solidFill>
                      <a:srgbClr val="7A1F2B"/>
                    </a:solidFill>
                  </a:tcPr>
                </a:tc>
                <a:tc>
                  <a:txBody>
                    <a:bodyPr/>
                    <a:lstStyle/>
                    <a:p>
                      <a:r>
                        <a:rPr sz="1100" b="1">
                          <a:solidFill>
                            <a:srgbClr val="FFFFFF"/>
                          </a:solidFill>
                          <a:latin typeface="Calibri"/>
                        </a:rPr>
                        <a:t>Metric</a:t>
                      </a:r>
                    </a:p>
                  </a:txBody>
                  <a:tcPr marL="54864" marR="54864" marT="18288" marB="18288">
                    <a:solidFill>
                      <a:srgbClr val="7A1F2B"/>
                    </a:solidFill>
                  </a:tcPr>
                </a:tc>
                <a:tc>
                  <a:txBody>
                    <a:bodyPr/>
                    <a:lstStyle/>
                    <a:p>
                      <a:r>
                        <a:rPr sz="1100" b="1">
                          <a:solidFill>
                            <a:srgbClr val="FFFFFF"/>
                          </a:solidFill>
                          <a:latin typeface="Calibri"/>
                        </a:rPr>
                        <a:t>Origin</a:t>
                      </a:r>
                    </a:p>
                  </a:txBody>
                  <a:tcPr marL="54864" marR="54864" marT="18288" marB="18288">
                    <a:solidFill>
                      <a:srgbClr val="7A1F2B"/>
                    </a:solidFill>
                  </a:tcPr>
                </a:tc>
                <a:tc>
                  <a:txBody>
                    <a:bodyPr/>
                    <a:lstStyle/>
                    <a:p>
                      <a:r>
                        <a:rPr sz="1100" b="1">
                          <a:solidFill>
                            <a:srgbClr val="FFFFFF"/>
                          </a:solidFill>
                          <a:latin typeface="Calibri"/>
                        </a:rPr>
                        <a:t>What happened</a:t>
                      </a:r>
                    </a:p>
                  </a:txBody>
                  <a:tcPr marL="54864" marR="54864" marT="18288" marB="18288">
                    <a:solidFill>
                      <a:srgbClr val="7A1F2B"/>
                    </a:solidFill>
                  </a:tcPr>
                </a:tc>
                <a:extLst>
                  <a:ext uri="{0D108BD9-81ED-4DB2-BD59-A6C34878D82A}">
                    <a16:rowId xmlns:a16="http://schemas.microsoft.com/office/drawing/2014/main" val="10000"/>
                  </a:ext>
                </a:extLst>
              </a:tr>
              <a:tr h="274320">
                <a:tc>
                  <a:txBody>
                    <a:bodyPr/>
                    <a:lstStyle/>
                    <a:p>
                      <a:r>
                        <a:rPr sz="1100" b="0">
                          <a:solidFill>
                            <a:srgbClr val="1F2328"/>
                          </a:solidFill>
                          <a:latin typeface="Calibri"/>
                        </a:rPr>
                        <a:t>INC-12</a:t>
                      </a:r>
                    </a:p>
                  </a:txBody>
                  <a:tcPr marL="54864" marR="54864" marT="18288" marB="18288">
                    <a:solidFill>
                      <a:srgbClr val="FFFFFF"/>
                    </a:solidFill>
                  </a:tcPr>
                </a:tc>
                <a:tc>
                  <a:txBody>
                    <a:bodyPr/>
                    <a:lstStyle/>
                    <a:p>
                      <a:r>
                        <a:rPr sz="1100" b="0">
                          <a:solidFill>
                            <a:srgbClr val="1F2328"/>
                          </a:solidFill>
                          <a:latin typeface="Calibri"/>
                        </a:rPr>
                        <a:t>02</a:t>
                      </a:r>
                    </a:p>
                  </a:txBody>
                  <a:tcPr marL="54864" marR="54864" marT="18288" marB="18288">
                    <a:solidFill>
                      <a:srgbClr val="FFFFFF"/>
                    </a:solidFill>
                  </a:tcPr>
                </a:tc>
                <a:tc>
                  <a:txBody>
                    <a:bodyPr/>
                    <a:lstStyle/>
                    <a:p>
                      <a:r>
                        <a:rPr sz="1100" b="0">
                          <a:solidFill>
                            <a:srgbClr val="1F2328"/>
                          </a:solidFill>
                          <a:latin typeface="Calibri"/>
                        </a:rPr>
                        <a:t>ED-01</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Cumulative layout shift (CLS) rose from 0 to 0.11 on mobile, above the Core Web Vitals “good” value (0.1). Lighthouse attributes it to the…</a:t>
                      </a:r>
                    </a:p>
                  </a:txBody>
                  <a:tcPr marL="54864" marR="54864" marT="18288" marB="18288">
                    <a:solidFill>
                      <a:srgbClr val="FFFFFF"/>
                    </a:solidFill>
                  </a:tcPr>
                </a:tc>
                <a:extLst>
                  <a:ext uri="{0D108BD9-81ED-4DB2-BD59-A6C34878D82A}">
                    <a16:rowId xmlns:a16="http://schemas.microsoft.com/office/drawing/2014/main" val="10001"/>
                  </a:ext>
                </a:extLst>
              </a:tr>
              <a:tr h="274320">
                <a:tc>
                  <a:txBody>
                    <a:bodyPr/>
                    <a:lstStyle/>
                    <a:p>
                      <a:r>
                        <a:rPr sz="1100" b="0">
                          <a:solidFill>
                            <a:srgbClr val="1F2328"/>
                          </a:solidFill>
                          <a:latin typeface="Calibri"/>
                        </a:rPr>
                        <a:t>INC-13</a:t>
                      </a:r>
                    </a:p>
                  </a:txBody>
                  <a:tcPr marL="54864" marR="54864" marT="18288" marB="18288">
                    <a:solidFill>
                      <a:srgbClr val="F6F4F2"/>
                    </a:solidFill>
                  </a:tcPr>
                </a:tc>
                <a:tc>
                  <a:txBody>
                    <a:bodyPr/>
                    <a:lstStyle/>
                    <a:p>
                      <a:r>
                        <a:rPr sz="1100" b="0">
                          <a:solidFill>
                            <a:srgbClr val="1F2328"/>
                          </a:solidFill>
                          <a:latin typeface="Calibri"/>
                        </a:rPr>
                        <a:t>03</a:t>
                      </a:r>
                    </a:p>
                  </a:txBody>
                  <a:tcPr marL="54864" marR="54864" marT="18288" marB="18288">
                    <a:solidFill>
                      <a:srgbClr val="F6F4F2"/>
                    </a:solidFill>
                  </a:tcPr>
                </a:tc>
                <a:tc>
                  <a:txBody>
                    <a:bodyPr/>
                    <a:lstStyle/>
                    <a:p>
                      <a:r>
                        <a:rPr sz="1100" b="0">
                          <a:solidFill>
                            <a:srgbClr val="1F2328"/>
                          </a:solidFill>
                          <a:latin typeface="Calibri"/>
                        </a:rPr>
                        <a:t>ED-01</a:t>
                      </a:r>
                    </a:p>
                  </a:txBody>
                  <a:tcPr marL="54864" marR="54864" marT="18288" marB="18288">
                    <a:solidFill>
                      <a:srgbClr val="F6F4F2"/>
                    </a:solidFill>
                  </a:tcPr>
                </a:tc>
                <a:tc>
                  <a:txBody>
                    <a:bodyPr/>
                    <a:lstStyle/>
                    <a:p>
                      <a:r>
                        <a:rPr sz="1100" b="0">
                          <a:solidFill>
                            <a:srgbClr val="1F2328"/>
                          </a:solidFill>
                          <a:latin typeface="Calibri"/>
                        </a:rPr>
                        <a:t>Product</a:t>
                      </a:r>
                    </a:p>
                  </a:txBody>
                  <a:tcPr marL="54864" marR="54864" marT="18288" marB="18288">
                    <a:solidFill>
                      <a:srgbClr val="F6F4F2"/>
                    </a:solidFill>
                  </a:tcPr>
                </a:tc>
                <a:tc>
                  <a:txBody>
                    <a:bodyPr/>
                    <a:lstStyle/>
                    <a:p>
                      <a:r>
                        <a:rPr sz="1100" b="0">
                          <a:solidFill>
                            <a:srgbClr val="1F2328"/>
                          </a:solidFill>
                          <a:latin typeface="Calibri"/>
                        </a:rPr>
                        <a:t>Mobile CLS stayed at 0.109 after INC-12. PerformanceObserver (layout-shift) at 412×823 showed the real cause: when the data is painted, the…</a:t>
                      </a:r>
                    </a:p>
                  </a:txBody>
                  <a:tcPr marL="54864" marR="54864" marT="18288" marB="18288">
                    <a:solidFill>
                      <a:srgbClr val="F6F4F2"/>
                    </a:solidFill>
                  </a:tcPr>
                </a:tc>
                <a:extLst>
                  <a:ext uri="{0D108BD9-81ED-4DB2-BD59-A6C34878D82A}">
                    <a16:rowId xmlns:a16="http://schemas.microsoft.com/office/drawing/2014/main" val="10002"/>
                  </a:ext>
                </a:extLst>
              </a:tr>
              <a:tr h="274320">
                <a:tc>
                  <a:txBody>
                    <a:bodyPr/>
                    <a:lstStyle/>
                    <a:p>
                      <a:r>
                        <a:rPr sz="1100" b="0">
                          <a:solidFill>
                            <a:srgbClr val="1F2328"/>
                          </a:solidFill>
                          <a:latin typeface="Calibri"/>
                        </a:rPr>
                        <a:t>INC-14</a:t>
                      </a:r>
                    </a:p>
                  </a:txBody>
                  <a:tcPr marL="54864" marR="54864" marT="18288" marB="18288">
                    <a:solidFill>
                      <a:srgbClr val="FFFFFF"/>
                    </a:solidFill>
                  </a:tcPr>
                </a:tc>
                <a:tc>
                  <a:txBody>
                    <a:bodyPr/>
                    <a:lstStyle/>
                    <a:p>
                      <a:r>
                        <a:rPr sz="1100" b="0">
                          <a:solidFill>
                            <a:srgbClr val="1F2328"/>
                          </a:solidFill>
                          <a:latin typeface="Calibri"/>
                        </a:rPr>
                        <a:t>03</a:t>
                      </a:r>
                    </a:p>
                  </a:txBody>
                  <a:tcPr marL="54864" marR="54864" marT="18288" marB="18288">
                    <a:solidFill>
                      <a:srgbClr val="FFFFFF"/>
                    </a:solidFill>
                  </a:tcPr>
                </a:tc>
                <a:tc>
                  <a:txBody>
                    <a:bodyPr/>
                    <a:lstStyle/>
                    <a:p>
                      <a:r>
                        <a:rPr sz="1100" b="0">
                          <a:solidFill>
                            <a:srgbClr val="1F2328"/>
                          </a:solidFill>
                          <a:latin typeface="Calibri"/>
                        </a:rPr>
                        <a:t>ED-01</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Mobile LCP of 2.56 s (median of 3 runs), above the 2.5 s threshold; it was 2.48 s in run 02. The LCP element (the provisional-data notice)…</a:t>
                      </a:r>
                    </a:p>
                  </a:txBody>
                  <a:tcPr marL="54864" marR="54864" marT="18288" marB="18288">
                    <a:solidFill>
                      <a:srgbClr val="FFFFFF"/>
                    </a:solidFill>
                  </a:tcPr>
                </a:tc>
                <a:extLst>
                  <a:ext uri="{0D108BD9-81ED-4DB2-BD59-A6C34878D82A}">
                    <a16:rowId xmlns:a16="http://schemas.microsoft.com/office/drawing/2014/main" val="10003"/>
                  </a:ext>
                </a:extLst>
              </a:tr>
              <a:tr h="274320">
                <a:tc>
                  <a:txBody>
                    <a:bodyPr/>
                    <a:lstStyle/>
                    <a:p>
                      <a:r>
                        <a:rPr sz="1100" b="0">
                          <a:solidFill>
                            <a:srgbClr val="1F2328"/>
                          </a:solidFill>
                          <a:latin typeface="Calibri"/>
                        </a:rPr>
                        <a:t>INC-15</a:t>
                      </a:r>
                    </a:p>
                  </a:txBody>
                  <a:tcPr marL="54864" marR="54864" marT="18288" marB="18288">
                    <a:solidFill>
                      <a:srgbClr val="F6F4F2"/>
                    </a:solidFill>
                  </a:tcPr>
                </a:tc>
                <a:tc>
                  <a:txBody>
                    <a:bodyPr/>
                    <a:lstStyle/>
                    <a:p>
                      <a:r>
                        <a:rPr sz="1100" b="0">
                          <a:solidFill>
                            <a:srgbClr val="1F2328"/>
                          </a:solidFill>
                          <a:latin typeface="Calibri"/>
                        </a:rPr>
                        <a:t>04</a:t>
                      </a:r>
                    </a:p>
                  </a:txBody>
                  <a:tcPr marL="54864" marR="54864" marT="18288" marB="18288">
                    <a:solidFill>
                      <a:srgbClr val="F6F4F2"/>
                    </a:solidFill>
                  </a:tcPr>
                </a:tc>
                <a:tc>
                  <a:txBody>
                    <a:bodyPr/>
                    <a:lstStyle/>
                    <a:p>
                      <a:r>
                        <a:rPr sz="1100" b="0">
                          <a:solidFill>
                            <a:srgbClr val="1F2328"/>
                          </a:solidFill>
                          <a:latin typeface="Calibri"/>
                        </a:rPr>
                        <a:t>ED-01</a:t>
                      </a:r>
                    </a:p>
                  </a:txBody>
                  <a:tcPr marL="54864" marR="54864" marT="18288" marB="18288">
                    <a:solidFill>
                      <a:srgbClr val="F6F4F2"/>
                    </a:solidFill>
                  </a:tcPr>
                </a:tc>
                <a:tc>
                  <a:txBody>
                    <a:bodyPr/>
                    <a:lstStyle/>
                    <a:p>
                      <a:r>
                        <a:rPr sz="1100" b="0">
                          <a:solidFill>
                            <a:srgbClr val="1F2328"/>
                          </a:solidFill>
                          <a:latin typeface="Calibri"/>
                        </a:rPr>
                        <a:t>Product</a:t>
                      </a:r>
                    </a:p>
                  </a:txBody>
                  <a:tcPr marL="54864" marR="54864" marT="18288" marB="18288">
                    <a:solidFill>
                      <a:srgbClr val="F6F4F2"/>
                    </a:solidFill>
                  </a:tcPr>
                </a:tc>
                <a:tc>
                  <a:txBody>
                    <a:bodyPr/>
                    <a:lstStyle/>
                    <a:p>
                      <a:r>
                        <a:rPr sz="1100" b="0">
                          <a:solidFill>
                            <a:srgbClr val="1F2328"/>
                          </a:solidFill>
                          <a:latin typeface="Calibri"/>
                        </a:rPr>
                        <a:t>CLS was fixed (0.0013), but mobile LCP stayed at 2.55 s even though the notice no longer waited for the data. Lighthouse uses simulated…</a:t>
                      </a:r>
                    </a:p>
                  </a:txBody>
                  <a:tcPr marL="54864" marR="54864" marT="18288" marB="18288">
                    <a:solidFill>
                      <a:srgbClr val="F6F4F2"/>
                    </a:solidFill>
                  </a:tcPr>
                </a:tc>
                <a:extLst>
                  <a:ext uri="{0D108BD9-81ED-4DB2-BD59-A6C34878D82A}">
                    <a16:rowId xmlns:a16="http://schemas.microsoft.com/office/drawing/2014/main" val="10004"/>
                  </a:ext>
                </a:extLst>
              </a:tr>
              <a:tr h="274320">
                <a:tc>
                  <a:txBody>
                    <a:bodyPr/>
                    <a:lstStyle/>
                    <a:p>
                      <a:r>
                        <a:rPr sz="1100" b="0">
                          <a:solidFill>
                            <a:srgbClr val="1F2328"/>
                          </a:solidFill>
                          <a:latin typeface="Calibri"/>
                        </a:rPr>
                        <a:t>INC-16</a:t>
                      </a:r>
                    </a:p>
                  </a:txBody>
                  <a:tcPr marL="54864" marR="54864" marT="18288" marB="18288">
                    <a:solidFill>
                      <a:srgbClr val="FFFFFF"/>
                    </a:solidFill>
                  </a:tcPr>
                </a:tc>
                <a:tc>
                  <a:txBody>
                    <a:bodyPr/>
                    <a:lstStyle/>
                    <a:p>
                      <a:r>
                        <a:rPr sz="1100" b="0">
                          <a:solidFill>
                            <a:srgbClr val="1F2328"/>
                          </a:solidFill>
                          <a:latin typeface="Calibri"/>
                        </a:rPr>
                        <a:t>05</a:t>
                      </a:r>
                    </a:p>
                  </a:txBody>
                  <a:tcPr marL="54864" marR="54864" marT="18288" marB="18288">
                    <a:solidFill>
                      <a:srgbClr val="FFFFFF"/>
                    </a:solidFill>
                  </a:tcPr>
                </a:tc>
                <a:tc>
                  <a:txBody>
                    <a:bodyPr/>
                    <a:lstStyle/>
                    <a:p>
                      <a:r>
                        <a:rPr sz="1100" b="0">
                          <a:solidFill>
                            <a:srgbClr val="1F2328"/>
                          </a:solidFill>
                          <a:latin typeface="Calibri"/>
                        </a:rPr>
                        <a:t>CI-04</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A manual review of the run 05 screenshots showed the annual chart legend displaying “P.” and “…lcipar” instead of the species names. The…</a:t>
                      </a:r>
                    </a:p>
                  </a:txBody>
                  <a:tcPr marL="54864" marR="54864" marT="18288" marB="18288">
                    <a:solidFill>
                      <a:srgbClr val="FFFFFF"/>
                    </a:solidFill>
                  </a:tcPr>
                </a:tc>
                <a:extLst>
                  <a:ext uri="{0D108BD9-81ED-4DB2-BD59-A6C34878D82A}">
                    <a16:rowId xmlns:a16="http://schemas.microsoft.com/office/drawing/2014/main" val="10005"/>
                  </a:ext>
                </a:extLst>
              </a:tr>
              <a:tr h="274320">
                <a:tc>
                  <a:txBody>
                    <a:bodyPr/>
                    <a:lstStyle/>
                    <a:p>
                      <a:r>
                        <a:rPr sz="1100" b="0">
                          <a:solidFill>
                            <a:srgbClr val="1F2328"/>
                          </a:solidFill>
                          <a:latin typeface="Calibri"/>
                        </a:rPr>
                        <a:t>INC-17</a:t>
                      </a:r>
                    </a:p>
                  </a:txBody>
                  <a:tcPr marL="54864" marR="54864" marT="18288" marB="18288">
                    <a:solidFill>
                      <a:srgbClr val="F6F4F2"/>
                    </a:solidFill>
                  </a:tcPr>
                </a:tc>
                <a:tc>
                  <a:txBody>
                    <a:bodyPr/>
                    <a:lstStyle/>
                    <a:p>
                      <a:r>
                        <a:rPr sz="1100" b="0">
                          <a:solidFill>
                            <a:srgbClr val="1F2328"/>
                          </a:solidFill>
                          <a:latin typeface="Calibri"/>
                        </a:rPr>
                        <a:t>06</a:t>
                      </a:r>
                    </a:p>
                  </a:txBody>
                  <a:tcPr marL="54864" marR="54864" marT="18288" marB="18288">
                    <a:solidFill>
                      <a:srgbClr val="F6F4F2"/>
                    </a:solidFill>
                  </a:tcPr>
                </a:tc>
                <a:tc>
                  <a:txBody>
                    <a:bodyPr/>
                    <a:lstStyle/>
                    <a:p>
                      <a:r>
                        <a:rPr sz="1100" b="0">
                          <a:solidFill>
                            <a:srgbClr val="1F2328"/>
                          </a:solidFill>
                          <a:latin typeface="Calibri"/>
                        </a:rPr>
                        <a:t>IF-03</a:t>
                      </a:r>
                    </a:p>
                  </a:txBody>
                  <a:tcPr marL="54864" marR="54864" marT="18288" marB="18288">
                    <a:solidFill>
                      <a:srgbClr val="F6F4F2"/>
                    </a:solidFill>
                  </a:tcPr>
                </a:tc>
                <a:tc>
                  <a:txBody>
                    <a:bodyPr/>
                    <a:lstStyle/>
                    <a:p>
                      <a:r>
                        <a:rPr sz="1100" b="0">
                          <a:solidFill>
                            <a:srgbClr val="1F2328"/>
                          </a:solidFill>
                          <a:latin typeface="Calibri"/>
                        </a:rPr>
                        <a:t>Product</a:t>
                      </a:r>
                    </a:p>
                  </a:txBody>
                  <a:tcPr marL="54864" marR="54864" marT="18288" marB="18288">
                    <a:solidFill>
                      <a:srgbClr val="F6F4F2"/>
                    </a:solidFill>
                  </a:tcPr>
                </a:tc>
                <a:tc>
                  <a:txBody>
                    <a:bodyPr/>
                    <a:lstStyle/>
                    <a:p>
                      <a:r>
                        <a:rPr sz="1100" b="0">
                          <a:solidFill>
                            <a:srgbClr val="1F2328"/>
                          </a:solidFill>
                          <a:latin typeface="Calibri"/>
                        </a:rPr>
                        <a:t>A manual review of the run 06 screenshots showed “Datem Del Mara�on” in the districts table. The official CSV files have the letter Ñ…</a:t>
                      </a:r>
                    </a:p>
                  </a:txBody>
                  <a:tcPr marL="54864" marR="54864" marT="18288" marB="18288">
                    <a:solidFill>
                      <a:srgbClr val="F6F4F2"/>
                    </a:solidFill>
                  </a:tcPr>
                </a:tc>
                <a:extLst>
                  <a:ext uri="{0D108BD9-81ED-4DB2-BD59-A6C34878D82A}">
                    <a16:rowId xmlns:a16="http://schemas.microsoft.com/office/drawing/2014/main" val="10006"/>
                  </a:ext>
                </a:extLst>
              </a:tr>
              <a:tr h="274320">
                <a:tc>
                  <a:txBody>
                    <a:bodyPr/>
                    <a:lstStyle/>
                    <a:p>
                      <a:r>
                        <a:rPr sz="1100" b="0">
                          <a:solidFill>
                            <a:srgbClr val="1F2328"/>
                          </a:solidFill>
                          <a:latin typeface="Calibri"/>
                        </a:rPr>
                        <a:t>INC-18</a:t>
                      </a:r>
                    </a:p>
                  </a:txBody>
                  <a:tcPr marL="54864" marR="54864" marT="18288" marB="18288">
                    <a:solidFill>
                      <a:srgbClr val="FFFFFF"/>
                    </a:solidFill>
                  </a:tcPr>
                </a:tc>
                <a:tc>
                  <a:txBody>
                    <a:bodyPr/>
                    <a:lstStyle/>
                    <a:p>
                      <a:r>
                        <a:rPr sz="1100" b="0">
                          <a:solidFill>
                            <a:srgbClr val="1F2328"/>
                          </a:solidFill>
                          <a:latin typeface="Calibri"/>
                        </a:rPr>
                        <a:t>06</a:t>
                      </a:r>
                    </a:p>
                  </a:txBody>
                  <a:tcPr marL="54864" marR="54864" marT="18288" marB="18288">
                    <a:solidFill>
                      <a:srgbClr val="FFFFFF"/>
                    </a:solidFill>
                  </a:tcPr>
                </a:tc>
                <a:tc>
                  <a:txBody>
                    <a:bodyPr/>
                    <a:lstStyle/>
                    <a:p>
                      <a:r>
                        <a:rPr sz="1100" b="0">
                          <a:solidFill>
                            <a:srgbClr val="1F2328"/>
                          </a:solidFill>
                          <a:latin typeface="Calibri"/>
                        </a:rPr>
                        <a:t>CI-04</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In the endemic channel, the “Alarm” and “Safety” labels overlapped at the end of the chart when those bands are thin (e.g. 2024).</a:t>
                      </a:r>
                    </a:p>
                  </a:txBody>
                  <a:tcPr marL="54864" marR="54864" marT="18288" marB="18288">
                    <a:solidFill>
                      <a:srgbClr val="FFFFFF"/>
                    </a:solidFill>
                  </a:tcPr>
                </a:tc>
                <a:extLst>
                  <a:ext uri="{0D108BD9-81ED-4DB2-BD59-A6C34878D82A}">
                    <a16:rowId xmlns:a16="http://schemas.microsoft.com/office/drawing/2014/main" val="10007"/>
                  </a:ext>
                </a:extLst>
              </a:tr>
              <a:tr h="274320">
                <a:tc>
                  <a:txBody>
                    <a:bodyPr/>
                    <a:lstStyle/>
                    <a:p>
                      <a:r>
                        <a:rPr sz="1100" b="0">
                          <a:solidFill>
                            <a:srgbClr val="1F2328"/>
                          </a:solidFill>
                          <a:latin typeface="Calibri"/>
                        </a:rPr>
                        <a:t>INC-19</a:t>
                      </a:r>
                    </a:p>
                  </a:txBody>
                  <a:tcPr marL="54864" marR="54864" marT="18288" marB="18288">
                    <a:solidFill>
                      <a:srgbClr val="F6F4F2"/>
                    </a:solidFill>
                  </a:tcPr>
                </a:tc>
                <a:tc>
                  <a:txBody>
                    <a:bodyPr/>
                    <a:lstStyle/>
                    <a:p>
                      <a:r>
                        <a:rPr sz="1100" b="0">
                          <a:solidFill>
                            <a:srgbClr val="1F2328"/>
                          </a:solidFill>
                          <a:latin typeface="Calibri"/>
                        </a:rPr>
                        <a:t>06</a:t>
                      </a:r>
                    </a:p>
                  </a:txBody>
                  <a:tcPr marL="54864" marR="54864" marT="18288" marB="18288">
                    <a:solidFill>
                      <a:srgbClr val="F6F4F2"/>
                    </a:solidFill>
                  </a:tcPr>
                </a:tc>
                <a:tc>
                  <a:txBody>
                    <a:bodyPr/>
                    <a:lstStyle/>
                    <a:p>
                      <a:r>
                        <a:rPr sz="1100" b="0">
                          <a:solidFill>
                            <a:srgbClr val="1F2328"/>
                          </a:solidFill>
                          <a:latin typeface="Calibri"/>
                        </a:rPr>
                        <a:t>IF-03</a:t>
                      </a:r>
                    </a:p>
                  </a:txBody>
                  <a:tcPr marL="54864" marR="54864" marT="18288" marB="18288">
                    <a:solidFill>
                      <a:srgbClr val="F6F4F2"/>
                    </a:solidFill>
                  </a:tcPr>
                </a:tc>
                <a:tc>
                  <a:txBody>
                    <a:bodyPr/>
                    <a:lstStyle/>
                    <a:p>
                      <a:r>
                        <a:rPr sz="1100" b="0">
                          <a:solidFill>
                            <a:srgbClr val="1F2328"/>
                          </a:solidFill>
                          <a:latin typeface="Calibri"/>
                        </a:rPr>
                        <a:t>Product</a:t>
                      </a:r>
                    </a:p>
                  </a:txBody>
                  <a:tcPr marL="54864" marR="54864" marT="18288" marB="18288">
                    <a:solidFill>
                      <a:srgbClr val="F6F4F2"/>
                    </a:solidFill>
                  </a:tcPr>
                </a:tc>
                <a:tc>
                  <a:txBody>
                    <a:bodyPr/>
                    <a:lstStyle/>
                    <a:p>
                      <a:r>
                        <a:rPr sz="1100" b="0">
                          <a:solidFill>
                            <a:srgbClr val="1F2328"/>
                          </a:solidFill>
                          <a:latin typeface="Calibri"/>
                        </a:rPr>
                        <a:t>In the “Data validation” card, the long label “Department recovered from INEI ubigeo” widened the first column and left values in a very…</a:t>
                      </a:r>
                    </a:p>
                  </a:txBody>
                  <a:tcPr marL="54864" marR="54864" marT="18288" marB="18288">
                    <a:solidFill>
                      <a:srgbClr val="F6F4F2"/>
                    </a:solidFill>
                  </a:tcPr>
                </a:tc>
                <a:extLst>
                  <a:ext uri="{0D108BD9-81ED-4DB2-BD59-A6C34878D82A}">
                    <a16:rowId xmlns:a16="http://schemas.microsoft.com/office/drawing/2014/main" val="10008"/>
                  </a:ext>
                </a:extLst>
              </a:tr>
              <a:tr h="274320">
                <a:tc>
                  <a:txBody>
                    <a:bodyPr/>
                    <a:lstStyle/>
                    <a:p>
                      <a:r>
                        <a:rPr sz="1100" b="0">
                          <a:solidFill>
                            <a:srgbClr val="1F2328"/>
                          </a:solidFill>
                          <a:latin typeface="Calibri"/>
                        </a:rPr>
                        <a:t>INC-20</a:t>
                      </a:r>
                    </a:p>
                  </a:txBody>
                  <a:tcPr marL="54864" marR="54864" marT="18288" marB="18288">
                    <a:solidFill>
                      <a:srgbClr val="FFFFFF"/>
                    </a:solidFill>
                  </a:tcPr>
                </a:tc>
                <a:tc>
                  <a:txBody>
                    <a:bodyPr/>
                    <a:lstStyle/>
                    <a:p>
                      <a:r>
                        <a:rPr sz="1100" b="0">
                          <a:solidFill>
                            <a:srgbClr val="1F2328"/>
                          </a:solidFill>
                          <a:latin typeface="Calibri"/>
                        </a:rPr>
                        <a:t>06</a:t>
                      </a:r>
                    </a:p>
                  </a:txBody>
                  <a:tcPr marL="54864" marR="54864" marT="18288" marB="18288">
                    <a:solidFill>
                      <a:srgbClr val="FFFFFF"/>
                    </a:solidFill>
                  </a:tcPr>
                </a:tc>
                <a:tc>
                  <a:txBody>
                    <a:bodyPr/>
                    <a:lstStyle/>
                    <a:p>
                      <a:r>
                        <a:rPr sz="1100" b="0">
                          <a:solidFill>
                            <a:srgbClr val="1F2328"/>
                          </a:solidFill>
                          <a:latin typeface="Calibri"/>
                        </a:rPr>
                        <a:t>SE-02</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Re-running the pipeline for INC-17 revealed it took the download date from the system date (date.today()): each run would have changed the…</a:t>
                      </a:r>
                    </a:p>
                  </a:txBody>
                  <a:tcPr marL="54864" marR="54864" marT="18288" marB="18288">
                    <a:solidFill>
                      <a:srgbClr val="FFFFFF"/>
                    </a:solidFill>
                  </a:tcPr>
                </a:tc>
                <a:extLst>
                  <a:ext uri="{0D108BD9-81ED-4DB2-BD59-A6C34878D82A}">
                    <a16:rowId xmlns:a16="http://schemas.microsoft.com/office/drawing/2014/main" val="10009"/>
                  </a:ext>
                </a:extLst>
              </a:tr>
              <a:tr h="274320">
                <a:tc>
                  <a:txBody>
                    <a:bodyPr/>
                    <a:lstStyle/>
                    <a:p>
                      <a:r>
                        <a:rPr sz="1100" b="0">
                          <a:solidFill>
                            <a:srgbClr val="1F2328"/>
                          </a:solidFill>
                          <a:latin typeface="Calibri"/>
                        </a:rPr>
                        <a:t>INC-21</a:t>
                      </a:r>
                    </a:p>
                  </a:txBody>
                  <a:tcPr marL="54864" marR="54864" marT="18288" marB="18288">
                    <a:solidFill>
                      <a:srgbClr val="F6F4F2"/>
                    </a:solidFill>
                  </a:tcPr>
                </a:tc>
                <a:tc>
                  <a:txBody>
                    <a:bodyPr/>
                    <a:lstStyle/>
                    <a:p>
                      <a:r>
                        <a:rPr sz="1100" b="0">
                          <a:solidFill>
                            <a:srgbClr val="1F2328"/>
                          </a:solidFill>
                          <a:latin typeface="Calibri"/>
                        </a:rPr>
                        <a:t>07</a:t>
                      </a:r>
                    </a:p>
                  </a:txBody>
                  <a:tcPr marL="54864" marR="54864" marT="18288" marB="18288">
                    <a:solidFill>
                      <a:srgbClr val="F6F4F2"/>
                    </a:solidFill>
                  </a:tcPr>
                </a:tc>
                <a:tc>
                  <a:txBody>
                    <a:bodyPr/>
                    <a:lstStyle/>
                    <a:p>
                      <a:r>
                        <a:rPr sz="1100" b="0">
                          <a:solidFill>
                            <a:srgbClr val="1F2328"/>
                          </a:solidFill>
                          <a:latin typeface="Calibri"/>
                        </a:rPr>
                        <a:t>IF-01</a:t>
                      </a:r>
                    </a:p>
                  </a:txBody>
                  <a:tcPr marL="54864" marR="54864" marT="18288" marB="18288">
                    <a:solidFill>
                      <a:srgbClr val="F6F4F2"/>
                    </a:solidFill>
                  </a:tcPr>
                </a:tc>
                <a:tc>
                  <a:txBody>
                    <a:bodyPr/>
                    <a:lstStyle/>
                    <a:p>
                      <a:r>
                        <a:rPr sz="1100" b="0">
                          <a:solidFill>
                            <a:srgbClr val="1F2328"/>
                          </a:solidFill>
                          <a:latin typeface="Calibri"/>
                        </a:rPr>
                        <a:t>Product</a:t>
                      </a:r>
                    </a:p>
                  </a:txBody>
                  <a:tcPr marL="54864" marR="54864" marT="18288" marB="18288">
                    <a:solidFill>
                      <a:srgbClr val="F6F4F2"/>
                    </a:solidFill>
                  </a:tcPr>
                </a:tc>
                <a:tc>
                  <a:txBody>
                    <a:bodyPr/>
                    <a:lstStyle/>
                    <a:p>
                      <a:r>
                        <a:rPr sz="1100" b="0">
                          <a:solidFill>
                            <a:srgbClr val="1F2328"/>
                          </a:solidFill>
                          <a:latin typeface="Calibri"/>
                        </a:rPr>
                        <a:t>Reviewing the English screenshots of run 07 showed Spanish text in the English interface. An automated sweep of the visible text confirmed…</a:t>
                      </a:r>
                    </a:p>
                  </a:txBody>
                  <a:tcPr marL="54864" marR="54864" marT="18288" marB="18288">
                    <a:solidFill>
                      <a:srgbClr val="F6F4F2"/>
                    </a:solidFill>
                  </a:tcPr>
                </a:tc>
                <a:extLst>
                  <a:ext uri="{0D108BD9-81ED-4DB2-BD59-A6C34878D82A}">
                    <a16:rowId xmlns:a16="http://schemas.microsoft.com/office/drawing/2014/main" val="10010"/>
                  </a:ext>
                </a:extLst>
              </a:tr>
              <a:tr h="274320">
                <a:tc>
                  <a:txBody>
                    <a:bodyPr/>
                    <a:lstStyle/>
                    <a:p>
                      <a:r>
                        <a:rPr sz="1100" b="0">
                          <a:solidFill>
                            <a:srgbClr val="1F2328"/>
                          </a:solidFill>
                          <a:latin typeface="Calibri"/>
                        </a:rPr>
                        <a:t>INC-22</a:t>
                      </a:r>
                    </a:p>
                  </a:txBody>
                  <a:tcPr marL="54864" marR="54864" marT="18288" marB="18288">
                    <a:solidFill>
                      <a:srgbClr val="FFFFFF"/>
                    </a:solidFill>
                  </a:tcPr>
                </a:tc>
                <a:tc>
                  <a:txBody>
                    <a:bodyPr/>
                    <a:lstStyle/>
                    <a:p>
                      <a:r>
                        <a:rPr sz="1100" b="0">
                          <a:solidFill>
                            <a:srgbClr val="1F2328"/>
                          </a:solidFill>
                          <a:latin typeface="Calibri"/>
                        </a:rPr>
                        <a:t>08</a:t>
                      </a:r>
                    </a:p>
                  </a:txBody>
                  <a:tcPr marL="54864" marR="54864" marT="18288" marB="18288">
                    <a:solidFill>
                      <a:srgbClr val="FFFFFF"/>
                    </a:solidFill>
                  </a:tcPr>
                </a:tc>
                <a:tc>
                  <a:txBody>
                    <a:bodyPr/>
                    <a:lstStyle/>
                    <a:p>
                      <a:r>
                        <a:rPr sz="1100" b="0">
                          <a:solidFill>
                            <a:srgbClr val="1F2328"/>
                          </a:solidFill>
                          <a:latin typeface="Calibri"/>
                        </a:rPr>
                        <a:t>IF-01</a:t>
                      </a:r>
                    </a:p>
                  </a:txBody>
                  <a:tcPr marL="54864" marR="54864" marT="18288" marB="18288">
                    <a:solidFill>
                      <a:srgbClr val="FFFFFF"/>
                    </a:solidFill>
                  </a:tcPr>
                </a:tc>
                <a:tc>
                  <a:txBody>
                    <a:bodyPr/>
                    <a:lstStyle/>
                    <a:p>
                      <a:r>
                        <a:rPr sz="1100" b="0">
                          <a:solidFill>
                            <a:srgbClr val="1F2328"/>
                          </a:solidFill>
                          <a:latin typeface="Calibri"/>
                        </a:rPr>
                        <a:t>Product</a:t>
                      </a:r>
                    </a:p>
                  </a:txBody>
                  <a:tcPr marL="54864" marR="54864" marT="18288" marB="18288">
                    <a:solidFill>
                      <a:srgbClr val="FFFFFF"/>
                    </a:solidFill>
                  </a:tcPr>
                </a:tc>
                <a:tc>
                  <a:txBody>
                    <a:bodyPr/>
                    <a:lstStyle/>
                    <a:p>
                      <a:r>
                        <a:rPr sz="1100" b="0">
                          <a:solidFill>
                            <a:srgbClr val="1F2328"/>
                          </a:solidFill>
                          <a:latin typeface="Calibri"/>
                        </a:rPr>
                        <a:t>Visual inspection of the English screenshots of run 08 showed “Priority: Alta / Media / Baja” in the board's characteristic cards. The…</a:t>
                      </a:r>
                    </a:p>
                  </a:txBody>
                  <a:tcPr marL="54864" marR="54864" marT="18288" marB="18288">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Lessons learned</a:t>
            </a:r>
          </a:p>
        </p:txBody>
      </p:sp>
      <p:sp>
        <p:nvSpPr>
          <p:cNvPr id="4" name="TextBox 3"/>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Alejandro Phocco</a:t>
            </a:r>
          </a:p>
        </p:txBody>
      </p:sp>
      <p:sp>
        <p:nvSpPr>
          <p:cNvPr id="5" name="TextBox 4"/>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21</a:t>
            </a:r>
          </a:p>
        </p:txBody>
      </p:sp>
      <p:sp>
        <p:nvSpPr>
          <p:cNvPr id="6" name="TextBox 5"/>
          <p:cNvSpPr txBox="1"/>
          <p:nvPr/>
        </p:nvSpPr>
        <p:spPr>
          <a:xfrm>
            <a:off x="548640" y="1371600"/>
            <a:ext cx="11064240" cy="4846320"/>
          </a:xfrm>
          <a:prstGeom prst="rect">
            <a:avLst/>
          </a:prstGeom>
          <a:noFill/>
        </p:spPr>
        <p:txBody>
          <a:bodyPr wrap="square">
            <a:spAutoFit/>
          </a:bodyPr>
          <a:lstStyle/>
          <a:p>
            <a:pPr>
              <a:spcAft>
                <a:spcPts val="900"/>
              </a:spcAft>
            </a:pPr>
            <a:r>
              <a:rPr sz="1700">
                <a:solidFill>
                  <a:srgbClr val="7A1F2B"/>
                </a:solidFill>
                <a:latin typeface="Calibri"/>
              </a:rPr>
              <a:t>▪  </a:t>
            </a:r>
            <a:r>
              <a:rPr sz="1700" b="1">
                <a:solidFill>
                  <a:srgbClr val="1F2328"/>
                </a:solidFill>
                <a:latin typeface="Calibri"/>
              </a:rPr>
              <a:t>Classify before fixing:</a:t>
            </a:r>
            <a:r>
              <a:rPr sz="1700">
                <a:solidFill>
                  <a:srgbClr val="1F2328"/>
                </a:solidFill>
                <a:latin typeface="Calibri"/>
              </a:rPr>
              <a:t> 5 of 22 incidents were in our scripts or environment, not in the product.</a:t>
            </a:r>
          </a:p>
          <a:p>
            <a:pPr>
              <a:spcAft>
                <a:spcPts val="900"/>
              </a:spcAft>
            </a:pPr>
            <a:r>
              <a:rPr sz="1700">
                <a:solidFill>
                  <a:srgbClr val="7A1F2B"/>
                </a:solidFill>
                <a:latin typeface="Calibri"/>
              </a:rPr>
              <a:t>▪  </a:t>
            </a:r>
            <a:r>
              <a:rPr sz="1700" b="1">
                <a:solidFill>
                  <a:srgbClr val="1F2328"/>
                </a:solidFill>
                <a:latin typeface="Calibri"/>
              </a:rPr>
              <a:t>Re-measure after every fix:</a:t>
            </a:r>
            <a:r>
              <a:rPr sz="1700">
                <a:solidFill>
                  <a:srgbClr val="1F2328"/>
                </a:solidFill>
                <a:latin typeface="Calibri"/>
              </a:rPr>
              <a:t> two fixes caused regressions (INC-11, INC-12) and one exposed a latent layout defect (INC-13).</a:t>
            </a:r>
          </a:p>
          <a:p>
            <a:pPr>
              <a:spcAft>
                <a:spcPts val="900"/>
              </a:spcAft>
            </a:pPr>
            <a:r>
              <a:rPr sz="1700">
                <a:solidFill>
                  <a:srgbClr val="7A1F2B"/>
                </a:solidFill>
                <a:latin typeface="Calibri"/>
              </a:rPr>
              <a:t>▪  </a:t>
            </a:r>
            <a:r>
              <a:rPr sz="1700" b="1">
                <a:solidFill>
                  <a:srgbClr val="1F2328"/>
                </a:solidFill>
                <a:latin typeface="Calibri"/>
              </a:rPr>
              <a:t>Close incidents with evidence:</a:t>
            </a:r>
            <a:r>
              <a:rPr sz="1700">
                <a:solidFill>
                  <a:srgbClr val="1F2328"/>
                </a:solidFill>
                <a:latin typeface="Calibri"/>
              </a:rPr>
              <a:t> INC-12 looked fixed from the tool's explanation; run 03 proved it was not.</a:t>
            </a:r>
          </a:p>
          <a:p>
            <a:pPr>
              <a:spcAft>
                <a:spcPts val="900"/>
              </a:spcAft>
            </a:pPr>
            <a:r>
              <a:rPr sz="1700">
                <a:solidFill>
                  <a:srgbClr val="7A1F2B"/>
                </a:solidFill>
                <a:latin typeface="Calibri"/>
              </a:rPr>
              <a:t>▪  </a:t>
            </a:r>
            <a:r>
              <a:rPr sz="1700" b="1">
                <a:solidFill>
                  <a:srgbClr val="1F2328"/>
                </a:solidFill>
                <a:latin typeface="Calibri"/>
              </a:rPr>
              <a:t>One optimisation can hurt another:</a:t>
            </a:r>
            <a:r>
              <a:rPr sz="1700">
                <a:solidFill>
                  <a:srgbClr val="1F2328"/>
                </a:solidFill>
                <a:latin typeface="Calibri"/>
              </a:rPr>
              <a:t> preloads that helped LCP in run 02 hurt it once the LCP element no longer needed the data (INC-15).</a:t>
            </a:r>
          </a:p>
          <a:p>
            <a:pPr>
              <a:spcAft>
                <a:spcPts val="900"/>
              </a:spcAft>
            </a:pPr>
            <a:r>
              <a:rPr sz="1700">
                <a:solidFill>
                  <a:srgbClr val="7A1F2B"/>
                </a:solidFill>
                <a:latin typeface="Calibri"/>
              </a:rPr>
              <a:t>▪  </a:t>
            </a:r>
            <a:r>
              <a:rPr sz="1700" b="1">
                <a:solidFill>
                  <a:srgbClr val="1F2328"/>
                </a:solidFill>
                <a:latin typeface="Calibri"/>
              </a:rPr>
              <a:t>Green is not the end:</a:t>
            </a:r>
            <a:r>
              <a:rPr sz="1700">
                <a:solidFill>
                  <a:srgbClr val="1F2328"/>
                </a:solidFill>
                <a:latin typeface="Calibri"/>
              </a:rPr>
              <a:t> visual review found a clipped legend, overlapping labels, Ñ damaged in the official files and Spanish text in the English UI (INC-16 to INC-22); visual and automated checks complement each other.</a:t>
            </a:r>
          </a:p>
          <a:p>
            <a:pPr>
              <a:spcAft>
                <a:spcPts val="900"/>
              </a:spcAft>
            </a:pPr>
            <a:r>
              <a:rPr sz="1700">
                <a:solidFill>
                  <a:srgbClr val="7A1F2B"/>
                </a:solidFill>
                <a:latin typeface="Calibri"/>
              </a:rPr>
              <a:t>▪  </a:t>
            </a:r>
            <a:r>
              <a:rPr sz="1700" b="1">
                <a:solidFill>
                  <a:srgbClr val="1F2328"/>
                </a:solidFill>
                <a:latin typeface="Calibri"/>
              </a:rPr>
              <a:t>Respect the source:</a:t>
            </a:r>
            <a:r>
              <a:rPr sz="1700">
                <a:solidFill>
                  <a:srgbClr val="1F2328"/>
                </a:solidFill>
                <a:latin typeface="Calibri"/>
              </a:rPr>
              <a:t> restored characters are listed and every figure was checked to be unchanged.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241280" cy="731520"/>
          </a:xfrm>
          <a:prstGeom prst="rect">
            <a:avLst/>
          </a:prstGeom>
          <a:noFill/>
        </p:spPr>
        <p:txBody>
          <a:bodyPr wrap="square" lIns="45720" rIns="45720" anchor="t">
            <a:spAutoFit/>
          </a:bodyPr>
          <a:lstStyle/>
          <a:p>
            <a:pPr algn="l">
              <a:spcAft>
                <a:spcPts val="600"/>
              </a:spcAft>
            </a:pPr>
            <a:r>
              <a:rPr sz="3000" b="1">
                <a:solidFill>
                  <a:srgbClr val="1F2328"/>
                </a:solidFill>
                <a:latin typeface="Calibri"/>
              </a:rPr>
              <a:t>Conclusions</a:t>
            </a:r>
          </a:p>
        </p:txBody>
      </p:sp>
      <p:sp>
        <p:nvSpPr>
          <p:cNvPr id="4" name="TextBox 3"/>
          <p:cNvSpPr txBox="1"/>
          <p:nvPr/>
        </p:nvSpPr>
        <p:spPr>
          <a:xfrm>
            <a:off x="548640" y="6400800"/>
            <a:ext cx="8229600" cy="320040"/>
          </a:xfrm>
          <a:prstGeom prst="rect">
            <a:avLst/>
          </a:prstGeom>
          <a:noFill/>
        </p:spPr>
        <p:txBody>
          <a:bodyPr wrap="square" lIns="45720" rIns="45720" anchor="t">
            <a:spAutoFit/>
          </a:bodyPr>
          <a:lstStyle/>
          <a:p>
            <a:pPr algn="l">
              <a:spcAft>
                <a:spcPts val="600"/>
              </a:spcAft>
            </a:pPr>
            <a:r>
              <a:rPr sz="1100" b="0">
                <a:solidFill>
                  <a:srgbClr val="57606A"/>
                </a:solidFill>
                <a:latin typeface="Calibri"/>
              </a:rPr>
              <a:t>VigiSalud Malaria · ISO/IEC 25010 evaluation · Presenter: Mauricio Zegarra</a:t>
            </a:r>
          </a:p>
        </p:txBody>
      </p:sp>
      <p:sp>
        <p:nvSpPr>
          <p:cNvPr id="5" name="TextBox 4"/>
          <p:cNvSpPr txBox="1"/>
          <p:nvPr/>
        </p:nvSpPr>
        <p:spPr>
          <a:xfrm>
            <a:off x="10911535" y="6400800"/>
            <a:ext cx="731520" cy="320040"/>
          </a:xfrm>
          <a:prstGeom prst="rect">
            <a:avLst/>
          </a:prstGeom>
          <a:noFill/>
        </p:spPr>
        <p:txBody>
          <a:bodyPr wrap="square" lIns="45720" rIns="45720" anchor="t">
            <a:spAutoFit/>
          </a:bodyPr>
          <a:lstStyle/>
          <a:p>
            <a:pPr algn="r">
              <a:spcAft>
                <a:spcPts val="600"/>
              </a:spcAft>
            </a:pPr>
            <a:r>
              <a:rPr sz="1100" b="1">
                <a:solidFill>
                  <a:srgbClr val="7A1F2B"/>
                </a:solidFill>
                <a:latin typeface="Calibri"/>
              </a:rPr>
              <a:t>22</a:t>
            </a:r>
          </a:p>
        </p:txBody>
      </p:sp>
      <p:sp>
        <p:nvSpPr>
          <p:cNvPr id="6" name="TextBox 5"/>
          <p:cNvSpPr txBox="1"/>
          <p:nvPr/>
        </p:nvSpPr>
        <p:spPr>
          <a:xfrm>
            <a:off x="548640" y="1371600"/>
            <a:ext cx="2743200" cy="731520"/>
          </a:xfrm>
          <a:prstGeom prst="rect">
            <a:avLst/>
          </a:prstGeom>
          <a:noFill/>
        </p:spPr>
        <p:txBody>
          <a:bodyPr wrap="square" lIns="45720" rIns="45720" anchor="t">
            <a:spAutoFit/>
          </a:bodyPr>
          <a:lstStyle/>
          <a:p>
            <a:pPr algn="l">
              <a:spcAft>
                <a:spcPts val="600"/>
              </a:spcAft>
            </a:pPr>
            <a:r>
              <a:rPr sz="3400" b="1">
                <a:solidFill>
                  <a:srgbClr val="7A1F2B"/>
                </a:solidFill>
                <a:latin typeface="Calibri"/>
              </a:rPr>
              <a:t>9 / 9</a:t>
            </a:r>
          </a:p>
        </p:txBody>
      </p:sp>
      <p:sp>
        <p:nvSpPr>
          <p:cNvPr id="7" name="TextBox 6"/>
          <p:cNvSpPr txBox="1"/>
          <p:nvPr/>
        </p:nvSpPr>
        <p:spPr>
          <a:xfrm>
            <a:off x="548640" y="2057400"/>
            <a:ext cx="2743200" cy="548640"/>
          </a:xfrm>
          <a:prstGeom prst="rect">
            <a:avLst/>
          </a:prstGeom>
          <a:noFill/>
        </p:spPr>
        <p:txBody>
          <a:bodyPr wrap="square" lIns="45720" rIns="45720" anchor="t">
            <a:spAutoFit/>
          </a:bodyPr>
          <a:lstStyle/>
          <a:p>
            <a:pPr algn="l">
              <a:spcAft>
                <a:spcPts val="600"/>
              </a:spcAft>
            </a:pPr>
            <a:r>
              <a:rPr sz="1300" b="0">
                <a:solidFill>
                  <a:srgbClr val="57606A"/>
                </a:solidFill>
                <a:latin typeface="Calibri"/>
              </a:rPr>
              <a:t>characteristics adopted</a:t>
            </a:r>
          </a:p>
        </p:txBody>
      </p:sp>
      <p:sp>
        <p:nvSpPr>
          <p:cNvPr id="8" name="TextBox 7"/>
          <p:cNvSpPr txBox="1"/>
          <p:nvPr/>
        </p:nvSpPr>
        <p:spPr>
          <a:xfrm>
            <a:off x="3383280" y="1371600"/>
            <a:ext cx="2743200" cy="731520"/>
          </a:xfrm>
          <a:prstGeom prst="rect">
            <a:avLst/>
          </a:prstGeom>
          <a:noFill/>
        </p:spPr>
        <p:txBody>
          <a:bodyPr wrap="square" lIns="45720" rIns="45720" anchor="t">
            <a:spAutoFit/>
          </a:bodyPr>
          <a:lstStyle/>
          <a:p>
            <a:pPr algn="l">
              <a:spcAft>
                <a:spcPts val="600"/>
              </a:spcAft>
            </a:pPr>
            <a:r>
              <a:rPr sz="3400" b="1">
                <a:solidFill>
                  <a:srgbClr val="7A1F2B"/>
                </a:solidFill>
                <a:latin typeface="Calibri"/>
              </a:rPr>
              <a:t>25</a:t>
            </a:r>
          </a:p>
        </p:txBody>
      </p:sp>
      <p:sp>
        <p:nvSpPr>
          <p:cNvPr id="9" name="TextBox 8"/>
          <p:cNvSpPr txBox="1"/>
          <p:nvPr/>
        </p:nvSpPr>
        <p:spPr>
          <a:xfrm>
            <a:off x="3383280" y="2057400"/>
            <a:ext cx="2743200" cy="548640"/>
          </a:xfrm>
          <a:prstGeom prst="rect">
            <a:avLst/>
          </a:prstGeom>
          <a:noFill/>
        </p:spPr>
        <p:txBody>
          <a:bodyPr wrap="square" lIns="45720" rIns="45720" anchor="t">
            <a:spAutoFit/>
          </a:bodyPr>
          <a:lstStyle/>
          <a:p>
            <a:pPr algn="l">
              <a:spcAft>
                <a:spcPts val="600"/>
              </a:spcAft>
            </a:pPr>
            <a:r>
              <a:rPr sz="1300" b="0">
                <a:solidFill>
                  <a:srgbClr val="57606A"/>
                </a:solidFill>
                <a:latin typeface="Calibri"/>
              </a:rPr>
              <a:t>GQM metrics, automated</a:t>
            </a:r>
          </a:p>
        </p:txBody>
      </p:sp>
      <p:sp>
        <p:nvSpPr>
          <p:cNvPr id="10" name="TextBox 9"/>
          <p:cNvSpPr txBox="1"/>
          <p:nvPr/>
        </p:nvSpPr>
        <p:spPr>
          <a:xfrm>
            <a:off x="6217920" y="1371600"/>
            <a:ext cx="2743200" cy="731520"/>
          </a:xfrm>
          <a:prstGeom prst="rect">
            <a:avLst/>
          </a:prstGeom>
          <a:noFill/>
        </p:spPr>
        <p:txBody>
          <a:bodyPr wrap="square" lIns="45720" rIns="45720" anchor="t">
            <a:spAutoFit/>
          </a:bodyPr>
          <a:lstStyle/>
          <a:p>
            <a:pPr algn="l">
              <a:spcAft>
                <a:spcPts val="600"/>
              </a:spcAft>
            </a:pPr>
            <a:r>
              <a:rPr sz="3400" b="1">
                <a:solidFill>
                  <a:srgbClr val="0C7A0C"/>
                </a:solidFill>
                <a:latin typeface="Calibri"/>
              </a:rPr>
              <a:t>18 → 25</a:t>
            </a:r>
          </a:p>
        </p:txBody>
      </p:sp>
      <p:sp>
        <p:nvSpPr>
          <p:cNvPr id="11" name="TextBox 10"/>
          <p:cNvSpPr txBox="1"/>
          <p:nvPr/>
        </p:nvSpPr>
        <p:spPr>
          <a:xfrm>
            <a:off x="6217920" y="2057400"/>
            <a:ext cx="2743200" cy="548640"/>
          </a:xfrm>
          <a:prstGeom prst="rect">
            <a:avLst/>
          </a:prstGeom>
          <a:noFill/>
        </p:spPr>
        <p:txBody>
          <a:bodyPr wrap="square" lIns="45720" rIns="45720" anchor="t">
            <a:spAutoFit/>
          </a:bodyPr>
          <a:lstStyle/>
          <a:p>
            <a:pPr algn="l">
              <a:spcAft>
                <a:spcPts val="600"/>
              </a:spcAft>
            </a:pPr>
            <a:r>
              <a:rPr sz="1300" b="0">
                <a:solidFill>
                  <a:srgbClr val="57606A"/>
                </a:solidFill>
                <a:latin typeface="Calibri"/>
              </a:rPr>
              <a:t>approved metrics (of 25)</a:t>
            </a:r>
          </a:p>
        </p:txBody>
      </p:sp>
      <p:sp>
        <p:nvSpPr>
          <p:cNvPr id="12" name="TextBox 11"/>
          <p:cNvSpPr txBox="1"/>
          <p:nvPr/>
        </p:nvSpPr>
        <p:spPr>
          <a:xfrm>
            <a:off x="9052560" y="1371600"/>
            <a:ext cx="2743200" cy="731520"/>
          </a:xfrm>
          <a:prstGeom prst="rect">
            <a:avLst/>
          </a:prstGeom>
          <a:noFill/>
        </p:spPr>
        <p:txBody>
          <a:bodyPr wrap="square" lIns="45720" rIns="45720" anchor="t">
            <a:spAutoFit/>
          </a:bodyPr>
          <a:lstStyle/>
          <a:p>
            <a:pPr algn="l">
              <a:spcAft>
                <a:spcPts val="600"/>
              </a:spcAft>
            </a:pPr>
            <a:r>
              <a:rPr sz="3400" b="1">
                <a:solidFill>
                  <a:srgbClr val="7A1F2B"/>
                </a:solidFill>
                <a:latin typeface="Calibri"/>
              </a:rPr>
              <a:t>22</a:t>
            </a:r>
          </a:p>
        </p:txBody>
      </p:sp>
      <p:sp>
        <p:nvSpPr>
          <p:cNvPr id="13" name="TextBox 12"/>
          <p:cNvSpPr txBox="1"/>
          <p:nvPr/>
        </p:nvSpPr>
        <p:spPr>
          <a:xfrm>
            <a:off x="9052560" y="2057400"/>
            <a:ext cx="2743200" cy="548640"/>
          </a:xfrm>
          <a:prstGeom prst="rect">
            <a:avLst/>
          </a:prstGeom>
          <a:noFill/>
        </p:spPr>
        <p:txBody>
          <a:bodyPr wrap="square" lIns="45720" rIns="45720" anchor="t">
            <a:spAutoFit/>
          </a:bodyPr>
          <a:lstStyle/>
          <a:p>
            <a:pPr algn="l">
              <a:spcAft>
                <a:spcPts val="600"/>
              </a:spcAft>
            </a:pPr>
            <a:r>
              <a:rPr sz="1300" b="0">
                <a:solidFill>
                  <a:srgbClr val="57606A"/>
                </a:solidFill>
                <a:latin typeface="Calibri"/>
              </a:rPr>
              <a:t>incidents classified &amp; closed</a:t>
            </a:r>
          </a:p>
        </p:txBody>
      </p:sp>
      <p:sp>
        <p:nvSpPr>
          <p:cNvPr id="14" name="TextBox 13"/>
          <p:cNvSpPr txBox="1"/>
          <p:nvPr/>
        </p:nvSpPr>
        <p:spPr>
          <a:xfrm>
            <a:off x="548640" y="2926080"/>
            <a:ext cx="11064240" cy="2377440"/>
          </a:xfrm>
          <a:prstGeom prst="rect">
            <a:avLst/>
          </a:prstGeom>
          <a:noFill/>
        </p:spPr>
        <p:txBody>
          <a:bodyPr wrap="square">
            <a:spAutoFit/>
          </a:bodyPr>
          <a:lstStyle/>
          <a:p>
            <a:pPr>
              <a:spcAft>
                <a:spcPts val="900"/>
              </a:spcAft>
            </a:pPr>
            <a:r>
              <a:rPr sz="1600">
                <a:solidFill>
                  <a:srgbClr val="7A1F2B"/>
                </a:solidFill>
                <a:latin typeface="Calibri"/>
              </a:rPr>
              <a:t>▪  </a:t>
            </a:r>
            <a:r>
              <a:rPr sz="1600" b="1">
                <a:solidFill>
                  <a:srgbClr val="1F2328"/>
                </a:solidFill>
                <a:latin typeface="Calibri"/>
              </a:rPr>
              <a:t>Point 1:</a:t>
            </a:r>
            <a:r>
              <a:rPr sz="1600">
                <a:solidFill>
                  <a:srgbClr val="1F2328"/>
                </a:solidFill>
                <a:latin typeface="Calibri"/>
              </a:rPr>
              <a:t> explicit priorities and justified exclusions for a read-only public-health system.</a:t>
            </a:r>
          </a:p>
          <a:p>
            <a:pPr>
              <a:spcAft>
                <a:spcPts val="900"/>
              </a:spcAft>
            </a:pPr>
            <a:r>
              <a:rPr sz="1600">
                <a:solidFill>
                  <a:srgbClr val="7A1F2B"/>
                </a:solidFill>
                <a:latin typeface="Calibri"/>
              </a:rPr>
              <a:t>▪  </a:t>
            </a:r>
            <a:r>
              <a:rPr sz="1600" b="1">
                <a:solidFill>
                  <a:srgbClr val="1F2328"/>
                </a:solidFill>
                <a:latin typeface="Calibri"/>
              </a:rPr>
              <a:t>Point 2:</a:t>
            </a:r>
            <a:r>
              <a:rPr sz="1600">
                <a:solidFill>
                  <a:srgbClr val="1F2328"/>
                </a:solidFill>
                <a:latin typeface="Calibri"/>
              </a:rPr>
              <a:t> every selected sub-characteristic has a metric with formula, source, owner and a threshold fixed before measuring.</a:t>
            </a:r>
          </a:p>
          <a:p>
            <a:pPr>
              <a:spcAft>
                <a:spcPts val="900"/>
              </a:spcAft>
            </a:pPr>
            <a:r>
              <a:rPr sz="1600">
                <a:solidFill>
                  <a:srgbClr val="7A1F2B"/>
                </a:solidFill>
                <a:latin typeface="Calibri"/>
              </a:rPr>
              <a:t>▪  </a:t>
            </a:r>
            <a:r>
              <a:rPr sz="1600" b="1">
                <a:solidFill>
                  <a:srgbClr val="1F2328"/>
                </a:solidFill>
                <a:latin typeface="Calibri"/>
              </a:rPr>
              <a:t>Point 3:</a:t>
            </a:r>
            <a:r>
              <a:rPr sz="1600">
                <a:solidFill>
                  <a:srgbClr val="1F2328"/>
                </a:solidFill>
                <a:latin typeface="Calibri"/>
              </a:rPr>
              <a:t> ISO/IEC 25040 process, seven-block collection format, failures classified by origin before fixing.</a:t>
            </a:r>
          </a:p>
          <a:p>
            <a:pPr>
              <a:spcAft>
                <a:spcPts val="900"/>
              </a:spcAft>
            </a:pPr>
            <a:r>
              <a:rPr sz="1600">
                <a:solidFill>
                  <a:srgbClr val="7A1F2B"/>
                </a:solidFill>
                <a:latin typeface="Calibri"/>
              </a:rPr>
              <a:t>▪  </a:t>
            </a:r>
            <a:r>
              <a:rPr sz="1600" b="1">
                <a:solidFill>
                  <a:srgbClr val="1F2328"/>
                </a:solidFill>
                <a:latin typeface="Calibri"/>
              </a:rPr>
              <a:t>Point 4:</a:t>
            </a:r>
            <a:r>
              <a:rPr sz="1600">
                <a:solidFill>
                  <a:srgbClr val="1F2328"/>
                </a:solidFill>
                <a:latin typeface="Calibri"/>
              </a:rPr>
              <a:t> public bilingual control board regenerated from the evidence of every run.</a:t>
            </a:r>
          </a:p>
          <a:p>
            <a:pPr>
              <a:spcAft>
                <a:spcPts val="900"/>
              </a:spcAft>
            </a:pPr>
            <a:r>
              <a:rPr sz="1600">
                <a:solidFill>
                  <a:srgbClr val="7A1F2B"/>
                </a:solidFill>
                <a:latin typeface="Calibri"/>
              </a:rPr>
              <a:t>▪  </a:t>
            </a:r>
            <a:r>
              <a:rPr sz="1600" b="1">
                <a:solidFill>
                  <a:srgbClr val="1F2328"/>
                </a:solidFill>
                <a:latin typeface="Calibri"/>
              </a:rPr>
              <a:t>Next steps:</a:t>
            </a:r>
            <a:r>
              <a:rPr sz="1600">
                <a:solidFill>
                  <a:srgbClr val="1F2328"/>
                </a:solidFill>
                <a:latin typeface="Calibri"/>
              </a:rPr>
              <a:t> run the evaluation in CI with deployment gates; add mobile axe audit; user testing for learnability.</a:t>
            </a:r>
          </a:p>
        </p:txBody>
      </p:sp>
      <p:sp>
        <p:nvSpPr>
          <p:cNvPr id="15" name="TextBox 14"/>
          <p:cNvSpPr txBox="1"/>
          <p:nvPr/>
        </p:nvSpPr>
        <p:spPr>
          <a:xfrm>
            <a:off x="548640" y="5440680"/>
            <a:ext cx="11064240" cy="822960"/>
          </a:xfrm>
          <a:prstGeom prst="rect">
            <a:avLst/>
          </a:prstGeom>
          <a:noFill/>
        </p:spPr>
        <p:txBody>
          <a:bodyPr wrap="square" lIns="45720" rIns="45720" anchor="t">
            <a:spAutoFit/>
          </a:bodyPr>
          <a:lstStyle/>
          <a:p>
            <a:pPr algn="l">
              <a:spcAft>
                <a:spcPts val="600"/>
              </a:spcAft>
            </a:pPr>
            <a:r>
              <a:rPr sz="1400" b="1">
                <a:solidFill>
                  <a:srgbClr val="7A1F2B"/>
                </a:solidFill>
                <a:latin typeface="Calibri"/>
              </a:rPr>
              <a:t>Dashboard: </a:t>
            </a:r>
            <a:r>
              <a:rPr sz="1400" b="0">
                <a:solidFill>
                  <a:srgbClr val="7A1F2B"/>
                </a:solidFill>
                <a:latin typeface="Calibri"/>
              </a:rPr>
              <a:t>https://vigisalud-malaria.vercel.app</a:t>
            </a:r>
          </a:p>
          <a:p>
            <a:pPr algn="l">
              <a:spcAft>
                <a:spcPts val="600"/>
              </a:spcAft>
            </a:pPr>
            <a:r>
              <a:rPr sz="1400" b="1">
                <a:solidFill>
                  <a:srgbClr val="7A1F2B"/>
                </a:solidFill>
                <a:latin typeface="Calibri"/>
              </a:rPr>
              <a:t>Quality board: </a:t>
            </a:r>
            <a:r>
              <a:rPr sz="1400" b="0">
                <a:solidFill>
                  <a:srgbClr val="7A1F2B"/>
                </a:solidFill>
                <a:latin typeface="Calibri"/>
              </a:rPr>
              <a:t>https://vigisalud-malaria.vercel.app/calidad.html</a:t>
            </a:r>
            <a:r>
              <a:rPr sz="1400" b="1">
                <a:solidFill>
                  <a:srgbClr val="7A1F2B"/>
                </a:solidFill>
                <a:latin typeface="Calibri"/>
              </a:rPr>
              <a:t>   ·   Repository: </a:t>
            </a:r>
            <a:r>
              <a:rPr sz="1400" b="0">
                <a:solidFill>
                  <a:srgbClr val="7A1F2B"/>
                </a:solidFill>
                <a:latin typeface="Calibri"/>
              </a:rPr>
              <a:t>https://github.com/OwerLopez/vigisalud-malaria-iso25010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5367</Words>
  <Application>Microsoft Office PowerPoint</Application>
  <PresentationFormat>Panorámica</PresentationFormat>
  <Paragraphs>777</Paragraphs>
  <Slides>22</Slides>
  <Notes>22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22</vt:i4>
      </vt:variant>
    </vt:vector>
  </HeadingPairs>
  <TitlesOfParts>
    <vt:vector size="2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ISO/IEC 25010 evaluation of VigiSalud Malaria</dc:title>
  <dc:subject>Software Quality – Partial Work 6</dc:subject>
  <dc:creator>Cari Quispe, Chura Monroy, Lopez Arela, Phocco Tapia, Zegarra Puma</dc:creator>
  <cp:keywords/>
  <dc:description/>
  <cp:lastModifiedBy>Ower Frank</cp:lastModifiedBy>
  <cp:revision>1</cp:revision>
  <dcterms:created xsi:type="dcterms:W3CDTF">2013-01-27T09:14:16Z</dcterms:created>
  <dcterms:modified xsi:type="dcterms:W3CDTF">2026-10-27T12:35:25Z</dcterms:modified>
  <cp:category/>
</cp:coreProperties>
</file>